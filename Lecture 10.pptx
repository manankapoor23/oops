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EEACB-1206-4AEC-9BF0-7F64E109FBBA}" type="datetimeFigureOut">
              <a:rPr lang="en-GB" smtClean="0"/>
              <a:pPr/>
              <a:t>25/01/2018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E04EB-F4E6-4937-A977-2F6F50EF4D18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256EC-DBA4-43B6-A52F-87C5207EC31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Lecture 10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269875" indent="-269875"/>
            <a:r>
              <a:rPr lang="en-GB" dirty="0" smtClean="0">
                <a:solidFill>
                  <a:schemeClr val="tx1"/>
                </a:solidFill>
              </a:rPr>
              <a:t>Static Data Member and Functions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56EC-DBA4-43B6-A52F-87C5207EC31B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Static Data Member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spcBef>
                <a:spcPts val="2300"/>
              </a:spcBef>
            </a:pPr>
            <a:r>
              <a:rPr lang="en-US" dirty="0" smtClean="0"/>
              <a:t>Single copy exists; shared by all the objects.</a:t>
            </a:r>
          </a:p>
          <a:p>
            <a:pPr algn="just">
              <a:spcBef>
                <a:spcPts val="2300"/>
              </a:spcBef>
            </a:pPr>
            <a:r>
              <a:rPr lang="en-US" dirty="0" smtClean="0"/>
              <a:t>Also known as class variables.</a:t>
            </a:r>
          </a:p>
          <a:p>
            <a:pPr algn="just">
              <a:spcBef>
                <a:spcPts val="2300"/>
              </a:spcBef>
            </a:pPr>
            <a:r>
              <a:rPr lang="en-US" dirty="0" smtClean="0"/>
              <a:t>Exists and initialized to zero before any object is created.</a:t>
            </a:r>
          </a:p>
          <a:p>
            <a:pPr algn="just">
              <a:spcBef>
                <a:spcPts val="2300"/>
              </a:spcBef>
            </a:pPr>
            <a:r>
              <a:rPr lang="en-US" dirty="0" smtClean="0"/>
              <a:t>Within a class, they are declared not defined.</a:t>
            </a:r>
          </a:p>
          <a:p>
            <a:pPr algn="just">
              <a:spcBef>
                <a:spcPts val="2300"/>
              </a:spcBef>
            </a:pPr>
            <a:r>
              <a:rPr lang="en-US" dirty="0" smtClean="0"/>
              <a:t>Requires a global definition outside the class.</a:t>
            </a:r>
          </a:p>
          <a:p>
            <a:pPr lvl="1" algn="just">
              <a:spcBef>
                <a:spcPts val="2300"/>
              </a:spcBef>
            </a:pPr>
            <a:r>
              <a:rPr lang="en-US" sz="3200" dirty="0" smtClean="0"/>
              <a:t>Re-declaration using scope resolution operator.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</p:spPr>
        <p:txBody>
          <a:bodyPr/>
          <a:lstStyle/>
          <a:p>
            <a:pPr algn="l"/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2000" y="1340768"/>
            <a:ext cx="9000000" cy="5040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using namespace std;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myClass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{	   static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a;  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b;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public: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	  static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c;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	  void set(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j)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	  	{   a++;      b =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;      c = j;    }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	  void get()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	  	{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&lt;&lt; "\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nStatic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a: " &lt;&lt; a &lt;&lt; ". Non-static b: " &lt;&lt; b			 &lt;&lt; ". Static c: " &lt;&lt; c; }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/>
            </a:pPr>
            <a:r>
              <a:rPr lang="en-IN" sz="2400" b="1" dirty="0" err="1" smtClean="0"/>
              <a:t>int</a:t>
            </a:r>
            <a:r>
              <a:rPr lang="en-IN" sz="2400" b="1" dirty="0" smtClean="0"/>
              <a:t> </a:t>
            </a:r>
            <a:r>
              <a:rPr lang="en-IN" sz="2400" b="1" dirty="0" err="1" smtClean="0"/>
              <a:t>myClass</a:t>
            </a:r>
            <a:r>
              <a:rPr lang="en-IN" sz="2400" b="1" dirty="0" smtClean="0"/>
              <a:t> :: a = 10;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/>
            </a:pPr>
            <a:r>
              <a:rPr lang="en-IN" sz="2400" b="1" dirty="0" err="1" smtClean="0"/>
              <a:t>int</a:t>
            </a:r>
            <a:r>
              <a:rPr lang="en-IN" sz="2400" b="1" dirty="0" smtClean="0"/>
              <a:t> </a:t>
            </a:r>
            <a:r>
              <a:rPr lang="en-IN" sz="2400" b="1" dirty="0" err="1" smtClean="0"/>
              <a:t>myClass</a:t>
            </a:r>
            <a:r>
              <a:rPr lang="en-IN" sz="2400" b="1" dirty="0" smtClean="0"/>
              <a:t> :: c;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6488" y="1340768"/>
            <a:ext cx="5148000" cy="25922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3851920" y="1379671"/>
            <a:ext cx="118564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myClass</a:t>
            </a:r>
            <a:endParaRPr lang="en-IN" sz="2400" dirty="0"/>
          </a:p>
        </p:txBody>
      </p:sp>
      <p:sp>
        <p:nvSpPr>
          <p:cNvPr id="18" name="Rectangle 17"/>
          <p:cNvSpPr/>
          <p:nvPr/>
        </p:nvSpPr>
        <p:spPr>
          <a:xfrm>
            <a:off x="6994266" y="3141615"/>
            <a:ext cx="317742" cy="528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…</a:t>
            </a:r>
            <a:endParaRPr lang="en-IN" sz="2400" b="1" dirty="0">
              <a:solidFill>
                <a:schemeClr val="tx1"/>
              </a:solidFill>
            </a:endParaRPr>
          </a:p>
        </p:txBody>
      </p:sp>
      <p:grpSp>
        <p:nvGrpSpPr>
          <p:cNvPr id="3" name="Group 19"/>
          <p:cNvGrpSpPr/>
          <p:nvPr/>
        </p:nvGrpSpPr>
        <p:grpSpPr>
          <a:xfrm>
            <a:off x="3943599" y="2745113"/>
            <a:ext cx="1461778" cy="1084403"/>
            <a:chOff x="1043608" y="3573016"/>
            <a:chExt cx="1656184" cy="1181618"/>
          </a:xfrm>
        </p:grpSpPr>
        <p:sp>
          <p:nvSpPr>
            <p:cNvPr id="21" name="Rounded Rectangle 20"/>
            <p:cNvSpPr/>
            <p:nvPr/>
          </p:nvSpPr>
          <p:spPr>
            <a:xfrm>
              <a:off x="1043608" y="3602634"/>
              <a:ext cx="1656184" cy="115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69700" y="4070906"/>
              <a:ext cx="1404000" cy="5109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IN" sz="24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54384" y="3573016"/>
              <a:ext cx="123463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Object 1</a:t>
              </a:r>
              <a:endParaRPr lang="en-IN" sz="2400" dirty="0"/>
            </a:p>
          </p:txBody>
        </p:sp>
      </p:grpSp>
      <p:grpSp>
        <p:nvGrpSpPr>
          <p:cNvPr id="7" name="Group 27"/>
          <p:cNvGrpSpPr/>
          <p:nvPr/>
        </p:nvGrpSpPr>
        <p:grpSpPr>
          <a:xfrm>
            <a:off x="5487908" y="2745113"/>
            <a:ext cx="1461778" cy="1084403"/>
            <a:chOff x="3275856" y="3573016"/>
            <a:chExt cx="1656184" cy="1181618"/>
          </a:xfrm>
        </p:grpSpPr>
        <p:sp>
          <p:nvSpPr>
            <p:cNvPr id="29" name="Rounded Rectangle 28"/>
            <p:cNvSpPr/>
            <p:nvPr/>
          </p:nvSpPr>
          <p:spPr>
            <a:xfrm>
              <a:off x="3275856" y="3602634"/>
              <a:ext cx="1656184" cy="115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20"/>
            <p:cNvSpPr/>
            <p:nvPr/>
          </p:nvSpPr>
          <p:spPr>
            <a:xfrm>
              <a:off x="3401948" y="4070906"/>
              <a:ext cx="1404000" cy="5109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IN" sz="24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86632" y="3573016"/>
              <a:ext cx="123463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Object 2</a:t>
              </a:r>
              <a:endParaRPr lang="en-IN" sz="2400" dirty="0"/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7375599" y="2745113"/>
            <a:ext cx="1461778" cy="1084403"/>
            <a:chOff x="6523885" y="3573016"/>
            <a:chExt cx="1656184" cy="1181618"/>
          </a:xfrm>
        </p:grpSpPr>
        <p:sp>
          <p:nvSpPr>
            <p:cNvPr id="37" name="Rounded Rectangle 36"/>
            <p:cNvSpPr/>
            <p:nvPr/>
          </p:nvSpPr>
          <p:spPr>
            <a:xfrm>
              <a:off x="6523885" y="3602634"/>
              <a:ext cx="1656184" cy="115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49977" y="4070906"/>
              <a:ext cx="1404000" cy="5109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IN" sz="24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34661" y="3573016"/>
              <a:ext cx="1277914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Object O</a:t>
              </a:r>
              <a:endParaRPr lang="en-IN" sz="2400" dirty="0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5212147" y="1445755"/>
            <a:ext cx="3456000" cy="991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5203839" y="1418618"/>
            <a:ext cx="347261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Common to all the objects</a:t>
            </a:r>
            <a:endParaRPr lang="en-IN" sz="2400" dirty="0"/>
          </a:p>
        </p:txBody>
      </p:sp>
      <p:sp>
        <p:nvSpPr>
          <p:cNvPr id="16" name="Rectangle 15"/>
          <p:cNvSpPr/>
          <p:nvPr/>
        </p:nvSpPr>
        <p:spPr>
          <a:xfrm>
            <a:off x="5283963" y="1908341"/>
            <a:ext cx="635485" cy="396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</a:t>
            </a:r>
            <a:endParaRPr lang="en-IN" sz="2400" dirty="0"/>
          </a:p>
        </p:txBody>
      </p:sp>
      <p:sp>
        <p:nvSpPr>
          <p:cNvPr id="45" name="Rectangle 44"/>
          <p:cNvSpPr/>
          <p:nvPr/>
        </p:nvSpPr>
        <p:spPr>
          <a:xfrm>
            <a:off x="6083914" y="1908341"/>
            <a:ext cx="635485" cy="396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</a:t>
            </a:r>
            <a:endParaRPr lang="en-IN" sz="2400" dirty="0"/>
          </a:p>
        </p:txBody>
      </p:sp>
      <p:sp>
        <p:nvSpPr>
          <p:cNvPr id="47" name="Rectangle 46"/>
          <p:cNvSpPr/>
          <p:nvPr/>
        </p:nvSpPr>
        <p:spPr>
          <a:xfrm>
            <a:off x="6883865" y="1908341"/>
            <a:ext cx="756000" cy="396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set()</a:t>
            </a:r>
            <a:endParaRPr lang="en-IN" sz="2400" dirty="0"/>
          </a:p>
        </p:txBody>
      </p:sp>
      <p:sp>
        <p:nvSpPr>
          <p:cNvPr id="48" name="Rectangle 47"/>
          <p:cNvSpPr/>
          <p:nvPr/>
        </p:nvSpPr>
        <p:spPr>
          <a:xfrm>
            <a:off x="7804331" y="1908341"/>
            <a:ext cx="792000" cy="396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get()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</p:spPr>
        <p:txBody>
          <a:bodyPr/>
          <a:lstStyle/>
          <a:p>
            <a:pPr algn="l"/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2000" y="1515556"/>
            <a:ext cx="831642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main()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{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	</a:t>
            </a:r>
            <a:r>
              <a:rPr lang="en-IN" sz="2400" b="1" dirty="0" err="1" smtClean="0"/>
              <a:t>cout</a:t>
            </a:r>
            <a:r>
              <a:rPr lang="en-IN" sz="2400" b="1" dirty="0" smtClean="0"/>
              <a:t> &lt;&lt; "\</a:t>
            </a:r>
            <a:r>
              <a:rPr lang="en-IN" sz="2400" b="1" dirty="0" err="1" smtClean="0"/>
              <a:t>nPublic</a:t>
            </a:r>
            <a:r>
              <a:rPr lang="en-IN" sz="2400" b="1" dirty="0" smtClean="0"/>
              <a:t> Static c: "  &lt;&lt; </a:t>
            </a:r>
            <a:r>
              <a:rPr lang="en-IN" sz="2400" b="1" dirty="0" err="1" smtClean="0"/>
              <a:t>myClass</a:t>
            </a:r>
            <a:r>
              <a:rPr lang="en-IN" sz="2400" b="1" dirty="0" smtClean="0"/>
              <a:t> :: c;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  	</a:t>
            </a:r>
            <a:r>
              <a:rPr lang="en-US" sz="2400" b="1" dirty="0" err="1" smtClean="0"/>
              <a:t>myClass</a:t>
            </a:r>
            <a:r>
              <a:rPr lang="en-US" sz="2400" b="1" dirty="0" smtClean="0"/>
              <a:t> m1, m2;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  	m1.set(1,2);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      m2.set(3,4);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  	m1.get();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	m2.get();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  	return 0;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 startAt="14"/>
            </a:pPr>
            <a:r>
              <a:rPr lang="en-US" sz="2400" b="1" dirty="0" smtClean="0"/>
              <a:t>}</a:t>
            </a:r>
            <a:endParaRPr lang="en-IN" sz="2400" b="1" dirty="0"/>
          </a:p>
        </p:txBody>
      </p:sp>
      <p:sp>
        <p:nvSpPr>
          <p:cNvPr id="60" name="Rectangle 59"/>
          <p:cNvSpPr/>
          <p:nvPr/>
        </p:nvSpPr>
        <p:spPr>
          <a:xfrm>
            <a:off x="3348400" y="4797152"/>
            <a:ext cx="4824000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</a:rPr>
              <a:t>Public Static c: 0</a:t>
            </a:r>
          </a:p>
          <a:p>
            <a:r>
              <a:rPr lang="en-IN" sz="2400" dirty="0" smtClean="0">
                <a:solidFill>
                  <a:schemeClr val="bg1"/>
                </a:solidFill>
              </a:rPr>
              <a:t>Static a: 12. Non-static b: 1. Static c: 4</a:t>
            </a:r>
          </a:p>
          <a:p>
            <a:r>
              <a:rPr lang="en-IN" sz="2400" dirty="0" smtClean="0">
                <a:solidFill>
                  <a:schemeClr val="bg1"/>
                </a:solidFill>
              </a:rPr>
              <a:t>Static a: 12. Non-static b: 3. Static c: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3258" y="4293096"/>
            <a:ext cx="10791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Output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uild="allAtOnce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Uses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spcBef>
                <a:spcPts val="3600"/>
              </a:spcBef>
            </a:pPr>
            <a:r>
              <a:rPr lang="en-US" dirty="0" smtClean="0"/>
              <a:t>Provide access control of shared resource used by all the objects of a class, e.g. writing a file.</a:t>
            </a:r>
          </a:p>
          <a:p>
            <a:pPr algn="just">
              <a:spcBef>
                <a:spcPts val="3600"/>
              </a:spcBef>
            </a:pPr>
            <a:r>
              <a:rPr lang="en-US" dirty="0" smtClean="0"/>
              <a:t>To keep track of the number of objects of a particular class type.</a:t>
            </a:r>
          </a:p>
          <a:p>
            <a:pPr algn="just">
              <a:spcBef>
                <a:spcPts val="3600"/>
              </a:spcBef>
            </a:pPr>
            <a:r>
              <a:rPr lang="en-US" dirty="0" smtClean="0"/>
              <a:t>Note:</a:t>
            </a:r>
          </a:p>
          <a:p>
            <a:pPr algn="ctr">
              <a:spcBef>
                <a:spcPts val="3600"/>
              </a:spcBef>
              <a:buNone/>
            </a:pPr>
            <a:r>
              <a:rPr lang="en-US" dirty="0" smtClean="0"/>
              <a:t>Virtually eliminates any need for global variables.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Static Member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spcBef>
                <a:spcPts val="950"/>
              </a:spcBef>
            </a:pPr>
            <a:r>
              <a:rPr lang="en-US" dirty="0" smtClean="0"/>
              <a:t>Can access only other static members of the class.</a:t>
            </a:r>
          </a:p>
          <a:p>
            <a:pPr algn="just">
              <a:spcBef>
                <a:spcPts val="950"/>
              </a:spcBef>
            </a:pPr>
            <a:r>
              <a:rPr lang="en-US" dirty="0" smtClean="0"/>
              <a:t>Do not have a </a:t>
            </a:r>
            <a:r>
              <a:rPr lang="en-US" b="1" dirty="0" smtClean="0"/>
              <a:t>this</a:t>
            </a:r>
            <a:r>
              <a:rPr lang="en-US" dirty="0" smtClean="0"/>
              <a:t> pointer.</a:t>
            </a:r>
          </a:p>
          <a:p>
            <a:pPr algn="just">
              <a:spcBef>
                <a:spcPts val="950"/>
              </a:spcBef>
            </a:pPr>
            <a:r>
              <a:rPr lang="en-US" dirty="0" smtClean="0"/>
              <a:t>They cannot be declared as </a:t>
            </a:r>
            <a:r>
              <a:rPr lang="en-US" b="1" dirty="0" smtClean="0"/>
              <a:t>const</a:t>
            </a:r>
            <a:r>
              <a:rPr lang="en-US" dirty="0" smtClean="0"/>
              <a:t> or </a:t>
            </a:r>
            <a:r>
              <a:rPr lang="en-US" b="1" dirty="0" smtClean="0"/>
              <a:t>volatile</a:t>
            </a:r>
            <a:r>
              <a:rPr lang="en-US" dirty="0" smtClean="0"/>
              <a:t>.</a:t>
            </a:r>
          </a:p>
          <a:p>
            <a:pPr algn="just">
              <a:spcBef>
                <a:spcPts val="950"/>
              </a:spcBef>
            </a:pPr>
            <a:r>
              <a:rPr lang="en-US" dirty="0" smtClean="0"/>
              <a:t>They may not be </a:t>
            </a:r>
            <a:r>
              <a:rPr lang="en-US" b="1" dirty="0" smtClean="0"/>
              <a:t>virtual</a:t>
            </a:r>
            <a:r>
              <a:rPr lang="en-US" dirty="0" smtClean="0"/>
              <a:t>.</a:t>
            </a:r>
          </a:p>
          <a:p>
            <a:pPr algn="just">
              <a:spcBef>
                <a:spcPts val="950"/>
              </a:spcBef>
            </a:pPr>
            <a:r>
              <a:rPr lang="en-US" dirty="0" smtClean="0"/>
              <a:t>There cannot be </a:t>
            </a:r>
            <a:r>
              <a:rPr lang="en-US" b="1" dirty="0" smtClean="0"/>
              <a:t>static</a:t>
            </a:r>
            <a:r>
              <a:rPr lang="en-US" dirty="0" smtClean="0"/>
              <a:t> and </a:t>
            </a:r>
            <a:r>
              <a:rPr lang="en-US" b="1" dirty="0" smtClean="0"/>
              <a:t>non-static</a:t>
            </a:r>
            <a:r>
              <a:rPr lang="en-US" dirty="0" smtClean="0"/>
              <a:t> version of the same function.</a:t>
            </a:r>
          </a:p>
          <a:p>
            <a:pPr algn="just">
              <a:spcBef>
                <a:spcPts val="950"/>
              </a:spcBef>
            </a:pPr>
            <a:r>
              <a:rPr lang="en-US" dirty="0" smtClean="0"/>
              <a:t>Can be called using</a:t>
            </a:r>
          </a:p>
          <a:p>
            <a:pPr lvl="1" algn="just">
              <a:spcBef>
                <a:spcPts val="950"/>
              </a:spcBef>
            </a:pPr>
            <a:r>
              <a:rPr lang="en-US" dirty="0" smtClean="0"/>
              <a:t>An object.</a:t>
            </a:r>
            <a:endParaRPr lang="en-IN" dirty="0" smtClean="0"/>
          </a:p>
          <a:p>
            <a:pPr lvl="1" algn="just">
              <a:spcBef>
                <a:spcPts val="950"/>
              </a:spcBef>
            </a:pPr>
            <a:r>
              <a:rPr lang="en-US" dirty="0" smtClean="0"/>
              <a:t>Class name and scope resolution operator.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spcBef>
                <a:spcPts val="0"/>
              </a:spcBef>
            </a:pPr>
            <a:r>
              <a:rPr lang="en-US" b="1" dirty="0" smtClean="0"/>
              <a:t>Objective: Write a program to provide access 				control to some shared resource.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Example:</a:t>
            </a:r>
          </a:p>
          <a:p>
            <a:pPr algn="just">
              <a:spcBef>
                <a:spcPts val="0"/>
              </a:spcBef>
              <a:buNone/>
            </a:pPr>
            <a:r>
              <a:rPr lang="en-US" dirty="0" smtClean="0"/>
              <a:t>	Create several objects, each of which wants to print a file on a specific printer. Clearly, only one object can be allowed to print a file at a time. In this case, declare a </a:t>
            </a:r>
            <a:r>
              <a:rPr lang="en-US" b="1" dirty="0" smtClean="0"/>
              <a:t>static</a:t>
            </a:r>
            <a:r>
              <a:rPr lang="en-US" dirty="0" smtClean="0"/>
              <a:t> variable that indicates when the printer is in use and when it is free. Each object  then interrogates this variable to get the printer.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</p:spPr>
        <p:txBody>
          <a:bodyPr/>
          <a:lstStyle/>
          <a:p>
            <a:pPr algn="l"/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2000" y="1340768"/>
            <a:ext cx="9000000" cy="496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iostream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using namespace std;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class shared</a:t>
            </a:r>
          </a:p>
          <a:p>
            <a:pPr marL="514350" lvl="0" indent="-514350">
              <a:buClr>
                <a:srgbClr val="C00000"/>
              </a:buClr>
              <a:buFont typeface="+mj-lt"/>
              <a:buAutoNum type="arabicPeriod"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{    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400" b="1" dirty="0" smtClean="0"/>
              <a:t>static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resource;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public: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static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getResource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{  if(resource)   return 0;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   else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  {        resource = 1;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            return 1;      }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lang="en-US" sz="2400" b="1" dirty="0" smtClean="0"/>
              <a:t>  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}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void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freeResource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{      resource = 0;    }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4000" y="1340768"/>
            <a:ext cx="4968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shared :: resource;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main()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{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shared o1, o2;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if(o1.getResource())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   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"\no1 has resource.";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if(!shared :: </a:t>
            </a:r>
            <a:r>
              <a:rPr lang="en-US" sz="2400" b="1" dirty="0" err="1" smtClean="0"/>
              <a:t>getResource</a:t>
            </a:r>
            <a:r>
              <a:rPr lang="en-US" sz="2400" b="1" dirty="0" smtClean="0"/>
              <a:t>())	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"\no2 access denied.";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o1.freeResource();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if(shared :: </a:t>
            </a:r>
            <a:r>
              <a:rPr lang="en-US" sz="2400" b="1" dirty="0" err="1" smtClean="0"/>
              <a:t>getResource</a:t>
            </a:r>
            <a:r>
              <a:rPr lang="en-US" sz="2400" b="1" dirty="0" smtClean="0"/>
              <a:t>())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   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"\no2 has resource.";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   return 0;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5"/>
            </a:pPr>
            <a:r>
              <a:rPr lang="en-US" sz="2400" b="1" dirty="0" smtClean="0"/>
              <a:t>}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Uses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Very limited application.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Pre-initialize </a:t>
            </a:r>
            <a:r>
              <a:rPr lang="en-US" b="1" dirty="0" smtClean="0"/>
              <a:t>private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data members of a class before any object is actually created.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396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Lecture 10</vt:lpstr>
      <vt:lpstr>Static Data Member</vt:lpstr>
      <vt:lpstr>Example</vt:lpstr>
      <vt:lpstr>Example</vt:lpstr>
      <vt:lpstr>Uses</vt:lpstr>
      <vt:lpstr>Static Member Functions</vt:lpstr>
      <vt:lpstr>Example</vt:lpstr>
      <vt:lpstr>Contd…</vt:lpstr>
      <vt:lpstr>Uses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</dc:title>
  <dc:creator>Shreelekha</dc:creator>
  <cp:lastModifiedBy>raman</cp:lastModifiedBy>
  <cp:revision>1</cp:revision>
  <dcterms:created xsi:type="dcterms:W3CDTF">2018-01-17T10:30:46Z</dcterms:created>
  <dcterms:modified xsi:type="dcterms:W3CDTF">2018-01-25T01:36:22Z</dcterms:modified>
</cp:coreProperties>
</file>