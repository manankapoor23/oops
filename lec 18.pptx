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58" r:id="rId5"/>
    <p:sldId id="259" r:id="rId6"/>
    <p:sldId id="273" r:id="rId7"/>
    <p:sldId id="260" r:id="rId8"/>
    <p:sldId id="261" r:id="rId9"/>
    <p:sldId id="262" r:id="rId10"/>
    <p:sldId id="263" r:id="rId11"/>
    <p:sldId id="264" r:id="rId12"/>
    <p:sldId id="265" r:id="rId13"/>
    <p:sldId id="266" r:id="rId14"/>
    <p:sldId id="267" r:id="rId15"/>
    <p:sldId id="269" r:id="rId16"/>
    <p:sldId id="270" r:id="rId17"/>
    <p:sldId id="271" r:id="rId18"/>
    <p:sldId id="27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8DF9462-03D1-4487-B3B7-5D3FBEF43F28}" type="datetimeFigureOut">
              <a:rPr lang="en-US" smtClean="0"/>
              <a:pPr/>
              <a:t>2/18/2018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DF9462-03D1-4487-B3B7-5D3FBEF43F28}" type="datetimeFigureOut">
              <a:rPr lang="en-US" smtClean="0"/>
              <a:pPr/>
              <a:t>2/18/2018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8DF9462-03D1-4487-B3B7-5D3FBEF43F28}" type="datetimeFigureOut">
              <a:rPr lang="en-US" smtClean="0"/>
              <a:pPr/>
              <a:t>2/18/2018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8DF9462-03D1-4487-B3B7-5D3FBEF43F28}" type="datetimeFigureOut">
              <a:rPr lang="en-US" smtClean="0"/>
              <a:pPr/>
              <a:t>2/18/2018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8DF9462-03D1-4487-B3B7-5D3FBEF43F28}" type="datetimeFigureOut">
              <a:rPr lang="en-US" smtClean="0"/>
              <a:pPr/>
              <a:t>2/18/2018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8DF9462-03D1-4487-B3B7-5D3FBEF43F28}" type="datetimeFigureOut">
              <a:rPr lang="en-US" smtClean="0"/>
              <a:pPr/>
              <a:t>2/18/2018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DF9462-03D1-4487-B3B7-5D3FBEF43F28}" type="datetimeFigureOut">
              <a:rPr lang="en-US" smtClean="0"/>
              <a:pPr/>
              <a:t>2/18/2018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DF9462-03D1-4487-B3B7-5D3FBEF43F28}" type="datetimeFigureOut">
              <a:rPr lang="en-US" smtClean="0"/>
              <a:pPr/>
              <a:t>2/18/2018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DF9462-03D1-4487-B3B7-5D3FBEF43F28}" type="datetimeFigureOut">
              <a:rPr lang="en-US" smtClean="0"/>
              <a:pPr/>
              <a:t>2/18/2018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DF9462-03D1-4487-B3B7-5D3FBEF43F28}" type="datetimeFigureOut">
              <a:rPr lang="en-US" smtClean="0"/>
              <a:pPr/>
              <a:t>2/18/2018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DF9462-03D1-4487-B3B7-5D3FBEF43F28}" type="datetimeFigureOut">
              <a:rPr lang="en-US" smtClean="0"/>
              <a:pPr/>
              <a:t>2/18/2018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BED2C-07C5-459F-8100-57640347508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DF9462-03D1-4487-B3B7-5D3FBEF43F28}" type="datetimeFigureOut">
              <a:rPr lang="en-US" smtClean="0"/>
              <a:pPr/>
              <a:t>2/18/2018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BED2C-07C5-459F-8100-57640347508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Polymorphism</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Polymorphism</a:t>
            </a:r>
            <a:endParaRPr lang="en-US" dirty="0"/>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The word polymorphism means having many forms. In simple words, we can define polymorphism as the ability of a message to be displayed in more than one form.</a:t>
            </a:r>
            <a:br>
              <a:rPr lang="en-US" sz="2400" dirty="0" smtClean="0">
                <a:latin typeface="Times New Roman" pitchFamily="18" charset="0"/>
                <a:cs typeface="Times New Roman" pitchFamily="18" charset="0"/>
              </a:rPr>
            </a:b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Real life example of polymorphism, a person at a same time can have different characteristic. Like a man at a same time is a father, a husband, a employee. </a:t>
            </a:r>
          </a:p>
          <a:p>
            <a:pPr algn="just">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So a same person posses have different behavior in different situations. This is called polymorphism.</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t>
            </a:r>
            <a:r>
              <a:rPr lang="en-US" dirty="0" err="1" smtClean="0"/>
              <a:t>Poymorphism</a:t>
            </a:r>
            <a:endParaRPr lang="en-US" dirty="0"/>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Compile Time Polymorphism</a:t>
            </a:r>
          </a:p>
          <a:p>
            <a:r>
              <a:rPr lang="en-US" dirty="0" smtClean="0">
                <a:latin typeface="Times New Roman" pitchFamily="18" charset="0"/>
                <a:cs typeface="Times New Roman" pitchFamily="18" charset="0"/>
              </a:rPr>
              <a:t>Run Time Polymorphism</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Compile Time Polymorphism</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itchFamily="18" charset="0"/>
                <a:cs typeface="Times New Roman" pitchFamily="18" charset="0"/>
              </a:rPr>
              <a:t>E</a:t>
            </a:r>
            <a:r>
              <a:rPr lang="en-US" dirty="0" smtClean="0">
                <a:latin typeface="Times New Roman" pitchFamily="18" charset="0"/>
                <a:cs typeface="Times New Roman" pitchFamily="18" charset="0"/>
              </a:rPr>
              <a:t>arly </a:t>
            </a:r>
            <a:r>
              <a:rPr lang="en-US" dirty="0">
                <a:latin typeface="Times New Roman" pitchFamily="18" charset="0"/>
                <a:cs typeface="Times New Roman" pitchFamily="18" charset="0"/>
              </a:rPr>
              <a:t>binding refers to events that occur at compile time. In essence, early </a:t>
            </a:r>
            <a:r>
              <a:rPr lang="en-US" dirty="0" smtClean="0">
                <a:latin typeface="Times New Roman" pitchFamily="18" charset="0"/>
                <a:cs typeface="Times New Roman" pitchFamily="18" charset="0"/>
              </a:rPr>
              <a:t>binding occurs </a:t>
            </a:r>
            <a:r>
              <a:rPr lang="en-US" dirty="0">
                <a:latin typeface="Times New Roman" pitchFamily="18" charset="0"/>
                <a:cs typeface="Times New Roman" pitchFamily="18" charset="0"/>
              </a:rPr>
              <a:t>when all information needed to call a function is known at compile time. (</a:t>
            </a:r>
            <a:r>
              <a:rPr lang="en-US" dirty="0" smtClean="0">
                <a:latin typeface="Times New Roman" pitchFamily="18" charset="0"/>
                <a:cs typeface="Times New Roman" pitchFamily="18" charset="0"/>
              </a:rPr>
              <a:t>Put differently</a:t>
            </a:r>
            <a:r>
              <a:rPr lang="en-US" dirty="0">
                <a:latin typeface="Times New Roman" pitchFamily="18" charset="0"/>
                <a:cs typeface="Times New Roman" pitchFamily="18" charset="0"/>
              </a:rPr>
              <a:t>, early binding means that an object and a function call are bound </a:t>
            </a:r>
            <a:r>
              <a:rPr lang="en-US" dirty="0" smtClean="0">
                <a:latin typeface="Times New Roman" pitchFamily="18" charset="0"/>
                <a:cs typeface="Times New Roman" pitchFamily="18" charset="0"/>
              </a:rPr>
              <a:t>during compilation).</a:t>
            </a:r>
          </a:p>
          <a:p>
            <a:pPr algn="just"/>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Examples of early binding include normal function calls (</a:t>
            </a:r>
            <a:r>
              <a:rPr lang="en-US" dirty="0" smtClean="0">
                <a:latin typeface="Times New Roman" pitchFamily="18" charset="0"/>
                <a:cs typeface="Times New Roman" pitchFamily="18" charset="0"/>
              </a:rPr>
              <a:t>including standard </a:t>
            </a:r>
            <a:r>
              <a:rPr lang="en-US" dirty="0">
                <a:latin typeface="Times New Roman" pitchFamily="18" charset="0"/>
                <a:cs typeface="Times New Roman" pitchFamily="18" charset="0"/>
              </a:rPr>
              <a:t>library functions), overloaded function calls, and overloaded operators.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main </a:t>
            </a:r>
            <a:r>
              <a:rPr lang="en-US" dirty="0">
                <a:latin typeface="Times New Roman" pitchFamily="18" charset="0"/>
                <a:cs typeface="Times New Roman" pitchFamily="18" charset="0"/>
              </a:rPr>
              <a:t>advantage to early binding is efficiency. Because all information necessary to </a:t>
            </a:r>
            <a:r>
              <a:rPr lang="en-US" dirty="0" smtClean="0">
                <a:latin typeface="Times New Roman" pitchFamily="18" charset="0"/>
                <a:cs typeface="Times New Roman" pitchFamily="18" charset="0"/>
              </a:rPr>
              <a:t>call a </a:t>
            </a:r>
            <a:r>
              <a:rPr lang="en-US" dirty="0">
                <a:latin typeface="Times New Roman" pitchFamily="18" charset="0"/>
                <a:cs typeface="Times New Roman" pitchFamily="18" charset="0"/>
              </a:rPr>
              <a:t>function is determined at compile time, these types of function calls are very fast.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 Time Polymorphism</a:t>
            </a:r>
            <a:endParaRPr lang="en-US" dirty="0"/>
          </a:p>
        </p:txBody>
      </p:sp>
      <p:sp>
        <p:nvSpPr>
          <p:cNvPr id="3" name="Content Placeholder 2"/>
          <p:cNvSpPr>
            <a:spLocks noGrp="1"/>
          </p:cNvSpPr>
          <p:nvPr>
            <p:ph idx="1"/>
          </p:nvPr>
        </p:nvSpPr>
        <p:spPr/>
        <p:txBody>
          <a:bodyPr>
            <a:noAutofit/>
          </a:bodyPr>
          <a:lstStyle/>
          <a:p>
            <a:pPr algn="just"/>
            <a:r>
              <a:rPr lang="en-US" sz="2800" dirty="0">
                <a:latin typeface="Times New Roman" pitchFamily="18" charset="0"/>
                <a:cs typeface="Times New Roman" pitchFamily="18" charset="0"/>
              </a:rPr>
              <a:t>The opposite of early binding is late binding. </a:t>
            </a:r>
            <a:endParaRPr lang="en-US" sz="2800" dirty="0" smtClean="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As </a:t>
            </a:r>
            <a:r>
              <a:rPr lang="en-US" sz="2800" dirty="0">
                <a:latin typeface="Times New Roman" pitchFamily="18" charset="0"/>
                <a:cs typeface="Times New Roman" pitchFamily="18" charset="0"/>
              </a:rPr>
              <a:t>it relates to C++, late binding </a:t>
            </a:r>
            <a:r>
              <a:rPr lang="en-US" sz="2800" dirty="0" smtClean="0">
                <a:latin typeface="Times New Roman" pitchFamily="18" charset="0"/>
                <a:cs typeface="Times New Roman" pitchFamily="18" charset="0"/>
              </a:rPr>
              <a:t>refers to </a:t>
            </a:r>
            <a:r>
              <a:rPr lang="en-US" sz="2800" dirty="0">
                <a:latin typeface="Times New Roman" pitchFamily="18" charset="0"/>
                <a:cs typeface="Times New Roman" pitchFamily="18" charset="0"/>
              </a:rPr>
              <a:t>function calls that are not resolved until run time. </a:t>
            </a:r>
            <a:endParaRPr lang="en-US" sz="2800" dirty="0" smtClean="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As function calls are not </a:t>
            </a:r>
            <a:r>
              <a:rPr lang="en-US" sz="2800" dirty="0">
                <a:latin typeface="Times New Roman" pitchFamily="18" charset="0"/>
                <a:cs typeface="Times New Roman" pitchFamily="18" charset="0"/>
              </a:rPr>
              <a:t>determined at compile time, the </a:t>
            </a:r>
            <a:r>
              <a:rPr lang="en-US" sz="2800" dirty="0" smtClean="0">
                <a:latin typeface="Times New Roman" pitchFamily="18" charset="0"/>
                <a:cs typeface="Times New Roman" pitchFamily="18" charset="0"/>
              </a:rPr>
              <a:t>object and </a:t>
            </a:r>
            <a:r>
              <a:rPr lang="en-US" sz="2800" dirty="0">
                <a:latin typeface="Times New Roman" pitchFamily="18" charset="0"/>
                <a:cs typeface="Times New Roman" pitchFamily="18" charset="0"/>
              </a:rPr>
              <a:t>the function are not linked until run time. </a:t>
            </a:r>
            <a:endParaRPr lang="en-US" sz="2800" dirty="0" smtClean="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 Time Polymorphism</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latin typeface="Times New Roman" pitchFamily="18" charset="0"/>
                <a:cs typeface="Times New Roman" pitchFamily="18" charset="0"/>
              </a:rPr>
              <a:t>The main advantage to late binding is flexibility. Unlike early binding, late binding allows you to create programs that can respond to events occurring while the program executes without having to create a large amount of "contingency code." </a:t>
            </a:r>
          </a:p>
          <a:p>
            <a:pPr algn="just"/>
            <a:r>
              <a:rPr lang="en-US" dirty="0" smtClean="0">
                <a:latin typeface="Times New Roman" pitchFamily="18" charset="0"/>
                <a:cs typeface="Times New Roman" pitchFamily="18" charset="0"/>
              </a:rPr>
              <a:t>Keep in mind that because a function call is not resolved until run time, late binding can make for somewhat slower execution times.</a:t>
            </a:r>
          </a:p>
          <a:p>
            <a:pPr algn="just"/>
            <a:r>
              <a:rPr lang="en-US" dirty="0" smtClean="0">
                <a:latin typeface="Times New Roman" pitchFamily="18" charset="0"/>
                <a:cs typeface="Times New Roman" pitchFamily="18" charset="0"/>
              </a:rPr>
              <a:t>Virtual functions are used to achieve late binding.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Overloading</a:t>
            </a: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itchFamily="18" charset="0"/>
                <a:cs typeface="Times New Roman" pitchFamily="18" charset="0"/>
              </a:rPr>
              <a:t>Function overloading is the process of using the same name for two or more functions.</a:t>
            </a:r>
          </a:p>
          <a:p>
            <a:pPr algn="just"/>
            <a:r>
              <a:rPr lang="en-US" dirty="0">
                <a:latin typeface="Times New Roman" pitchFamily="18" charset="0"/>
                <a:cs typeface="Times New Roman" pitchFamily="18" charset="0"/>
              </a:rPr>
              <a:t>The secret to overloading is that each redefinition of the function must use </a:t>
            </a:r>
            <a:r>
              <a:rPr lang="en-US" dirty="0" smtClean="0">
                <a:latin typeface="Times New Roman" pitchFamily="18" charset="0"/>
                <a:cs typeface="Times New Roman" pitchFamily="18" charset="0"/>
              </a:rPr>
              <a:t>either different </a:t>
            </a:r>
            <a:r>
              <a:rPr lang="en-US" dirty="0">
                <a:latin typeface="Times New Roman" pitchFamily="18" charset="0"/>
                <a:cs typeface="Times New Roman" pitchFamily="18" charset="0"/>
              </a:rPr>
              <a:t>types of parameters or a different number of parameters.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is only </a:t>
            </a:r>
            <a:r>
              <a:rPr lang="en-US" dirty="0" smtClean="0">
                <a:latin typeface="Times New Roman" pitchFamily="18" charset="0"/>
                <a:cs typeface="Times New Roman" pitchFamily="18" charset="0"/>
              </a:rPr>
              <a:t>through these </a:t>
            </a:r>
            <a:r>
              <a:rPr lang="en-US" dirty="0">
                <a:latin typeface="Times New Roman" pitchFamily="18" charset="0"/>
                <a:cs typeface="Times New Roman" pitchFamily="18" charset="0"/>
              </a:rPr>
              <a:t>differences that the compiler knows which function to call in any given situation.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381000" y="1219200"/>
            <a:ext cx="8229600" cy="5334000"/>
          </a:xfrm>
        </p:spPr>
        <p:txBody>
          <a:bodyPr>
            <a:noAutofit/>
          </a:bodyPr>
          <a:lstStyle/>
          <a:p>
            <a:pPr marL="514350" indent="-514350">
              <a:buNone/>
            </a:pPr>
            <a:r>
              <a:rPr lang="en-US" sz="2400" dirty="0"/>
              <a:t>#include &lt;</a:t>
            </a:r>
            <a:r>
              <a:rPr lang="en-US" sz="2400" dirty="0" err="1"/>
              <a:t>iostream</a:t>
            </a:r>
            <a:r>
              <a:rPr lang="en-US" sz="2400" dirty="0"/>
              <a:t>&gt;</a:t>
            </a:r>
          </a:p>
          <a:p>
            <a:pPr marL="514350" indent="-514350">
              <a:buNone/>
            </a:pPr>
            <a:r>
              <a:rPr lang="en-US" sz="2400" dirty="0"/>
              <a:t>using namespace std;</a:t>
            </a:r>
          </a:p>
          <a:p>
            <a:pPr marL="514350" indent="-514350">
              <a:buNone/>
            </a:pPr>
            <a:r>
              <a:rPr lang="en-US" sz="2400" dirty="0" err="1"/>
              <a:t>int</a:t>
            </a:r>
            <a:r>
              <a:rPr lang="en-US" sz="2400" dirty="0"/>
              <a:t> </a:t>
            </a:r>
            <a:r>
              <a:rPr lang="en-US" sz="2400" dirty="0" err="1"/>
              <a:t>myfunc</a:t>
            </a:r>
            <a:r>
              <a:rPr lang="en-US" sz="2400" dirty="0"/>
              <a:t>(</a:t>
            </a:r>
            <a:r>
              <a:rPr lang="en-US" sz="2400" dirty="0" err="1"/>
              <a:t>int</a:t>
            </a:r>
            <a:r>
              <a:rPr lang="en-US" sz="2400" dirty="0"/>
              <a:t> </a:t>
            </a:r>
            <a:r>
              <a:rPr lang="en-US" sz="2400" dirty="0" err="1"/>
              <a:t>i</a:t>
            </a:r>
            <a:r>
              <a:rPr lang="en-US" sz="2400" dirty="0"/>
              <a:t>); // these differ in types of parameters</a:t>
            </a:r>
          </a:p>
          <a:p>
            <a:pPr marL="514350" indent="-514350">
              <a:buNone/>
            </a:pPr>
            <a:r>
              <a:rPr lang="en-US" sz="2400" dirty="0"/>
              <a:t>double </a:t>
            </a:r>
            <a:r>
              <a:rPr lang="en-US" sz="2400" dirty="0" err="1"/>
              <a:t>myfunc</a:t>
            </a:r>
            <a:r>
              <a:rPr lang="en-US" sz="2400" dirty="0"/>
              <a:t>(double </a:t>
            </a:r>
            <a:r>
              <a:rPr lang="en-US" sz="2400" dirty="0" err="1"/>
              <a:t>i</a:t>
            </a:r>
            <a:r>
              <a:rPr lang="en-US" sz="2400" dirty="0"/>
              <a:t>);</a:t>
            </a:r>
          </a:p>
          <a:p>
            <a:pPr marL="514350" indent="-514350">
              <a:buNone/>
            </a:pPr>
            <a:r>
              <a:rPr lang="en-US" sz="2400" dirty="0" err="1"/>
              <a:t>int</a:t>
            </a:r>
            <a:r>
              <a:rPr lang="en-US" sz="2400" dirty="0"/>
              <a:t> main()</a:t>
            </a:r>
          </a:p>
          <a:p>
            <a:pPr marL="514350" indent="-514350">
              <a:buNone/>
            </a:pPr>
            <a:r>
              <a:rPr lang="en-US" sz="2400" dirty="0"/>
              <a:t>{</a:t>
            </a:r>
          </a:p>
          <a:p>
            <a:pPr marL="514350" indent="-514350">
              <a:buNone/>
            </a:pPr>
            <a:r>
              <a:rPr lang="en-US" sz="2400" dirty="0" err="1"/>
              <a:t>cout</a:t>
            </a:r>
            <a:r>
              <a:rPr lang="en-US" sz="2400" dirty="0"/>
              <a:t> &lt;&lt; </a:t>
            </a:r>
            <a:r>
              <a:rPr lang="en-US" sz="2400" dirty="0" err="1"/>
              <a:t>myfunc</a:t>
            </a:r>
            <a:r>
              <a:rPr lang="en-US" sz="2400" dirty="0"/>
              <a:t>(10) &lt;&lt; " "; // calls </a:t>
            </a:r>
            <a:r>
              <a:rPr lang="en-US" sz="2400" dirty="0" err="1"/>
              <a:t>myfunc</a:t>
            </a:r>
            <a:r>
              <a:rPr lang="en-US" sz="2400" dirty="0"/>
              <a:t>(</a:t>
            </a:r>
            <a:r>
              <a:rPr lang="en-US" sz="2400" dirty="0" err="1"/>
              <a:t>int</a:t>
            </a:r>
            <a:r>
              <a:rPr lang="en-US" sz="2400" dirty="0"/>
              <a:t> </a:t>
            </a:r>
            <a:r>
              <a:rPr lang="en-US" sz="2400" dirty="0" err="1"/>
              <a:t>i</a:t>
            </a:r>
            <a:r>
              <a:rPr lang="en-US" sz="2400" dirty="0"/>
              <a:t>)</a:t>
            </a:r>
          </a:p>
          <a:p>
            <a:pPr marL="514350" indent="-514350">
              <a:buNone/>
            </a:pPr>
            <a:r>
              <a:rPr lang="en-US" sz="2400" dirty="0" err="1"/>
              <a:t>cout</a:t>
            </a:r>
            <a:r>
              <a:rPr lang="en-US" sz="2400" dirty="0"/>
              <a:t> &lt;&lt; </a:t>
            </a:r>
            <a:r>
              <a:rPr lang="en-US" sz="2400" dirty="0" err="1"/>
              <a:t>myfunc</a:t>
            </a:r>
            <a:r>
              <a:rPr lang="en-US" sz="2400" dirty="0"/>
              <a:t>(5.4); // calls </a:t>
            </a:r>
            <a:r>
              <a:rPr lang="en-US" sz="2400" dirty="0" err="1"/>
              <a:t>myfunc</a:t>
            </a:r>
            <a:r>
              <a:rPr lang="en-US" sz="2400" dirty="0"/>
              <a:t>(double </a:t>
            </a:r>
            <a:r>
              <a:rPr lang="en-US" sz="2400" dirty="0" err="1"/>
              <a:t>i</a:t>
            </a:r>
            <a:r>
              <a:rPr lang="en-US" sz="2400" dirty="0"/>
              <a:t>)</a:t>
            </a:r>
          </a:p>
          <a:p>
            <a:pPr marL="514350" indent="-514350">
              <a:buNone/>
            </a:pPr>
            <a:r>
              <a:rPr lang="en-US" sz="2400" dirty="0"/>
              <a:t>return 0;</a:t>
            </a:r>
          </a:p>
          <a:p>
            <a:pPr marL="514350" indent="-514350">
              <a:buNone/>
            </a:pPr>
            <a:r>
              <a:rPr lang="en-US" sz="2400" dirty="0" smtClean="0"/>
              <a:t>}</a:t>
            </a:r>
          </a:p>
          <a:p>
            <a:pPr marL="514350" indent="-514350">
              <a:buNone/>
            </a:pPr>
            <a:endParaRPr lang="en-US" sz="1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514350" indent="-514350">
              <a:buNone/>
            </a:pPr>
            <a:r>
              <a:rPr lang="en-US" sz="2800" dirty="0" smtClean="0"/>
              <a:t> double </a:t>
            </a:r>
            <a:r>
              <a:rPr lang="en-US" sz="2800" dirty="0" err="1" smtClean="0"/>
              <a:t>myfunc</a:t>
            </a:r>
            <a:r>
              <a:rPr lang="en-US" sz="2800" dirty="0" smtClean="0"/>
              <a:t>(double </a:t>
            </a:r>
            <a:r>
              <a:rPr lang="en-US" sz="2800" dirty="0" err="1" smtClean="0"/>
              <a:t>i</a:t>
            </a:r>
            <a:r>
              <a:rPr lang="en-US" sz="2800" dirty="0" smtClean="0"/>
              <a:t>)</a:t>
            </a:r>
          </a:p>
          <a:p>
            <a:pPr marL="514350" indent="-514350">
              <a:buNone/>
            </a:pPr>
            <a:r>
              <a:rPr lang="en-US" sz="2800" dirty="0" smtClean="0"/>
              <a:t> {</a:t>
            </a:r>
          </a:p>
          <a:p>
            <a:pPr marL="514350" indent="-514350">
              <a:buNone/>
            </a:pPr>
            <a:r>
              <a:rPr lang="en-US" sz="2800" dirty="0" smtClean="0"/>
              <a:t> return </a:t>
            </a:r>
            <a:r>
              <a:rPr lang="en-US" sz="2800" dirty="0" err="1" smtClean="0"/>
              <a:t>i</a:t>
            </a:r>
            <a:r>
              <a:rPr lang="en-US" sz="2800" dirty="0" smtClean="0"/>
              <a:t>;</a:t>
            </a:r>
          </a:p>
          <a:p>
            <a:pPr marL="514350" indent="-514350">
              <a:buNone/>
            </a:pPr>
            <a:r>
              <a:rPr lang="en-US" sz="2800" dirty="0" smtClean="0"/>
              <a:t>}</a:t>
            </a:r>
          </a:p>
          <a:p>
            <a:pPr marL="514350" indent="-514350">
              <a:buNone/>
            </a:pPr>
            <a:r>
              <a:rPr lang="en-US" sz="2800" dirty="0" err="1" smtClean="0"/>
              <a:t>int</a:t>
            </a:r>
            <a:r>
              <a:rPr lang="en-US" sz="2800" dirty="0" smtClean="0"/>
              <a:t> </a:t>
            </a:r>
            <a:r>
              <a:rPr lang="en-US" sz="2800" dirty="0" err="1" smtClean="0"/>
              <a:t>myfunc</a:t>
            </a:r>
            <a:r>
              <a:rPr lang="en-US" sz="2800" dirty="0" smtClean="0"/>
              <a:t>(</a:t>
            </a:r>
            <a:r>
              <a:rPr lang="en-US" sz="2800" dirty="0" err="1" smtClean="0"/>
              <a:t>int</a:t>
            </a:r>
            <a:r>
              <a:rPr lang="en-US" sz="2800" dirty="0" smtClean="0"/>
              <a:t> </a:t>
            </a:r>
            <a:r>
              <a:rPr lang="en-US" sz="2800" dirty="0" err="1" smtClean="0"/>
              <a:t>i</a:t>
            </a:r>
            <a:r>
              <a:rPr lang="en-US" sz="2800" dirty="0" smtClean="0"/>
              <a:t>)</a:t>
            </a:r>
          </a:p>
          <a:p>
            <a:pPr marL="514350" indent="-514350">
              <a:buNone/>
            </a:pPr>
            <a:r>
              <a:rPr lang="en-US" sz="2800" dirty="0" smtClean="0"/>
              <a:t>{</a:t>
            </a:r>
          </a:p>
          <a:p>
            <a:pPr marL="514350" indent="-514350">
              <a:buNone/>
            </a:pPr>
            <a:r>
              <a:rPr lang="en-US" sz="2800" dirty="0" smtClean="0"/>
              <a:t> return </a:t>
            </a:r>
            <a:r>
              <a:rPr lang="en-US" sz="2800" dirty="0" err="1" smtClean="0"/>
              <a:t>i</a:t>
            </a:r>
            <a:r>
              <a:rPr lang="en-US" sz="2800" dirty="0" smtClean="0"/>
              <a:t>;</a:t>
            </a:r>
          </a:p>
          <a:p>
            <a:pPr marL="514350" indent="-514350">
              <a:buNone/>
            </a:pPr>
            <a:r>
              <a:rPr lang="en-US" sz="2800" dirty="0" smtClean="0"/>
              <a:t> }</a:t>
            </a:r>
            <a:endParaRPr lang="en-US" sz="2800" dirty="0"/>
          </a:p>
        </p:txBody>
      </p:sp>
      <p:sp>
        <p:nvSpPr>
          <p:cNvPr id="5" name="Rectangle 4"/>
          <p:cNvSpPr/>
          <p:nvPr/>
        </p:nvSpPr>
        <p:spPr>
          <a:xfrm>
            <a:off x="4876800" y="3124200"/>
            <a:ext cx="32004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Output:</a:t>
            </a:r>
          </a:p>
          <a:p>
            <a:pPr algn="ctr"/>
            <a:r>
              <a:rPr lang="en-US" b="1" dirty="0" smtClean="0">
                <a:solidFill>
                  <a:schemeClr val="tx1"/>
                </a:solidFill>
              </a:rPr>
              <a:t>10   5.4</a:t>
            </a:r>
            <a:endParaRPr lang="en-US" b="1" dirty="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noAutofit/>
          </a:bodyPr>
          <a:lstStyle/>
          <a:p>
            <a:pPr>
              <a:buNone/>
            </a:pPr>
            <a:r>
              <a:rPr lang="en-US" sz="2400" dirty="0"/>
              <a:t>#include &lt;</a:t>
            </a:r>
            <a:r>
              <a:rPr lang="en-US" sz="2400" dirty="0" err="1"/>
              <a:t>iostream</a:t>
            </a:r>
            <a:r>
              <a:rPr lang="en-US" sz="2400" dirty="0"/>
              <a:t>&gt;</a:t>
            </a:r>
          </a:p>
          <a:p>
            <a:pPr>
              <a:buNone/>
            </a:pPr>
            <a:r>
              <a:rPr lang="en-US" sz="2400" dirty="0"/>
              <a:t>using namespace std;</a:t>
            </a:r>
          </a:p>
          <a:p>
            <a:pPr>
              <a:buNone/>
            </a:pPr>
            <a:r>
              <a:rPr lang="en-US" sz="2400" dirty="0" err="1"/>
              <a:t>int</a:t>
            </a:r>
            <a:r>
              <a:rPr lang="en-US" sz="2400" dirty="0"/>
              <a:t> </a:t>
            </a:r>
            <a:r>
              <a:rPr lang="en-US" sz="2400" dirty="0" err="1"/>
              <a:t>myfunc</a:t>
            </a:r>
            <a:r>
              <a:rPr lang="en-US" sz="2400" dirty="0"/>
              <a:t>(</a:t>
            </a:r>
            <a:r>
              <a:rPr lang="en-US" sz="2400" dirty="0" err="1"/>
              <a:t>int</a:t>
            </a:r>
            <a:r>
              <a:rPr lang="en-US" sz="2400" dirty="0"/>
              <a:t> </a:t>
            </a:r>
            <a:r>
              <a:rPr lang="en-US" sz="2400" dirty="0" err="1"/>
              <a:t>i</a:t>
            </a:r>
            <a:r>
              <a:rPr lang="en-US" sz="2400" dirty="0"/>
              <a:t>); // these differ in number of parameters</a:t>
            </a:r>
          </a:p>
          <a:p>
            <a:pPr>
              <a:buNone/>
            </a:pPr>
            <a:r>
              <a:rPr lang="sv-SE" sz="2400" dirty="0"/>
              <a:t>int myfunc(int i, int j</a:t>
            </a:r>
            <a:r>
              <a:rPr lang="sv-SE" sz="2400" dirty="0" smtClean="0"/>
              <a:t>);</a:t>
            </a:r>
          </a:p>
          <a:p>
            <a:pPr>
              <a:buNone/>
            </a:pPr>
            <a:r>
              <a:rPr lang="en-US" sz="2400" dirty="0" err="1" smtClean="0"/>
              <a:t>int</a:t>
            </a:r>
            <a:r>
              <a:rPr lang="en-US" sz="2400" dirty="0" smtClean="0"/>
              <a:t> main()</a:t>
            </a:r>
          </a:p>
          <a:p>
            <a:pPr>
              <a:buNone/>
            </a:pPr>
            <a:r>
              <a:rPr lang="en-US" sz="2400" dirty="0" smtClean="0"/>
              <a:t>{</a:t>
            </a:r>
          </a:p>
          <a:p>
            <a:pPr>
              <a:buNone/>
            </a:pPr>
            <a:r>
              <a:rPr lang="en-US" sz="2400" dirty="0" err="1" smtClean="0"/>
              <a:t>cout</a:t>
            </a:r>
            <a:r>
              <a:rPr lang="en-US" sz="2400" dirty="0" smtClean="0"/>
              <a:t> &lt;&lt; </a:t>
            </a:r>
            <a:r>
              <a:rPr lang="en-US" sz="2400" dirty="0" err="1" smtClean="0"/>
              <a:t>myfunc</a:t>
            </a:r>
            <a:r>
              <a:rPr lang="en-US" sz="2400" dirty="0" smtClean="0"/>
              <a:t>(10) &lt;&lt; " "; // calls </a:t>
            </a:r>
            <a:r>
              <a:rPr lang="en-US" sz="2400" dirty="0" err="1" smtClean="0"/>
              <a:t>myfunc</a:t>
            </a:r>
            <a:r>
              <a:rPr lang="en-US" sz="2400" dirty="0" smtClean="0"/>
              <a:t>(</a:t>
            </a:r>
            <a:r>
              <a:rPr lang="en-US" sz="2400" dirty="0" err="1" smtClean="0"/>
              <a:t>int</a:t>
            </a:r>
            <a:r>
              <a:rPr lang="en-US" sz="2400" dirty="0" smtClean="0"/>
              <a:t> </a:t>
            </a:r>
            <a:r>
              <a:rPr lang="en-US" sz="2400" dirty="0" err="1" smtClean="0"/>
              <a:t>i</a:t>
            </a:r>
            <a:r>
              <a:rPr lang="en-US" sz="2400" dirty="0" smtClean="0"/>
              <a:t>)</a:t>
            </a:r>
          </a:p>
          <a:p>
            <a:pPr>
              <a:buNone/>
            </a:pPr>
            <a:r>
              <a:rPr lang="en-US" sz="2400" dirty="0" err="1" smtClean="0"/>
              <a:t>cout</a:t>
            </a:r>
            <a:r>
              <a:rPr lang="en-US" sz="2400" dirty="0" smtClean="0"/>
              <a:t> &lt;&lt; </a:t>
            </a:r>
            <a:r>
              <a:rPr lang="en-US" sz="2400" dirty="0" err="1" smtClean="0"/>
              <a:t>myfunc</a:t>
            </a:r>
            <a:r>
              <a:rPr lang="en-US" sz="2400" dirty="0" smtClean="0"/>
              <a:t>(4, 5); // calls </a:t>
            </a:r>
            <a:r>
              <a:rPr lang="en-US" sz="2400" dirty="0" err="1" smtClean="0"/>
              <a:t>myfunc</a:t>
            </a:r>
            <a:r>
              <a:rPr lang="en-US" sz="2400" dirty="0" smtClean="0"/>
              <a:t>(</a:t>
            </a:r>
            <a:r>
              <a:rPr lang="en-US" sz="2400" dirty="0" err="1" smtClean="0"/>
              <a:t>int</a:t>
            </a:r>
            <a:r>
              <a:rPr lang="en-US" sz="2400" dirty="0" smtClean="0"/>
              <a:t> </a:t>
            </a:r>
            <a:r>
              <a:rPr lang="en-US" sz="2400" dirty="0" err="1" smtClean="0"/>
              <a:t>i</a:t>
            </a:r>
            <a:r>
              <a:rPr lang="en-US" sz="2400" dirty="0" smtClean="0"/>
              <a:t>, </a:t>
            </a:r>
            <a:r>
              <a:rPr lang="en-US" sz="2400" dirty="0" err="1" smtClean="0"/>
              <a:t>int</a:t>
            </a:r>
            <a:r>
              <a:rPr lang="en-US" sz="2400" dirty="0" smtClean="0"/>
              <a:t> j)</a:t>
            </a:r>
          </a:p>
          <a:p>
            <a:pPr>
              <a:buNone/>
            </a:pPr>
            <a:r>
              <a:rPr lang="en-US" sz="2400" dirty="0" smtClean="0"/>
              <a:t>return 0;</a:t>
            </a:r>
          </a:p>
          <a:p>
            <a:pPr>
              <a:buNone/>
            </a:pPr>
            <a:r>
              <a:rPr lang="en-US" sz="2400" dirty="0" smtClean="0"/>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dirty="0" err="1" smtClean="0"/>
              <a:t>int</a:t>
            </a:r>
            <a:r>
              <a:rPr lang="en-US" dirty="0" smtClean="0"/>
              <a:t> </a:t>
            </a:r>
            <a:r>
              <a:rPr lang="en-US" dirty="0" err="1" smtClean="0"/>
              <a:t>myfunc</a:t>
            </a:r>
            <a:r>
              <a:rPr lang="en-US" dirty="0" smtClean="0"/>
              <a:t>(</a:t>
            </a:r>
            <a:r>
              <a:rPr lang="en-US" dirty="0" err="1" smtClean="0"/>
              <a:t>int</a:t>
            </a:r>
            <a:r>
              <a:rPr lang="en-US" dirty="0" smtClean="0"/>
              <a:t> </a:t>
            </a:r>
            <a:r>
              <a:rPr lang="en-US" dirty="0" err="1" smtClean="0"/>
              <a:t>i</a:t>
            </a:r>
            <a:r>
              <a:rPr lang="en-US" dirty="0" smtClean="0"/>
              <a:t>)</a:t>
            </a:r>
          </a:p>
          <a:p>
            <a:pPr>
              <a:buNone/>
            </a:pPr>
            <a:r>
              <a:rPr lang="en-US" dirty="0" smtClean="0"/>
              <a:t>{</a:t>
            </a:r>
          </a:p>
          <a:p>
            <a:pPr>
              <a:buNone/>
            </a:pPr>
            <a:r>
              <a:rPr lang="en-US" dirty="0" smtClean="0"/>
              <a:t>return </a:t>
            </a:r>
            <a:r>
              <a:rPr lang="en-US" dirty="0" err="1" smtClean="0"/>
              <a:t>i</a:t>
            </a:r>
            <a:r>
              <a:rPr lang="en-US" dirty="0" smtClean="0"/>
              <a:t>;</a:t>
            </a:r>
          </a:p>
          <a:p>
            <a:pPr>
              <a:buNone/>
            </a:pPr>
            <a:r>
              <a:rPr lang="en-US" dirty="0" smtClean="0"/>
              <a:t>}</a:t>
            </a:r>
          </a:p>
          <a:p>
            <a:pPr>
              <a:buNone/>
            </a:pPr>
            <a:r>
              <a:rPr lang="sv-SE" dirty="0" smtClean="0"/>
              <a:t>int myfunc(int i, int j)</a:t>
            </a:r>
          </a:p>
          <a:p>
            <a:pPr>
              <a:buNone/>
            </a:pPr>
            <a:r>
              <a:rPr lang="en-US" dirty="0" smtClean="0"/>
              <a:t>{</a:t>
            </a:r>
          </a:p>
          <a:p>
            <a:pPr>
              <a:buNone/>
            </a:pPr>
            <a:r>
              <a:rPr lang="en-US" dirty="0" smtClean="0"/>
              <a:t>return </a:t>
            </a:r>
            <a:r>
              <a:rPr lang="en-US" dirty="0" err="1" smtClean="0"/>
              <a:t>i</a:t>
            </a:r>
            <a:r>
              <a:rPr lang="en-US" dirty="0" smtClean="0"/>
              <a:t>*j;</a:t>
            </a:r>
          </a:p>
          <a:p>
            <a:pPr>
              <a:buNone/>
            </a:pPr>
            <a:r>
              <a:rPr lang="en-US" dirty="0" smtClean="0"/>
              <a:t>}</a:t>
            </a:r>
          </a:p>
          <a:p>
            <a:endParaRPr lang="en-US" dirty="0"/>
          </a:p>
        </p:txBody>
      </p:sp>
      <p:sp>
        <p:nvSpPr>
          <p:cNvPr id="4" name="Rectangle 3"/>
          <p:cNvSpPr/>
          <p:nvPr/>
        </p:nvSpPr>
        <p:spPr>
          <a:xfrm>
            <a:off x="4876800" y="3124200"/>
            <a:ext cx="32004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Output:</a:t>
            </a:r>
          </a:p>
          <a:p>
            <a:pPr algn="ctr"/>
            <a:r>
              <a:rPr lang="en-US" b="1" dirty="0" smtClean="0">
                <a:solidFill>
                  <a:schemeClr val="tx1"/>
                </a:solidFill>
              </a:rPr>
              <a:t>10   20</a:t>
            </a:r>
            <a:endParaRPr lang="en-US" b="1" dirty="0">
              <a:solidFill>
                <a:schemeClr val="tx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normAutofit fontScale="70000" lnSpcReduction="20000"/>
          </a:bodyPr>
          <a:lstStyle/>
          <a:p>
            <a:r>
              <a:rPr lang="en-US" dirty="0"/>
              <a:t>T</a:t>
            </a:r>
            <a:r>
              <a:rPr lang="en-US" dirty="0" smtClean="0"/>
              <a:t>he </a:t>
            </a:r>
            <a:r>
              <a:rPr lang="en-US" dirty="0"/>
              <a:t>key point about function overloading is that the functions </a:t>
            </a:r>
            <a:r>
              <a:rPr lang="en-US" dirty="0" smtClean="0"/>
              <a:t>must differ </a:t>
            </a:r>
            <a:r>
              <a:rPr lang="en-US" dirty="0"/>
              <a:t>in regard to the types and/or number of parameters. Two functions </a:t>
            </a:r>
            <a:r>
              <a:rPr lang="en-US" dirty="0" smtClean="0"/>
              <a:t>differing only </a:t>
            </a:r>
            <a:r>
              <a:rPr lang="en-US" dirty="0"/>
              <a:t>in their return types cannot be overloaded. </a:t>
            </a:r>
            <a:endParaRPr lang="en-US" dirty="0" smtClean="0"/>
          </a:p>
          <a:p>
            <a:r>
              <a:rPr lang="en-US" dirty="0" smtClean="0"/>
              <a:t>For </a:t>
            </a:r>
            <a:r>
              <a:rPr lang="en-US" dirty="0"/>
              <a:t>example, this is an invalid </a:t>
            </a:r>
            <a:r>
              <a:rPr lang="en-US" dirty="0" smtClean="0"/>
              <a:t>attempt to </a:t>
            </a:r>
            <a:r>
              <a:rPr lang="en-US" dirty="0"/>
              <a:t>overload </a:t>
            </a:r>
            <a:r>
              <a:rPr lang="en-US" b="1" dirty="0" err="1"/>
              <a:t>myfunc</a:t>
            </a:r>
            <a:r>
              <a:rPr lang="en-US" b="1" dirty="0"/>
              <a:t>( ):</a:t>
            </a:r>
          </a:p>
          <a:p>
            <a:pPr>
              <a:buNone/>
            </a:pPr>
            <a:r>
              <a:rPr lang="en-US" dirty="0" smtClean="0"/>
              <a:t>			</a:t>
            </a:r>
            <a:r>
              <a:rPr lang="en-US" dirty="0" err="1" smtClean="0"/>
              <a:t>int</a:t>
            </a:r>
            <a:r>
              <a:rPr lang="en-US" dirty="0" smtClean="0"/>
              <a:t> </a:t>
            </a:r>
            <a:r>
              <a:rPr lang="en-US" dirty="0" err="1"/>
              <a:t>myfunc</a:t>
            </a:r>
            <a:r>
              <a:rPr lang="en-US" dirty="0"/>
              <a:t>(</a:t>
            </a:r>
            <a:r>
              <a:rPr lang="en-US" dirty="0" err="1"/>
              <a:t>int</a:t>
            </a:r>
            <a:r>
              <a:rPr lang="en-US" dirty="0"/>
              <a:t> </a:t>
            </a:r>
            <a:r>
              <a:rPr lang="en-US" dirty="0" err="1"/>
              <a:t>i</a:t>
            </a:r>
            <a:r>
              <a:rPr lang="en-US" dirty="0"/>
              <a:t>); </a:t>
            </a:r>
          </a:p>
          <a:p>
            <a:pPr>
              <a:buNone/>
            </a:pPr>
            <a:r>
              <a:rPr lang="en-US" dirty="0" smtClean="0"/>
              <a:t>			float </a:t>
            </a:r>
            <a:r>
              <a:rPr lang="en-US" dirty="0" err="1"/>
              <a:t>myfunc</a:t>
            </a:r>
            <a:r>
              <a:rPr lang="en-US" dirty="0"/>
              <a:t>(</a:t>
            </a:r>
            <a:r>
              <a:rPr lang="en-US" dirty="0" err="1"/>
              <a:t>int</a:t>
            </a:r>
            <a:r>
              <a:rPr lang="en-US" dirty="0"/>
              <a:t> </a:t>
            </a:r>
            <a:r>
              <a:rPr lang="en-US" dirty="0" err="1"/>
              <a:t>i</a:t>
            </a:r>
            <a:r>
              <a:rPr lang="en-US" dirty="0"/>
              <a:t>); </a:t>
            </a:r>
            <a:endParaRPr lang="en-US" dirty="0" smtClean="0"/>
          </a:p>
          <a:p>
            <a:pPr>
              <a:buNone/>
            </a:pPr>
            <a:r>
              <a:rPr lang="en-US" b="1" dirty="0" smtClean="0"/>
              <a:t>// Error: differing return types are insufficient when overloading.</a:t>
            </a:r>
            <a:endParaRPr lang="en-US" b="1" dirty="0"/>
          </a:p>
          <a:p>
            <a:r>
              <a:rPr lang="en-US" dirty="0"/>
              <a:t>Sometimes, two function declarations will appear to differ, when in fact they do </a:t>
            </a:r>
            <a:r>
              <a:rPr lang="en-US" dirty="0" smtClean="0"/>
              <a:t>not. For </a:t>
            </a:r>
            <a:r>
              <a:rPr lang="en-US" dirty="0"/>
              <a:t>example, consider the following declarations.</a:t>
            </a:r>
          </a:p>
          <a:p>
            <a:pPr>
              <a:buNone/>
            </a:pPr>
            <a:r>
              <a:rPr lang="en-US" dirty="0" smtClean="0"/>
              <a:t>				void </a:t>
            </a:r>
            <a:r>
              <a:rPr lang="en-US" dirty="0"/>
              <a:t>f(</a:t>
            </a:r>
            <a:r>
              <a:rPr lang="en-US" dirty="0" err="1"/>
              <a:t>int</a:t>
            </a:r>
            <a:r>
              <a:rPr lang="en-US" dirty="0"/>
              <a:t> *p);</a:t>
            </a:r>
          </a:p>
          <a:p>
            <a:pPr>
              <a:buNone/>
            </a:pPr>
            <a:r>
              <a:rPr lang="en-US" dirty="0" smtClean="0"/>
              <a:t>				void </a:t>
            </a:r>
            <a:r>
              <a:rPr lang="en-US" dirty="0"/>
              <a:t>f(</a:t>
            </a:r>
            <a:r>
              <a:rPr lang="en-US" dirty="0" err="1"/>
              <a:t>int</a:t>
            </a:r>
            <a:r>
              <a:rPr lang="en-US" dirty="0"/>
              <a:t> p[]); // error, *p is same as p[]</a:t>
            </a:r>
          </a:p>
          <a:p>
            <a:r>
              <a:rPr lang="en-US" dirty="0"/>
              <a:t>Remember, to the compiler </a:t>
            </a:r>
            <a:r>
              <a:rPr lang="en-US" b="1" dirty="0"/>
              <a:t>*p is the same as p[ ]. Therefore, although the </a:t>
            </a:r>
            <a:r>
              <a:rPr lang="en-US" b="1" dirty="0" smtClean="0"/>
              <a:t>two </a:t>
            </a:r>
            <a:r>
              <a:rPr lang="en-US" dirty="0" smtClean="0"/>
              <a:t>prototypes </a:t>
            </a:r>
            <a:r>
              <a:rPr lang="en-US" dirty="0"/>
              <a:t>appear to differ in the types of their parameter, in actuality they do not.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Overloading Constructors</a:t>
            </a: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itchFamily="18" charset="0"/>
                <a:cs typeface="Times New Roman" pitchFamily="18" charset="0"/>
              </a:rPr>
              <a:t>Many times you will create a class for which there are two or more possible ways </a:t>
            </a:r>
            <a:r>
              <a:rPr lang="en-US" dirty="0" smtClean="0">
                <a:latin typeface="Times New Roman" pitchFamily="18" charset="0"/>
                <a:cs typeface="Times New Roman" pitchFamily="18" charset="0"/>
              </a:rPr>
              <a:t>to construct </a:t>
            </a:r>
            <a:r>
              <a:rPr lang="en-US" dirty="0">
                <a:latin typeface="Times New Roman" pitchFamily="18" charset="0"/>
                <a:cs typeface="Times New Roman" pitchFamily="18" charset="0"/>
              </a:rPr>
              <a:t>an object.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these cases, you will want to provide an overloaded </a:t>
            </a:r>
            <a:r>
              <a:rPr lang="en-US" dirty="0" smtClean="0">
                <a:latin typeface="Times New Roman" pitchFamily="18" charset="0"/>
                <a:cs typeface="Times New Roman" pitchFamily="18" charset="0"/>
              </a:rPr>
              <a:t>constructor for </a:t>
            </a:r>
            <a:r>
              <a:rPr lang="en-US" dirty="0">
                <a:latin typeface="Times New Roman" pitchFamily="18" charset="0"/>
                <a:cs typeface="Times New Roman" pitchFamily="18" charset="0"/>
              </a:rPr>
              <a:t>each way.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is a self-enforcing rule because if you attempt to create an object </a:t>
            </a:r>
            <a:r>
              <a:rPr lang="en-US" dirty="0" smtClean="0">
                <a:latin typeface="Times New Roman" pitchFamily="18" charset="0"/>
                <a:cs typeface="Times New Roman" pitchFamily="18" charset="0"/>
              </a:rPr>
              <a:t>for which </a:t>
            </a:r>
            <a:r>
              <a:rPr lang="en-US" dirty="0">
                <a:latin typeface="Times New Roman" pitchFamily="18" charset="0"/>
                <a:cs typeface="Times New Roman" pitchFamily="18" charset="0"/>
              </a:rPr>
              <a:t>there is no matching constructor, a compile-time error results.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numCol="2">
            <a:noAutofit/>
          </a:bodyPr>
          <a:lstStyle/>
          <a:p>
            <a:pPr>
              <a:buNone/>
            </a:pPr>
            <a:r>
              <a:rPr lang="en-US" sz="2400" dirty="0">
                <a:latin typeface="Times New Roman" pitchFamily="18" charset="0"/>
                <a:cs typeface="Times New Roman" pitchFamily="18" charset="0"/>
              </a:rPr>
              <a:t>#include &lt;</a:t>
            </a:r>
            <a:r>
              <a:rPr lang="en-US" sz="2400" dirty="0" err="1">
                <a:latin typeface="Times New Roman" pitchFamily="18" charset="0"/>
                <a:cs typeface="Times New Roman" pitchFamily="18" charset="0"/>
              </a:rPr>
              <a:t>iostream</a:t>
            </a:r>
            <a:r>
              <a:rPr lang="en-US" sz="2400" dirty="0">
                <a:latin typeface="Times New Roman" pitchFamily="18" charset="0"/>
                <a:cs typeface="Times New Roman" pitchFamily="18" charset="0"/>
              </a:rPr>
              <a:t>&gt;</a:t>
            </a:r>
          </a:p>
          <a:p>
            <a:pPr>
              <a:buNone/>
            </a:pPr>
            <a:r>
              <a:rPr lang="en-US" sz="2400" dirty="0">
                <a:latin typeface="Times New Roman" pitchFamily="18" charset="0"/>
                <a:cs typeface="Times New Roman" pitchFamily="18" charset="0"/>
              </a:rPr>
              <a:t>#include &lt;</a:t>
            </a:r>
            <a:r>
              <a:rPr lang="en-US" sz="2400" dirty="0" err="1">
                <a:latin typeface="Times New Roman" pitchFamily="18" charset="0"/>
                <a:cs typeface="Times New Roman" pitchFamily="18" charset="0"/>
              </a:rPr>
              <a:t>cstdio</a:t>
            </a:r>
            <a:r>
              <a:rPr lang="en-US" sz="2400" dirty="0">
                <a:latin typeface="Times New Roman" pitchFamily="18" charset="0"/>
                <a:cs typeface="Times New Roman" pitchFamily="18" charset="0"/>
              </a:rPr>
              <a:t>&gt;</a:t>
            </a:r>
          </a:p>
          <a:p>
            <a:pPr>
              <a:buNone/>
            </a:pPr>
            <a:r>
              <a:rPr lang="en-US" sz="2400" dirty="0">
                <a:latin typeface="Times New Roman" pitchFamily="18" charset="0"/>
                <a:cs typeface="Times New Roman" pitchFamily="18" charset="0"/>
              </a:rPr>
              <a:t>using namespace std;</a:t>
            </a:r>
          </a:p>
          <a:p>
            <a:pPr>
              <a:buNone/>
            </a:pPr>
            <a:r>
              <a:rPr lang="en-US" sz="2400" dirty="0">
                <a:latin typeface="Times New Roman" pitchFamily="18" charset="0"/>
                <a:cs typeface="Times New Roman" pitchFamily="18" charset="0"/>
              </a:rPr>
              <a:t>class date {</a:t>
            </a:r>
          </a:p>
          <a:p>
            <a:pPr>
              <a:buNone/>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day, month, year;</a:t>
            </a:r>
          </a:p>
          <a:p>
            <a:pPr>
              <a:buNone/>
            </a:pPr>
            <a:r>
              <a:rPr lang="en-US" sz="2400" dirty="0">
                <a:latin typeface="Times New Roman" pitchFamily="18" charset="0"/>
                <a:cs typeface="Times New Roman" pitchFamily="18" charset="0"/>
              </a:rPr>
              <a:t>public:</a:t>
            </a:r>
          </a:p>
          <a:p>
            <a:pPr>
              <a:buNone/>
            </a:pPr>
            <a:r>
              <a:rPr lang="en-US" sz="2400" dirty="0">
                <a:latin typeface="Times New Roman" pitchFamily="18" charset="0"/>
                <a:cs typeface="Times New Roman" pitchFamily="18" charset="0"/>
              </a:rPr>
              <a:t>date(char *d);</a:t>
            </a:r>
          </a:p>
          <a:p>
            <a:pPr>
              <a:buNone/>
            </a:pPr>
            <a:r>
              <a:rPr lang="fr-FR" sz="2400" dirty="0">
                <a:latin typeface="Times New Roman" pitchFamily="18" charset="0"/>
                <a:cs typeface="Times New Roman" pitchFamily="18" charset="0"/>
              </a:rPr>
              <a:t>date(</a:t>
            </a:r>
            <a:r>
              <a:rPr lang="fr-FR" sz="2400" dirty="0" err="1">
                <a:latin typeface="Times New Roman" pitchFamily="18" charset="0"/>
                <a:cs typeface="Times New Roman" pitchFamily="18" charset="0"/>
              </a:rPr>
              <a:t>int</a:t>
            </a:r>
            <a:r>
              <a:rPr lang="fr-FR" sz="2400" dirty="0">
                <a:latin typeface="Times New Roman" pitchFamily="18" charset="0"/>
                <a:cs typeface="Times New Roman" pitchFamily="18" charset="0"/>
              </a:rPr>
              <a:t> m, </a:t>
            </a:r>
            <a:r>
              <a:rPr lang="fr-FR" sz="2400" dirty="0" err="1">
                <a:latin typeface="Times New Roman" pitchFamily="18" charset="0"/>
                <a:cs typeface="Times New Roman" pitchFamily="18" charset="0"/>
              </a:rPr>
              <a:t>int</a:t>
            </a:r>
            <a:r>
              <a:rPr lang="fr-FR" sz="2400" dirty="0">
                <a:latin typeface="Times New Roman" pitchFamily="18" charset="0"/>
                <a:cs typeface="Times New Roman" pitchFamily="18" charset="0"/>
              </a:rPr>
              <a:t> d, </a:t>
            </a:r>
            <a:r>
              <a:rPr lang="fr-FR" sz="2400" dirty="0" err="1">
                <a:latin typeface="Times New Roman" pitchFamily="18" charset="0"/>
                <a:cs typeface="Times New Roman" pitchFamily="18" charset="0"/>
              </a:rPr>
              <a:t>int</a:t>
            </a:r>
            <a:r>
              <a:rPr lang="fr-FR" sz="2400" dirty="0">
                <a:latin typeface="Times New Roman" pitchFamily="18" charset="0"/>
                <a:cs typeface="Times New Roman" pitchFamily="18" charset="0"/>
              </a:rPr>
              <a:t> y);</a:t>
            </a:r>
          </a:p>
          <a:p>
            <a:pPr>
              <a:buNone/>
            </a:pPr>
            <a:r>
              <a:rPr lang="en-US" sz="2400" dirty="0">
                <a:latin typeface="Times New Roman" pitchFamily="18" charset="0"/>
                <a:cs typeface="Times New Roman" pitchFamily="18" charset="0"/>
              </a:rPr>
              <a:t>void </a:t>
            </a:r>
            <a:r>
              <a:rPr lang="en-US" sz="2400" dirty="0" err="1">
                <a:latin typeface="Times New Roman" pitchFamily="18" charset="0"/>
                <a:cs typeface="Times New Roman" pitchFamily="18" charset="0"/>
              </a:rPr>
              <a:t>show_date</a:t>
            </a:r>
            <a:r>
              <a:rPr lang="en-US" sz="2400" dirty="0">
                <a:latin typeface="Times New Roman" pitchFamily="18" charset="0"/>
                <a:cs typeface="Times New Roman" pitchFamily="18" charset="0"/>
              </a:rPr>
              <a:t>();</a:t>
            </a:r>
          </a:p>
          <a:p>
            <a:pPr>
              <a:buNone/>
            </a:pPr>
            <a:r>
              <a:rPr lang="en-US" sz="2400" dirty="0">
                <a:latin typeface="Times New Roman" pitchFamily="18" charset="0"/>
                <a:cs typeface="Times New Roman" pitchFamily="18" charset="0"/>
              </a:rPr>
              <a:t>};</a:t>
            </a:r>
          </a:p>
          <a:p>
            <a:pPr>
              <a:buNone/>
            </a:pPr>
            <a:r>
              <a:rPr lang="en-US" sz="2400" dirty="0">
                <a:latin typeface="Times New Roman" pitchFamily="18" charset="0"/>
                <a:cs typeface="Times New Roman" pitchFamily="18" charset="0"/>
              </a:rPr>
              <a:t>// Initialize using string.</a:t>
            </a:r>
          </a:p>
          <a:p>
            <a:pPr>
              <a:buNone/>
            </a:pPr>
            <a:r>
              <a:rPr lang="en-US" sz="2400" dirty="0">
                <a:latin typeface="Times New Roman" pitchFamily="18" charset="0"/>
                <a:cs typeface="Times New Roman" pitchFamily="18" charset="0"/>
              </a:rPr>
              <a:t>date::date(char *d)</a:t>
            </a:r>
          </a:p>
          <a:p>
            <a:pPr>
              <a:buNone/>
            </a:pPr>
            <a:r>
              <a:rPr lang="en-US" sz="2400" dirty="0">
                <a:latin typeface="Times New Roman" pitchFamily="18" charset="0"/>
                <a:cs typeface="Times New Roman" pitchFamily="18" charset="0"/>
              </a:rPr>
              <a:t>{</a:t>
            </a:r>
          </a:p>
          <a:p>
            <a:pPr>
              <a:buNone/>
            </a:pPr>
            <a:r>
              <a:rPr lang="en-US" sz="2400" dirty="0" err="1">
                <a:latin typeface="Times New Roman" pitchFamily="18" charset="0"/>
                <a:cs typeface="Times New Roman" pitchFamily="18" charset="0"/>
              </a:rPr>
              <a:t>sscanf</a:t>
            </a:r>
            <a:r>
              <a:rPr lang="en-US" sz="2400" dirty="0">
                <a:latin typeface="Times New Roman" pitchFamily="18" charset="0"/>
                <a:cs typeface="Times New Roman" pitchFamily="18" charset="0"/>
              </a:rPr>
              <a:t>(d, "%d%*</a:t>
            </a:r>
            <a:r>
              <a:rPr lang="en-US" sz="2400" dirty="0" err="1">
                <a:latin typeface="Times New Roman" pitchFamily="18" charset="0"/>
                <a:cs typeface="Times New Roman" pitchFamily="18" charset="0"/>
              </a:rPr>
              <a:t>c%d</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c%d</a:t>
            </a:r>
            <a:r>
              <a:rPr lang="en-US" sz="2400" dirty="0">
                <a:latin typeface="Times New Roman" pitchFamily="18" charset="0"/>
                <a:cs typeface="Times New Roman" pitchFamily="18" charset="0"/>
              </a:rPr>
              <a:t>", &amp;month, &amp;day, &amp;year);</a:t>
            </a:r>
          </a:p>
          <a:p>
            <a:pPr>
              <a:buNone/>
            </a:pPr>
            <a:r>
              <a:rPr lang="en-US" sz="2400" dirty="0">
                <a:latin typeface="Times New Roman" pitchFamily="18" charset="0"/>
                <a:cs typeface="Times New Roman" pitchFamily="18" charset="0"/>
              </a:rPr>
              <a:t>}</a:t>
            </a:r>
          </a:p>
          <a:p>
            <a:pPr>
              <a:buNone/>
            </a:pPr>
            <a:r>
              <a:rPr lang="en-US" sz="2400" dirty="0">
                <a:latin typeface="Times New Roman" pitchFamily="18" charset="0"/>
                <a:cs typeface="Times New Roman" pitchFamily="18" charset="0"/>
              </a:rPr>
              <a:t>// Initialize using integers.</a:t>
            </a:r>
          </a:p>
          <a:p>
            <a:pPr>
              <a:buNone/>
            </a:pPr>
            <a:r>
              <a:rPr lang="fr-FR" sz="2400" dirty="0" err="1">
                <a:latin typeface="Times New Roman" pitchFamily="18" charset="0"/>
                <a:cs typeface="Times New Roman" pitchFamily="18" charset="0"/>
              </a:rPr>
              <a:t>date::date</a:t>
            </a:r>
            <a:r>
              <a:rPr lang="fr-FR" sz="2400" dirty="0">
                <a:latin typeface="Times New Roman" pitchFamily="18" charset="0"/>
                <a:cs typeface="Times New Roman" pitchFamily="18" charset="0"/>
              </a:rPr>
              <a:t>(</a:t>
            </a:r>
            <a:r>
              <a:rPr lang="fr-FR" sz="2400" dirty="0" err="1">
                <a:latin typeface="Times New Roman" pitchFamily="18" charset="0"/>
                <a:cs typeface="Times New Roman" pitchFamily="18" charset="0"/>
              </a:rPr>
              <a:t>int</a:t>
            </a:r>
            <a:r>
              <a:rPr lang="fr-FR" sz="2400" dirty="0">
                <a:latin typeface="Times New Roman" pitchFamily="18" charset="0"/>
                <a:cs typeface="Times New Roman" pitchFamily="18" charset="0"/>
              </a:rPr>
              <a:t> m, </a:t>
            </a:r>
            <a:r>
              <a:rPr lang="fr-FR" sz="2400" dirty="0" err="1">
                <a:latin typeface="Times New Roman" pitchFamily="18" charset="0"/>
                <a:cs typeface="Times New Roman" pitchFamily="18" charset="0"/>
              </a:rPr>
              <a:t>int</a:t>
            </a:r>
            <a:r>
              <a:rPr lang="fr-FR" sz="2400" dirty="0">
                <a:latin typeface="Times New Roman" pitchFamily="18" charset="0"/>
                <a:cs typeface="Times New Roman" pitchFamily="18" charset="0"/>
              </a:rPr>
              <a:t> d, </a:t>
            </a:r>
            <a:r>
              <a:rPr lang="fr-FR" sz="2400" dirty="0" err="1">
                <a:latin typeface="Times New Roman" pitchFamily="18" charset="0"/>
                <a:cs typeface="Times New Roman" pitchFamily="18" charset="0"/>
              </a:rPr>
              <a:t>int</a:t>
            </a:r>
            <a:r>
              <a:rPr lang="fr-FR" sz="2400" dirty="0">
                <a:latin typeface="Times New Roman" pitchFamily="18" charset="0"/>
                <a:cs typeface="Times New Roman" pitchFamily="18" charset="0"/>
              </a:rPr>
              <a:t> y)</a:t>
            </a:r>
          </a:p>
          <a:p>
            <a:pPr>
              <a:buNone/>
            </a:pPr>
            <a:r>
              <a:rPr lang="en-US" sz="2400" dirty="0" smtClean="0">
                <a:latin typeface="Times New Roman" pitchFamily="18" charset="0"/>
                <a:cs typeface="Times New Roman" pitchFamily="18" charset="0"/>
              </a:rPr>
              <a:t>{</a:t>
            </a:r>
          </a:p>
          <a:p>
            <a:pPr>
              <a:buNone/>
            </a:pPr>
            <a:r>
              <a:rPr lang="en-US" sz="2400" dirty="0">
                <a:latin typeface="Times New Roman" pitchFamily="18" charset="0"/>
                <a:cs typeface="Times New Roman" pitchFamily="18" charset="0"/>
              </a:rPr>
              <a:t>day = d;</a:t>
            </a:r>
          </a:p>
          <a:p>
            <a:pPr>
              <a:buNone/>
            </a:pPr>
            <a:r>
              <a:rPr lang="en-US" sz="2400" dirty="0">
                <a:latin typeface="Times New Roman" pitchFamily="18" charset="0"/>
                <a:cs typeface="Times New Roman" pitchFamily="18" charset="0"/>
              </a:rPr>
              <a:t>month = m;</a:t>
            </a:r>
          </a:p>
          <a:p>
            <a:pPr>
              <a:buNone/>
            </a:pPr>
            <a:r>
              <a:rPr lang="en-US" sz="2400" dirty="0">
                <a:latin typeface="Times New Roman" pitchFamily="18" charset="0"/>
                <a:cs typeface="Times New Roman" pitchFamily="18" charset="0"/>
              </a:rPr>
              <a:t>year = y;</a:t>
            </a:r>
          </a:p>
          <a:p>
            <a:pPr>
              <a:buNone/>
            </a:pP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marL="514350" indent="-514350">
              <a:buNone/>
            </a:pPr>
            <a:r>
              <a:rPr lang="en-US" dirty="0" smtClean="0">
                <a:latin typeface="Times New Roman" pitchFamily="18" charset="0"/>
                <a:cs typeface="Times New Roman" pitchFamily="18" charset="0"/>
              </a:rPr>
              <a:t> void date::</a:t>
            </a:r>
            <a:r>
              <a:rPr lang="en-US" dirty="0" err="1" smtClean="0">
                <a:latin typeface="Times New Roman" pitchFamily="18" charset="0"/>
                <a:cs typeface="Times New Roman" pitchFamily="18" charset="0"/>
              </a:rPr>
              <a:t>show_date</a:t>
            </a:r>
            <a:r>
              <a:rPr lang="en-US" dirty="0" smtClean="0">
                <a:latin typeface="Times New Roman" pitchFamily="18" charset="0"/>
                <a:cs typeface="Times New Roman" pitchFamily="18" charset="0"/>
              </a:rPr>
              <a:t>(){</a:t>
            </a:r>
          </a:p>
          <a:p>
            <a:pPr marL="514350" indent="-514350">
              <a:buNone/>
            </a:pPr>
            <a:r>
              <a:rPr lang="en-US" dirty="0" err="1" smtClean="0">
                <a:latin typeface="Times New Roman" pitchFamily="18" charset="0"/>
                <a:cs typeface="Times New Roman" pitchFamily="18" charset="0"/>
              </a:rPr>
              <a:t>cout</a:t>
            </a:r>
            <a:r>
              <a:rPr lang="en-US" dirty="0" smtClean="0">
                <a:latin typeface="Times New Roman" pitchFamily="18" charset="0"/>
                <a:cs typeface="Times New Roman" pitchFamily="18" charset="0"/>
              </a:rPr>
              <a:t> &lt;&lt; month &lt;&lt; "/" &lt;&lt; day;</a:t>
            </a:r>
          </a:p>
          <a:p>
            <a:pPr marL="514350" indent="-514350">
              <a:buNone/>
            </a:pPr>
            <a:r>
              <a:rPr lang="en-US" dirty="0" err="1" smtClean="0">
                <a:latin typeface="Times New Roman" pitchFamily="18" charset="0"/>
                <a:cs typeface="Times New Roman" pitchFamily="18" charset="0"/>
              </a:rPr>
              <a:t>cout</a:t>
            </a:r>
            <a:r>
              <a:rPr lang="en-US" dirty="0" smtClean="0">
                <a:latin typeface="Times New Roman" pitchFamily="18" charset="0"/>
                <a:cs typeface="Times New Roman" pitchFamily="18" charset="0"/>
              </a:rPr>
              <a:t> &lt;&lt; "/" &lt;&lt; year &lt;&lt; "\n";</a:t>
            </a:r>
          </a:p>
          <a:p>
            <a:pPr marL="514350" indent="-514350">
              <a:buNone/>
            </a:pPr>
            <a:r>
              <a:rPr lang="en-US" dirty="0" smtClean="0">
                <a:latin typeface="Times New Roman" pitchFamily="18" charset="0"/>
                <a:cs typeface="Times New Roman" pitchFamily="18" charset="0"/>
              </a:rPr>
              <a:t>}</a:t>
            </a:r>
          </a:p>
          <a:p>
            <a:pPr>
              <a:buNone/>
            </a:pPr>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main()</a:t>
            </a:r>
          </a:p>
          <a:p>
            <a:pPr>
              <a:buNone/>
            </a:pPr>
            <a:r>
              <a:rPr lang="en-US" dirty="0" smtClean="0">
                <a:latin typeface="Times New Roman" pitchFamily="18" charset="0"/>
                <a:cs typeface="Times New Roman" pitchFamily="18" charset="0"/>
              </a:rPr>
              <a:t>{</a:t>
            </a:r>
          </a:p>
          <a:p>
            <a:pPr>
              <a:buNone/>
            </a:pPr>
            <a:r>
              <a:rPr lang="de-DE" dirty="0" smtClean="0">
                <a:latin typeface="Times New Roman" pitchFamily="18" charset="0"/>
                <a:cs typeface="Times New Roman" pitchFamily="18" charset="0"/>
              </a:rPr>
              <a:t>date ob1(12, 4, 2003), ob2("10/22/2003");</a:t>
            </a:r>
          </a:p>
          <a:p>
            <a:pPr>
              <a:buNone/>
            </a:pPr>
            <a:r>
              <a:rPr lang="en-US" dirty="0" smtClean="0">
                <a:latin typeface="Times New Roman" pitchFamily="18" charset="0"/>
                <a:cs typeface="Times New Roman" pitchFamily="18" charset="0"/>
              </a:rPr>
              <a:t>ob1.show_date();</a:t>
            </a:r>
          </a:p>
          <a:p>
            <a:pPr>
              <a:buNone/>
            </a:pPr>
            <a:r>
              <a:rPr lang="en-US" dirty="0" smtClean="0">
                <a:latin typeface="Times New Roman" pitchFamily="18" charset="0"/>
                <a:cs typeface="Times New Roman" pitchFamily="18" charset="0"/>
              </a:rPr>
              <a:t>ob2.show_date();</a:t>
            </a:r>
          </a:p>
          <a:p>
            <a:pPr>
              <a:buNone/>
            </a:pPr>
            <a:r>
              <a:rPr lang="en-US" dirty="0" smtClean="0">
                <a:latin typeface="Times New Roman" pitchFamily="18" charset="0"/>
                <a:cs typeface="Times New Roman" pitchFamily="18" charset="0"/>
              </a:rPr>
              <a:t>return 0;</a:t>
            </a:r>
          </a:p>
          <a:p>
            <a:pPr>
              <a:buNone/>
            </a:pPr>
            <a:r>
              <a:rPr lang="en-US" dirty="0" smtClean="0">
                <a:latin typeface="Times New Roman" pitchFamily="18" charset="0"/>
                <a:cs typeface="Times New Roman" pitchFamily="18" charset="0"/>
              </a:rPr>
              <a:t>}</a:t>
            </a:r>
          </a:p>
          <a:p>
            <a:endParaRPr lang="en-US" dirty="0"/>
          </a:p>
        </p:txBody>
      </p:sp>
      <p:sp>
        <p:nvSpPr>
          <p:cNvPr id="5" name="Rectangle 4"/>
          <p:cNvSpPr/>
          <p:nvPr/>
        </p:nvSpPr>
        <p:spPr>
          <a:xfrm>
            <a:off x="5334000" y="4495800"/>
            <a:ext cx="32004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Output:</a:t>
            </a:r>
          </a:p>
          <a:p>
            <a:pPr algn="ctr"/>
            <a:r>
              <a:rPr lang="en-US" b="1" dirty="0" smtClean="0">
                <a:solidFill>
                  <a:schemeClr val="tx1"/>
                </a:solidFill>
              </a:rPr>
              <a:t>12/4/2003</a:t>
            </a:r>
          </a:p>
          <a:p>
            <a:pPr algn="ctr"/>
            <a:r>
              <a:rPr lang="en-US" b="1" dirty="0" smtClean="0">
                <a:solidFill>
                  <a:schemeClr val="tx1"/>
                </a:solidFill>
              </a:rPr>
              <a:t>10/22/2003</a:t>
            </a:r>
            <a:endParaRPr lang="en-US" b="1" dirty="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Allowing Both Initialized and Uninitialized Objects</a:t>
            </a:r>
          </a:p>
        </p:txBody>
      </p:sp>
      <p:sp>
        <p:nvSpPr>
          <p:cNvPr id="3" name="Content Placeholder 2"/>
          <p:cNvSpPr>
            <a:spLocks noGrp="1"/>
          </p:cNvSpPr>
          <p:nvPr>
            <p:ph idx="1"/>
          </p:nvPr>
        </p:nvSpPr>
        <p:spPr/>
        <p:txBody>
          <a:bodyPr>
            <a:normAutofit fontScale="92500" lnSpcReduction="20000"/>
          </a:bodyPr>
          <a:lstStyle/>
          <a:p>
            <a:r>
              <a:rPr lang="en-US" dirty="0"/>
              <a:t>Another common reason constructors are overloaded is to allow both initialized </a:t>
            </a:r>
            <a:r>
              <a:rPr lang="en-US" dirty="0" smtClean="0"/>
              <a:t>and uninitialized </a:t>
            </a:r>
            <a:r>
              <a:rPr lang="en-US" dirty="0"/>
              <a:t>objects (or, more precisely, default initialized objects) to be created. </a:t>
            </a:r>
            <a:endParaRPr lang="en-US" dirty="0" smtClean="0"/>
          </a:p>
          <a:p>
            <a:r>
              <a:rPr lang="en-US" dirty="0" smtClean="0"/>
              <a:t>This is </a:t>
            </a:r>
            <a:r>
              <a:rPr lang="en-US" dirty="0"/>
              <a:t>especially important if you want to be able to create dynamic arrays of objects </a:t>
            </a:r>
            <a:r>
              <a:rPr lang="en-US" dirty="0" smtClean="0"/>
              <a:t>of some </a:t>
            </a:r>
            <a:r>
              <a:rPr lang="en-US" dirty="0"/>
              <a:t>class, since it is not possible to initialize a dynamically allocated array</a:t>
            </a:r>
            <a:r>
              <a:rPr lang="en-US" dirty="0" smtClean="0"/>
              <a:t>.</a:t>
            </a:r>
          </a:p>
          <a:p>
            <a:r>
              <a:rPr lang="en-US" dirty="0" smtClean="0"/>
              <a:t> </a:t>
            </a:r>
            <a:r>
              <a:rPr lang="en-US" dirty="0"/>
              <a:t>To </a:t>
            </a:r>
            <a:r>
              <a:rPr lang="en-US" dirty="0" smtClean="0"/>
              <a:t>allow uninitialized </a:t>
            </a:r>
            <a:r>
              <a:rPr lang="en-US" dirty="0"/>
              <a:t>arrays of objects along with initialized objects, you must include </a:t>
            </a:r>
            <a:r>
              <a:rPr lang="en-US" dirty="0" smtClean="0"/>
              <a:t>a constructor </a:t>
            </a:r>
            <a:r>
              <a:rPr lang="en-US" dirty="0"/>
              <a:t>that supports initialization and one that does not.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numCol="2">
            <a:noAutofit/>
          </a:bodyPr>
          <a:lstStyle/>
          <a:p>
            <a:pPr>
              <a:buNone/>
            </a:pPr>
            <a:r>
              <a:rPr lang="en-US" sz="1800" dirty="0"/>
              <a:t>#include &lt;</a:t>
            </a:r>
            <a:r>
              <a:rPr lang="en-US" sz="1800" dirty="0" err="1"/>
              <a:t>iostream</a:t>
            </a:r>
            <a:r>
              <a:rPr lang="en-US" sz="1800" dirty="0"/>
              <a:t>&gt;</a:t>
            </a:r>
          </a:p>
          <a:p>
            <a:pPr>
              <a:buNone/>
            </a:pPr>
            <a:r>
              <a:rPr lang="en-US" sz="1800" dirty="0"/>
              <a:t>#include &lt;new&gt;</a:t>
            </a:r>
          </a:p>
          <a:p>
            <a:pPr>
              <a:buNone/>
            </a:pPr>
            <a:r>
              <a:rPr lang="en-US" sz="1800" dirty="0"/>
              <a:t>using namespace std;</a:t>
            </a:r>
          </a:p>
          <a:p>
            <a:pPr>
              <a:buNone/>
            </a:pPr>
            <a:r>
              <a:rPr lang="en-US" sz="1800" dirty="0"/>
              <a:t>class powers {</a:t>
            </a:r>
          </a:p>
          <a:p>
            <a:pPr>
              <a:buNone/>
            </a:pPr>
            <a:r>
              <a:rPr lang="en-US" sz="1800" dirty="0" err="1"/>
              <a:t>int</a:t>
            </a:r>
            <a:r>
              <a:rPr lang="en-US" sz="1800" dirty="0"/>
              <a:t> x;</a:t>
            </a:r>
          </a:p>
          <a:p>
            <a:pPr>
              <a:buNone/>
            </a:pPr>
            <a:r>
              <a:rPr lang="en-US" sz="1800" dirty="0"/>
              <a:t>public:</a:t>
            </a:r>
          </a:p>
          <a:p>
            <a:pPr>
              <a:buNone/>
            </a:pPr>
            <a:r>
              <a:rPr lang="en-US" sz="1800" dirty="0"/>
              <a:t>// overload constructor two ways</a:t>
            </a:r>
          </a:p>
          <a:p>
            <a:pPr>
              <a:buNone/>
            </a:pPr>
            <a:r>
              <a:rPr lang="en-US" sz="1800" dirty="0"/>
              <a:t>powers() { x = 0; } // no </a:t>
            </a:r>
            <a:r>
              <a:rPr lang="en-US" sz="1800" dirty="0" err="1"/>
              <a:t>initializer</a:t>
            </a:r>
            <a:endParaRPr lang="en-US" sz="1800" dirty="0"/>
          </a:p>
          <a:p>
            <a:pPr>
              <a:buNone/>
            </a:pPr>
            <a:r>
              <a:rPr lang="pt-BR" sz="1800" dirty="0"/>
              <a:t>powers(int n) { x = n; } // initializer</a:t>
            </a:r>
          </a:p>
          <a:p>
            <a:pPr>
              <a:buNone/>
            </a:pPr>
            <a:r>
              <a:rPr lang="en-US" sz="1800" dirty="0" err="1"/>
              <a:t>int</a:t>
            </a:r>
            <a:r>
              <a:rPr lang="en-US" sz="1800" dirty="0"/>
              <a:t> </a:t>
            </a:r>
            <a:r>
              <a:rPr lang="en-US" sz="1800" dirty="0" err="1"/>
              <a:t>getx</a:t>
            </a:r>
            <a:r>
              <a:rPr lang="en-US" sz="1800" dirty="0"/>
              <a:t>() { return x; }</a:t>
            </a:r>
          </a:p>
          <a:p>
            <a:pPr>
              <a:buNone/>
            </a:pPr>
            <a:r>
              <a:rPr lang="en-US" sz="1800" dirty="0"/>
              <a:t>void </a:t>
            </a:r>
            <a:r>
              <a:rPr lang="en-US" sz="1800" dirty="0" err="1"/>
              <a:t>setx</a:t>
            </a:r>
            <a:r>
              <a:rPr lang="en-US" sz="1800" dirty="0"/>
              <a:t>(</a:t>
            </a:r>
            <a:r>
              <a:rPr lang="en-US" sz="1800" dirty="0" err="1"/>
              <a:t>int</a:t>
            </a:r>
            <a:r>
              <a:rPr lang="en-US" sz="1800" dirty="0"/>
              <a:t> </a:t>
            </a:r>
            <a:r>
              <a:rPr lang="en-US" sz="1800" dirty="0" err="1"/>
              <a:t>i</a:t>
            </a:r>
            <a:r>
              <a:rPr lang="en-US" sz="1800" dirty="0"/>
              <a:t>) { x = </a:t>
            </a:r>
            <a:r>
              <a:rPr lang="en-US" sz="1800" dirty="0" err="1"/>
              <a:t>i</a:t>
            </a:r>
            <a:r>
              <a:rPr lang="en-US" sz="1800" dirty="0"/>
              <a:t>; </a:t>
            </a:r>
            <a:r>
              <a:rPr lang="en-US" sz="1800" dirty="0" smtClean="0"/>
              <a:t>}</a:t>
            </a:r>
          </a:p>
          <a:p>
            <a:pPr>
              <a:buNone/>
            </a:pPr>
            <a:r>
              <a:rPr lang="en-US" sz="1800" dirty="0"/>
              <a:t>};</a:t>
            </a:r>
          </a:p>
          <a:p>
            <a:pPr>
              <a:buNone/>
            </a:pPr>
            <a:r>
              <a:rPr lang="en-US" sz="1800" dirty="0" err="1"/>
              <a:t>int</a:t>
            </a:r>
            <a:r>
              <a:rPr lang="en-US" sz="1800" dirty="0"/>
              <a:t> main()</a:t>
            </a:r>
          </a:p>
          <a:p>
            <a:pPr>
              <a:buNone/>
            </a:pPr>
            <a:r>
              <a:rPr lang="en-US" sz="1800" dirty="0"/>
              <a:t>{</a:t>
            </a:r>
          </a:p>
          <a:p>
            <a:pPr>
              <a:buNone/>
            </a:pPr>
            <a:r>
              <a:rPr lang="en-US" sz="1800" dirty="0"/>
              <a:t>powers </a:t>
            </a:r>
            <a:r>
              <a:rPr lang="en-US" sz="1800" dirty="0" err="1"/>
              <a:t>ofTwo</a:t>
            </a:r>
            <a:r>
              <a:rPr lang="en-US" sz="1800" dirty="0"/>
              <a:t>[] = {1, 2, 4, 8, 16}; // initialized</a:t>
            </a:r>
          </a:p>
          <a:p>
            <a:pPr>
              <a:buNone/>
            </a:pPr>
            <a:r>
              <a:rPr lang="en-US" sz="1800" dirty="0"/>
              <a:t>powers </a:t>
            </a:r>
            <a:r>
              <a:rPr lang="en-US" sz="1800" dirty="0" err="1"/>
              <a:t>ofThree</a:t>
            </a:r>
            <a:r>
              <a:rPr lang="en-US" sz="1800" dirty="0"/>
              <a:t>[5]; // uninitialized</a:t>
            </a:r>
          </a:p>
          <a:p>
            <a:pPr>
              <a:buNone/>
            </a:pPr>
            <a:r>
              <a:rPr lang="en-US" sz="1800" dirty="0"/>
              <a:t>powers *p;</a:t>
            </a:r>
          </a:p>
          <a:p>
            <a:pPr>
              <a:buNone/>
            </a:pPr>
            <a:r>
              <a:rPr lang="en-US" sz="1800" dirty="0" err="1"/>
              <a:t>int</a:t>
            </a:r>
            <a:r>
              <a:rPr lang="en-US" sz="1800" dirty="0"/>
              <a:t> </a:t>
            </a:r>
            <a:r>
              <a:rPr lang="en-US" sz="1800" dirty="0" err="1"/>
              <a:t>i</a:t>
            </a:r>
            <a:r>
              <a:rPr lang="en-US" sz="1800" dirty="0"/>
              <a:t>;</a:t>
            </a:r>
          </a:p>
          <a:p>
            <a:pPr>
              <a:buNone/>
            </a:pPr>
            <a:r>
              <a:rPr lang="en-US" sz="1800" dirty="0"/>
              <a:t>// show powers of two</a:t>
            </a:r>
          </a:p>
          <a:p>
            <a:pPr>
              <a:buNone/>
            </a:pPr>
            <a:r>
              <a:rPr lang="en-US" sz="1800" dirty="0" err="1"/>
              <a:t>cout</a:t>
            </a:r>
            <a:r>
              <a:rPr lang="en-US" sz="1800" dirty="0"/>
              <a:t> &lt;&lt; "Powers of two: ";</a:t>
            </a:r>
          </a:p>
          <a:p>
            <a:pPr>
              <a:buNone/>
            </a:pPr>
            <a:r>
              <a:rPr lang="en-US" sz="1800" dirty="0"/>
              <a:t>for(</a:t>
            </a:r>
            <a:r>
              <a:rPr lang="en-US" sz="1800" dirty="0" err="1"/>
              <a:t>i</a:t>
            </a:r>
            <a:r>
              <a:rPr lang="en-US" sz="1800" dirty="0"/>
              <a:t>=0; </a:t>
            </a:r>
            <a:r>
              <a:rPr lang="en-US" sz="1800" dirty="0" err="1"/>
              <a:t>i</a:t>
            </a:r>
            <a:r>
              <a:rPr lang="en-US" sz="1800" dirty="0"/>
              <a:t>&lt;5; </a:t>
            </a:r>
            <a:r>
              <a:rPr lang="en-US" sz="1800" dirty="0" err="1"/>
              <a:t>i</a:t>
            </a:r>
            <a:r>
              <a:rPr lang="en-US" sz="1800" dirty="0"/>
              <a:t>++) {</a:t>
            </a:r>
          </a:p>
          <a:p>
            <a:pPr>
              <a:buNone/>
            </a:pPr>
            <a:r>
              <a:rPr lang="en-US" sz="1800" dirty="0" err="1"/>
              <a:t>cout</a:t>
            </a:r>
            <a:r>
              <a:rPr lang="en-US" sz="1800" dirty="0"/>
              <a:t> &lt;&lt; </a:t>
            </a:r>
            <a:r>
              <a:rPr lang="en-US" sz="1800" dirty="0" err="1"/>
              <a:t>ofTwo</a:t>
            </a:r>
            <a:r>
              <a:rPr lang="en-US" sz="1800" dirty="0"/>
              <a:t>[</a:t>
            </a:r>
            <a:r>
              <a:rPr lang="en-US" sz="1800" dirty="0" err="1"/>
              <a:t>i</a:t>
            </a:r>
            <a:r>
              <a:rPr lang="en-US" sz="1800" dirty="0"/>
              <a:t>].</a:t>
            </a:r>
            <a:r>
              <a:rPr lang="en-US" sz="1800" dirty="0" err="1"/>
              <a:t>getx</a:t>
            </a:r>
            <a:r>
              <a:rPr lang="en-US" sz="1800" dirty="0"/>
              <a:t>() &lt;&lt; " ";</a:t>
            </a:r>
          </a:p>
          <a:p>
            <a:pPr>
              <a:buNone/>
            </a:pPr>
            <a:r>
              <a:rPr lang="en-US" sz="1800" dirty="0" smtClean="0"/>
              <a:t>}</a:t>
            </a:r>
          </a:p>
          <a:p>
            <a:pPr>
              <a:buNone/>
            </a:pPr>
            <a:r>
              <a:rPr lang="en-US" sz="1800" dirty="0" err="1" smtClean="0"/>
              <a:t>cout</a:t>
            </a:r>
            <a:r>
              <a:rPr lang="en-US" sz="1800" dirty="0" smtClean="0"/>
              <a:t> &lt;&lt; "\n\n";</a:t>
            </a:r>
          </a:p>
          <a:p>
            <a:pPr>
              <a:buNone/>
            </a:pPr>
            <a:r>
              <a:rPr lang="en-US" sz="1800" dirty="0" smtClean="0"/>
              <a:t>// set powers of three</a:t>
            </a:r>
          </a:p>
          <a:p>
            <a:pPr>
              <a:buNone/>
            </a:pPr>
            <a:r>
              <a:rPr lang="en-US" sz="1800" dirty="0" err="1" smtClean="0"/>
              <a:t>ofThree</a:t>
            </a:r>
            <a:r>
              <a:rPr lang="en-US" sz="1800" dirty="0" smtClean="0"/>
              <a:t>[0].</a:t>
            </a:r>
            <a:r>
              <a:rPr lang="en-US" sz="1800" dirty="0" err="1" smtClean="0"/>
              <a:t>setx</a:t>
            </a:r>
            <a:r>
              <a:rPr lang="en-US" sz="1800" dirty="0" smtClean="0"/>
              <a:t>(1);</a:t>
            </a:r>
          </a:p>
          <a:p>
            <a:pPr>
              <a:buNone/>
            </a:pPr>
            <a:r>
              <a:rPr lang="en-US" sz="1800" dirty="0" err="1" smtClean="0"/>
              <a:t>ofThree</a:t>
            </a:r>
            <a:r>
              <a:rPr lang="en-US" sz="1800" dirty="0" smtClean="0"/>
              <a:t>[1].</a:t>
            </a:r>
            <a:r>
              <a:rPr lang="en-US" sz="1800" dirty="0" err="1" smtClean="0"/>
              <a:t>setx</a:t>
            </a:r>
            <a:r>
              <a:rPr lang="en-US" sz="1800" dirty="0" smtClean="0"/>
              <a:t>(3);</a:t>
            </a:r>
          </a:p>
          <a:p>
            <a:pPr>
              <a:buNone/>
            </a:pPr>
            <a:r>
              <a:rPr lang="en-US" sz="1800" dirty="0" err="1" smtClean="0"/>
              <a:t>ofThree</a:t>
            </a:r>
            <a:r>
              <a:rPr lang="en-US" sz="1800" dirty="0" smtClean="0"/>
              <a:t>[2].</a:t>
            </a:r>
            <a:r>
              <a:rPr lang="en-US" sz="1800" dirty="0" err="1" smtClean="0"/>
              <a:t>setx</a:t>
            </a:r>
            <a:r>
              <a:rPr lang="en-US" sz="1800" dirty="0" smtClean="0"/>
              <a:t>(9);</a:t>
            </a:r>
          </a:p>
          <a:p>
            <a:pPr>
              <a:buNone/>
            </a:pPr>
            <a:r>
              <a:rPr lang="en-US" sz="1800" dirty="0" err="1" smtClean="0"/>
              <a:t>ofThree</a:t>
            </a:r>
            <a:r>
              <a:rPr lang="en-US" sz="1800" dirty="0" smtClean="0"/>
              <a:t>[3].</a:t>
            </a:r>
            <a:r>
              <a:rPr lang="en-US" sz="1800" dirty="0" err="1" smtClean="0"/>
              <a:t>setx</a:t>
            </a:r>
            <a:r>
              <a:rPr lang="en-US" sz="1800" dirty="0" smtClean="0"/>
              <a:t>(27);</a:t>
            </a:r>
          </a:p>
          <a:p>
            <a:pPr>
              <a:buNone/>
            </a:pPr>
            <a:r>
              <a:rPr lang="en-US" sz="1800" dirty="0" err="1" smtClean="0"/>
              <a:t>ofThree</a:t>
            </a:r>
            <a:r>
              <a:rPr lang="en-US" sz="1800" dirty="0" smtClean="0"/>
              <a:t>[4].</a:t>
            </a:r>
            <a:r>
              <a:rPr lang="en-US" sz="1800" dirty="0" err="1" smtClean="0"/>
              <a:t>setx</a:t>
            </a:r>
            <a:r>
              <a:rPr lang="en-US" sz="1800" dirty="0" smtClean="0"/>
              <a:t>(81);</a:t>
            </a:r>
          </a:p>
          <a:p>
            <a:pPr>
              <a:buNone/>
            </a:pPr>
            <a:endParaRPr lang="en-US" sz="1400" dirty="0"/>
          </a:p>
          <a:p>
            <a:pPr>
              <a:buNone/>
            </a:pPr>
            <a:endParaRPr lang="en-US" sz="1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0" y="0"/>
            <a:ext cx="8229600" cy="6629400"/>
          </a:xfrm>
        </p:spPr>
        <p:txBody>
          <a:bodyPr numCol="2">
            <a:noAutofit/>
          </a:bodyPr>
          <a:lstStyle/>
          <a:p>
            <a:pPr>
              <a:buNone/>
            </a:pPr>
            <a:endParaRPr lang="en-US" sz="1800" dirty="0" smtClean="0"/>
          </a:p>
          <a:p>
            <a:pPr>
              <a:buNone/>
            </a:pPr>
            <a:endParaRPr lang="en-US" sz="1800" dirty="0"/>
          </a:p>
          <a:p>
            <a:pPr>
              <a:buNone/>
            </a:pPr>
            <a:endParaRPr lang="en-US" sz="1800" dirty="0" smtClean="0"/>
          </a:p>
          <a:p>
            <a:pPr>
              <a:buNone/>
            </a:pPr>
            <a:r>
              <a:rPr lang="en-US" sz="1800" b="1" dirty="0" smtClean="0"/>
              <a:t>// show powers of three</a:t>
            </a:r>
          </a:p>
          <a:p>
            <a:pPr>
              <a:buNone/>
            </a:pPr>
            <a:r>
              <a:rPr lang="en-US" sz="1800" dirty="0" err="1" smtClean="0"/>
              <a:t>cout</a:t>
            </a:r>
            <a:r>
              <a:rPr lang="en-US" sz="1800" dirty="0" smtClean="0"/>
              <a:t> &lt;&lt; "Powers of three: ";</a:t>
            </a:r>
          </a:p>
          <a:p>
            <a:pPr>
              <a:buNone/>
            </a:pPr>
            <a:r>
              <a:rPr lang="en-US" sz="1800" dirty="0" smtClean="0"/>
              <a:t>for(</a:t>
            </a:r>
            <a:r>
              <a:rPr lang="en-US" sz="1800" dirty="0" err="1" smtClean="0"/>
              <a:t>i</a:t>
            </a:r>
            <a:r>
              <a:rPr lang="en-US" sz="1800" dirty="0" smtClean="0"/>
              <a:t>=0; </a:t>
            </a:r>
            <a:r>
              <a:rPr lang="en-US" sz="1800" dirty="0" err="1" smtClean="0"/>
              <a:t>i</a:t>
            </a:r>
            <a:r>
              <a:rPr lang="en-US" sz="1800" dirty="0" smtClean="0"/>
              <a:t>&lt;5; </a:t>
            </a:r>
            <a:r>
              <a:rPr lang="en-US" sz="1800" dirty="0" err="1" smtClean="0"/>
              <a:t>i</a:t>
            </a:r>
            <a:r>
              <a:rPr lang="en-US" sz="1800" dirty="0" smtClean="0"/>
              <a:t>++) {</a:t>
            </a:r>
          </a:p>
          <a:p>
            <a:pPr>
              <a:buNone/>
            </a:pPr>
            <a:r>
              <a:rPr lang="en-US" sz="1800" dirty="0" err="1" smtClean="0"/>
              <a:t>cout</a:t>
            </a:r>
            <a:r>
              <a:rPr lang="en-US" sz="1800" dirty="0" smtClean="0"/>
              <a:t> &lt;&lt; </a:t>
            </a:r>
            <a:r>
              <a:rPr lang="en-US" sz="1800" dirty="0" err="1" smtClean="0"/>
              <a:t>ofThree</a:t>
            </a:r>
            <a:r>
              <a:rPr lang="en-US" sz="1800" dirty="0" smtClean="0"/>
              <a:t>[</a:t>
            </a:r>
            <a:r>
              <a:rPr lang="en-US" sz="1800" dirty="0" err="1" smtClean="0"/>
              <a:t>i</a:t>
            </a:r>
            <a:r>
              <a:rPr lang="en-US" sz="1800" dirty="0" smtClean="0"/>
              <a:t>].</a:t>
            </a:r>
            <a:r>
              <a:rPr lang="en-US" sz="1800" dirty="0" err="1" smtClean="0"/>
              <a:t>getx</a:t>
            </a:r>
            <a:r>
              <a:rPr lang="en-US" sz="1800" dirty="0" smtClean="0"/>
              <a:t>() &lt;&lt; " ";</a:t>
            </a:r>
          </a:p>
          <a:p>
            <a:pPr>
              <a:buNone/>
            </a:pPr>
            <a:r>
              <a:rPr lang="en-US" sz="1800" dirty="0" smtClean="0"/>
              <a:t>}</a:t>
            </a:r>
          </a:p>
          <a:p>
            <a:pPr>
              <a:buNone/>
            </a:pPr>
            <a:r>
              <a:rPr lang="en-US" sz="1800" dirty="0" err="1" smtClean="0"/>
              <a:t>cout</a:t>
            </a:r>
            <a:r>
              <a:rPr lang="en-US" sz="1800" dirty="0" smtClean="0"/>
              <a:t> &lt;&lt; "\n\n";</a:t>
            </a:r>
          </a:p>
          <a:p>
            <a:pPr>
              <a:buNone/>
            </a:pPr>
            <a:r>
              <a:rPr lang="en-US" sz="1800" dirty="0" smtClean="0"/>
              <a:t>// dynamically allocate an array</a:t>
            </a:r>
          </a:p>
          <a:p>
            <a:pPr>
              <a:buNone/>
            </a:pPr>
            <a:endParaRPr lang="en-US" sz="1800" dirty="0" smtClean="0"/>
          </a:p>
          <a:p>
            <a:pPr>
              <a:buNone/>
            </a:pPr>
            <a:r>
              <a:rPr lang="en-US" sz="1800" dirty="0" smtClean="0"/>
              <a:t>p = new powers[5]; // no initialization</a:t>
            </a:r>
          </a:p>
          <a:p>
            <a:pPr>
              <a:buNone/>
            </a:pPr>
            <a:r>
              <a:rPr lang="en-US" sz="1800" dirty="0" smtClean="0"/>
              <a:t>} </a:t>
            </a:r>
          </a:p>
          <a:p>
            <a:pPr>
              <a:buNone/>
            </a:pPr>
            <a:endParaRPr lang="en-US" sz="1800" b="1" dirty="0" smtClean="0"/>
          </a:p>
          <a:p>
            <a:pPr>
              <a:buNone/>
            </a:pPr>
            <a:endParaRPr lang="en-US" sz="1800" b="1" dirty="0" smtClean="0"/>
          </a:p>
          <a:p>
            <a:pPr>
              <a:buNone/>
            </a:pPr>
            <a:endParaRPr lang="en-US" sz="1800" b="1" dirty="0" smtClean="0"/>
          </a:p>
          <a:p>
            <a:pPr>
              <a:buNone/>
            </a:pPr>
            <a:endParaRPr lang="en-US" sz="1800" b="1" dirty="0" smtClean="0"/>
          </a:p>
          <a:p>
            <a:pPr>
              <a:buNone/>
            </a:pPr>
            <a:endParaRPr lang="en-US" sz="1800" b="1" dirty="0" smtClean="0"/>
          </a:p>
          <a:p>
            <a:pPr>
              <a:buNone/>
            </a:pPr>
            <a:endParaRPr lang="en-US" sz="1800" b="1" dirty="0" smtClean="0"/>
          </a:p>
          <a:p>
            <a:pPr>
              <a:buNone/>
            </a:pPr>
            <a:endParaRPr lang="en-US" sz="1800" b="1" dirty="0" smtClean="0"/>
          </a:p>
          <a:p>
            <a:pPr>
              <a:buNone/>
            </a:pPr>
            <a:endParaRPr lang="en-US" sz="1800" b="1" dirty="0" smtClean="0"/>
          </a:p>
          <a:p>
            <a:pPr>
              <a:buNone/>
            </a:pPr>
            <a:endParaRPr lang="en-US" sz="1800" b="1" dirty="0" smtClean="0"/>
          </a:p>
          <a:p>
            <a:pPr>
              <a:buNone/>
            </a:pPr>
            <a:endParaRPr lang="en-US" sz="1800" b="1" dirty="0" smtClean="0"/>
          </a:p>
          <a:p>
            <a:pPr>
              <a:buNone/>
            </a:pPr>
            <a:endParaRPr lang="en-US" sz="1800" b="1" dirty="0" smtClean="0"/>
          </a:p>
          <a:p>
            <a:pPr>
              <a:buNone/>
            </a:pPr>
            <a:r>
              <a:rPr lang="en-US" sz="1800" b="1" dirty="0" smtClean="0"/>
              <a:t>// </a:t>
            </a:r>
            <a:r>
              <a:rPr lang="en-US" sz="1800" b="1" dirty="0" smtClean="0"/>
              <a:t>initialize dynamic array with powers of two</a:t>
            </a:r>
          </a:p>
          <a:p>
            <a:pPr>
              <a:buNone/>
            </a:pPr>
            <a:r>
              <a:rPr lang="en-US" sz="1800" dirty="0" smtClean="0"/>
              <a:t>for(</a:t>
            </a:r>
            <a:r>
              <a:rPr lang="en-US" sz="1800" dirty="0" err="1" smtClean="0"/>
              <a:t>i</a:t>
            </a:r>
            <a:r>
              <a:rPr lang="en-US" sz="1800" dirty="0" smtClean="0"/>
              <a:t>=0; </a:t>
            </a:r>
            <a:r>
              <a:rPr lang="en-US" sz="1800" dirty="0" err="1" smtClean="0"/>
              <a:t>i</a:t>
            </a:r>
            <a:r>
              <a:rPr lang="en-US" sz="1800" dirty="0" smtClean="0"/>
              <a:t>&lt;5; </a:t>
            </a:r>
            <a:r>
              <a:rPr lang="en-US" sz="1800" dirty="0" err="1" smtClean="0"/>
              <a:t>i</a:t>
            </a:r>
            <a:r>
              <a:rPr lang="en-US" sz="1800" dirty="0" smtClean="0"/>
              <a:t>++) </a:t>
            </a:r>
            <a:r>
              <a:rPr lang="en-US" sz="1800" dirty="0" smtClean="0"/>
              <a:t>{</a:t>
            </a:r>
            <a:endParaRPr lang="en-US" sz="1800" dirty="0" smtClean="0"/>
          </a:p>
          <a:p>
            <a:pPr>
              <a:buNone/>
            </a:pPr>
            <a:r>
              <a:rPr lang="en-US" sz="1800" dirty="0" smtClean="0"/>
              <a:t>p[</a:t>
            </a:r>
            <a:r>
              <a:rPr lang="en-US" sz="1800" dirty="0" err="1" smtClean="0"/>
              <a:t>i</a:t>
            </a:r>
            <a:r>
              <a:rPr lang="en-US" sz="1800" dirty="0" smtClean="0"/>
              <a:t>].</a:t>
            </a:r>
            <a:r>
              <a:rPr lang="en-US" sz="1800" dirty="0" err="1" smtClean="0"/>
              <a:t>setx</a:t>
            </a:r>
            <a:r>
              <a:rPr lang="en-US" sz="1800" dirty="0" smtClean="0"/>
              <a:t>(</a:t>
            </a:r>
            <a:r>
              <a:rPr lang="en-US" sz="1800" dirty="0" err="1" smtClean="0"/>
              <a:t>ofTwo</a:t>
            </a:r>
            <a:r>
              <a:rPr lang="en-US" sz="1800" dirty="0" smtClean="0"/>
              <a:t>[</a:t>
            </a:r>
            <a:r>
              <a:rPr lang="en-US" sz="1800" dirty="0" err="1" smtClean="0"/>
              <a:t>i</a:t>
            </a:r>
            <a:r>
              <a:rPr lang="en-US" sz="1800" dirty="0" smtClean="0"/>
              <a:t>].</a:t>
            </a:r>
            <a:r>
              <a:rPr lang="en-US" sz="1800" dirty="0" err="1" smtClean="0"/>
              <a:t>getx</a:t>
            </a:r>
            <a:r>
              <a:rPr lang="en-US" sz="1800" dirty="0" smtClean="0"/>
              <a:t>());</a:t>
            </a:r>
          </a:p>
          <a:p>
            <a:pPr>
              <a:buNone/>
            </a:pPr>
            <a:r>
              <a:rPr lang="en-US" sz="1800" dirty="0"/>
              <a:t>}</a:t>
            </a:r>
          </a:p>
          <a:p>
            <a:pPr>
              <a:buNone/>
            </a:pPr>
            <a:r>
              <a:rPr lang="en-US" sz="1800" dirty="0"/>
              <a:t>// show powers of two</a:t>
            </a:r>
          </a:p>
          <a:p>
            <a:pPr>
              <a:buNone/>
            </a:pPr>
            <a:r>
              <a:rPr lang="en-US" sz="1800" dirty="0" err="1"/>
              <a:t>cout</a:t>
            </a:r>
            <a:r>
              <a:rPr lang="en-US" sz="1800" dirty="0"/>
              <a:t> &lt;&lt; "Powers of two: </a:t>
            </a:r>
            <a:r>
              <a:rPr lang="en-US" sz="1800" dirty="0" smtClean="0"/>
              <a:t>";</a:t>
            </a:r>
            <a:endParaRPr lang="en-US" sz="1800" dirty="0" smtClean="0"/>
          </a:p>
          <a:p>
            <a:pPr>
              <a:buNone/>
            </a:pPr>
            <a:r>
              <a:rPr lang="en-US" sz="1800" dirty="0" smtClean="0"/>
              <a:t>for(</a:t>
            </a:r>
            <a:r>
              <a:rPr lang="en-US" sz="1800" dirty="0" err="1" smtClean="0"/>
              <a:t>i</a:t>
            </a:r>
            <a:r>
              <a:rPr lang="en-US" sz="1800" dirty="0" smtClean="0"/>
              <a:t>=0</a:t>
            </a:r>
            <a:r>
              <a:rPr lang="en-US" sz="1800" dirty="0"/>
              <a:t>; </a:t>
            </a:r>
            <a:r>
              <a:rPr lang="en-US" sz="1800" dirty="0" err="1"/>
              <a:t>i</a:t>
            </a:r>
            <a:r>
              <a:rPr lang="en-US" sz="1800" dirty="0"/>
              <a:t>&lt;5; </a:t>
            </a:r>
            <a:r>
              <a:rPr lang="en-US" sz="1800" dirty="0" err="1"/>
              <a:t>i</a:t>
            </a:r>
            <a:r>
              <a:rPr lang="en-US" sz="1800" dirty="0"/>
              <a:t>++) {</a:t>
            </a:r>
          </a:p>
          <a:p>
            <a:pPr>
              <a:buNone/>
            </a:pPr>
            <a:r>
              <a:rPr lang="en-US" sz="1800" dirty="0" err="1"/>
              <a:t>cout</a:t>
            </a:r>
            <a:r>
              <a:rPr lang="en-US" sz="1800" dirty="0"/>
              <a:t> &lt;&lt; p[</a:t>
            </a:r>
            <a:r>
              <a:rPr lang="en-US" sz="1800" dirty="0" err="1"/>
              <a:t>i</a:t>
            </a:r>
            <a:r>
              <a:rPr lang="en-US" sz="1800" dirty="0"/>
              <a:t>].</a:t>
            </a:r>
            <a:r>
              <a:rPr lang="en-US" sz="1800" dirty="0" err="1"/>
              <a:t>getx</a:t>
            </a:r>
            <a:r>
              <a:rPr lang="en-US" sz="1800" dirty="0"/>
              <a:t>() &lt;&lt; " ";</a:t>
            </a:r>
          </a:p>
          <a:p>
            <a:pPr>
              <a:buNone/>
            </a:pPr>
            <a:r>
              <a:rPr lang="en-US" sz="1800" dirty="0"/>
              <a:t>}</a:t>
            </a:r>
          </a:p>
          <a:p>
            <a:pPr>
              <a:buNone/>
            </a:pPr>
            <a:r>
              <a:rPr lang="en-US" sz="1800" dirty="0" err="1"/>
              <a:t>cout</a:t>
            </a:r>
            <a:r>
              <a:rPr lang="en-US" sz="1800" dirty="0"/>
              <a:t> &lt;&lt; "\n\n";</a:t>
            </a:r>
          </a:p>
          <a:p>
            <a:pPr>
              <a:buNone/>
            </a:pPr>
            <a:r>
              <a:rPr lang="en-US" sz="1800" dirty="0"/>
              <a:t>delete [] p;</a:t>
            </a:r>
          </a:p>
          <a:p>
            <a:pPr>
              <a:buNone/>
            </a:pPr>
            <a:r>
              <a:rPr lang="en-US" sz="1800" dirty="0"/>
              <a:t>return 0;</a:t>
            </a:r>
          </a:p>
          <a:p>
            <a:pPr>
              <a:buNone/>
            </a:pPr>
            <a:r>
              <a:rPr lang="en-US" sz="1800" dirty="0" smtClean="0"/>
              <a:t>}</a:t>
            </a:r>
          </a:p>
          <a:p>
            <a:pPr>
              <a:buNone/>
            </a:pPr>
            <a:endParaRPr lang="en-US" sz="1800" dirty="0"/>
          </a:p>
          <a:p>
            <a:pPr>
              <a:buNone/>
            </a:pPr>
            <a:endParaRPr lang="en-US" sz="1800" dirty="0"/>
          </a:p>
        </p:txBody>
      </p:sp>
      <p:sp>
        <p:nvSpPr>
          <p:cNvPr id="4" name="Rectangle 3"/>
          <p:cNvSpPr/>
          <p:nvPr/>
        </p:nvSpPr>
        <p:spPr>
          <a:xfrm>
            <a:off x="5257800" y="5029200"/>
            <a:ext cx="32004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Output:</a:t>
            </a:r>
          </a:p>
          <a:p>
            <a:pPr algn="ctr"/>
            <a:r>
              <a:rPr lang="en-US" b="1" dirty="0" smtClean="0">
                <a:solidFill>
                  <a:schemeClr val="tx1"/>
                </a:solidFill>
              </a:rPr>
              <a:t>Powers of two: 1 2 4 8 16 </a:t>
            </a:r>
          </a:p>
          <a:p>
            <a:pPr algn="ctr"/>
            <a:r>
              <a:rPr lang="en-US" b="1" dirty="0" smtClean="0">
                <a:solidFill>
                  <a:schemeClr val="tx1"/>
                </a:solidFill>
              </a:rPr>
              <a:t>Powers of three: 1 3 9 27 81</a:t>
            </a:r>
          </a:p>
          <a:p>
            <a:pPr algn="ctr"/>
            <a:r>
              <a:rPr lang="en-US" b="1" dirty="0" smtClean="0">
                <a:solidFill>
                  <a:schemeClr val="tx1"/>
                </a:solidFill>
              </a:rPr>
              <a:t>Powers of two: 1 2 4 8 16</a:t>
            </a:r>
            <a:endParaRPr lang="en-US" b="1" dirty="0">
              <a:solidFill>
                <a:schemeClr val="tx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TotalTime>
  <Words>1181</Words>
  <Application>Microsoft Office PowerPoint</Application>
  <PresentationFormat>On-screen Show (4:3)</PresentationFormat>
  <Paragraphs>194</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Polymorphism</vt:lpstr>
      <vt:lpstr>Polymorphism</vt:lpstr>
      <vt:lpstr>Types of Poymorphism</vt:lpstr>
      <vt:lpstr>Compile Time Polymorphism</vt:lpstr>
      <vt:lpstr>Run Time Polymorphism</vt:lpstr>
      <vt:lpstr>Run Time Polymorphism</vt:lpstr>
      <vt:lpstr>Function Overloading</vt:lpstr>
      <vt:lpstr>Example</vt:lpstr>
      <vt:lpstr>Slide 9</vt:lpstr>
      <vt:lpstr>Example 2</vt:lpstr>
      <vt:lpstr>Slide 11</vt:lpstr>
      <vt:lpstr>Key Points</vt:lpstr>
      <vt:lpstr>Overloading Constructors</vt:lpstr>
      <vt:lpstr>Example</vt:lpstr>
      <vt:lpstr>Slide 15</vt:lpstr>
      <vt:lpstr>Allowing Both Initialized and Uninitialized Objects</vt:lpstr>
      <vt:lpstr>Example</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Polymorphism</dc:title>
  <dc:creator>raman</dc:creator>
  <cp:lastModifiedBy>raman</cp:lastModifiedBy>
  <cp:revision>11</cp:revision>
  <dcterms:created xsi:type="dcterms:W3CDTF">2018-02-12T03:21:47Z</dcterms:created>
  <dcterms:modified xsi:type="dcterms:W3CDTF">2018-02-18T16:32:23Z</dcterms:modified>
</cp:coreProperties>
</file>