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00" r:id="rId2"/>
    <p:sldId id="257" r:id="rId3"/>
    <p:sldId id="302" r:id="rId4"/>
    <p:sldId id="306" r:id="rId5"/>
    <p:sldId id="304" r:id="rId6"/>
    <p:sldId id="307" r:id="rId7"/>
    <p:sldId id="305" r:id="rId8"/>
    <p:sldId id="312" r:id="rId9"/>
    <p:sldId id="313" r:id="rId10"/>
    <p:sldId id="308" r:id="rId11"/>
    <p:sldId id="309" r:id="rId12"/>
    <p:sldId id="310" r:id="rId13"/>
    <p:sldId id="29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413" autoAdjust="0"/>
    <p:restoredTop sz="94660"/>
  </p:normalViewPr>
  <p:slideViewPr>
    <p:cSldViewPr>
      <p:cViewPr>
        <p:scale>
          <a:sx n="76" d="100"/>
          <a:sy n="76" d="100"/>
        </p:scale>
        <p:origin x="-120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A739D4-B077-404A-8ADD-AF5FAA982EBB}" type="datetimeFigureOut">
              <a:rPr lang="en-US" smtClean="0"/>
              <a:pPr/>
              <a:t>2/14/2018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229F2-7453-4016-BBF3-7505EAF015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44379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2/14/2018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2/14/2018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2/14/2018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2/14/2018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2/14/2018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2/14/2018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1014C-FFA6-488A-91CD-B4D91971395F}" type="datetimeFigureOut">
              <a:rPr lang="en-US" smtClean="0"/>
              <a:pPr/>
              <a:t>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2362200"/>
          </a:xfrm>
          <a:ln w="25400"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Lecture 15-17</a:t>
            </a:r>
            <a:r>
              <a:rPr lang="en-US" sz="54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5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 smtClean="0">
                <a:latin typeface="Times New Roman" pitchFamily="18" charset="0"/>
                <a:cs typeface="Times New Roman" pitchFamily="18" charset="0"/>
              </a:rPr>
              <a:t>Constructors and Destructors</a:t>
            </a:r>
            <a:endParaRPr lang="en-US" sz="5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Contents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Constructor Overloading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Dynamic Initialization of objects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Dynamic Constructors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Destructor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Constructor Overloading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Constructor can be overloaded in similar way as function overloading.</a:t>
            </a:r>
          </a:p>
          <a:p>
            <a:pPr marL="0" indent="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Overloaded constructors have the same name (name of the class) but different number (or types or both) of arguments.</a:t>
            </a:r>
          </a:p>
          <a:p>
            <a:pPr marL="0" indent="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Depending upon the number and type of arguments passed, specific constructor is called.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3210387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99" y="76200"/>
            <a:ext cx="8305800" cy="6858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Arial" pitchFamily="34" charset="0"/>
                <a:cs typeface="Arial" pitchFamily="34" charset="0"/>
              </a:rPr>
              <a:t>Example of Constructor Overloading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686800" cy="59062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using namespace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private:</a:t>
            </a:r>
          </a:p>
          <a:p>
            <a:pPr marL="0" indent="0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a,b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16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example();     </a:t>
            </a:r>
            <a:r>
              <a:rPr lang="en-US" sz="16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//Default Constructor</a:t>
            </a:r>
            <a:endParaRPr lang="en-US" sz="16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example(</a:t>
            </a:r>
            <a:r>
              <a:rPr lang="en-US" sz="1600" b="1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b="1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);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//Parameterized Constructor</a:t>
            </a:r>
          </a:p>
          <a:p>
            <a:pPr marL="0" indent="0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16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example(example &amp;); </a:t>
            </a:r>
            <a:r>
              <a:rPr lang="en-US" sz="16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//Copy Constructor</a:t>
            </a:r>
          </a:p>
          <a:p>
            <a:pPr marL="0" indent="0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display();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pPr marL="0" indent="0"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xample::example()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{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&lt;&lt;“Constructor is called”;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}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400" dirty="0" smtClean="0"/>
              <a:t>     </a:t>
            </a:r>
            <a:endParaRPr lang="en-US" sz="2400" dirty="0"/>
          </a:p>
          <a:p>
            <a:pPr algn="just">
              <a:buFont typeface="Wingdings" pitchFamily="2" charset="2"/>
              <a:buChar char="§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lvl="1" indent="-342900" algn="just">
              <a:buFont typeface="Wingdings" pitchFamily="2" charset="2"/>
              <a:buChar char="§"/>
            </a:pPr>
            <a:endParaRPr lang="en-US" dirty="0"/>
          </a:p>
          <a:p>
            <a:pPr algn="just">
              <a:buFont typeface="Wingdings" pitchFamily="2" charset="2"/>
              <a:buChar char="§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-36534" y="762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081392" y="914400"/>
            <a:ext cx="3810000" cy="594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::example(</a:t>
            </a:r>
            <a:r>
              <a:rPr lang="en-US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x, </a:t>
            </a:r>
            <a:r>
              <a:rPr lang="en-US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y)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a=x;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b=y</a:t>
            </a: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en-IN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16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example::example(example &amp;p)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endParaRPr lang="en-US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a=</a:t>
            </a:r>
            <a:r>
              <a:rPr lang="en-US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p.a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b=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p.b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IN" sz="16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void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example::display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{</a:t>
            </a:r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IN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&lt;&lt;a&lt;&lt;</a:t>
            </a:r>
            <a:r>
              <a:rPr lang="en-IN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&lt;&lt;b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}</a:t>
            </a:r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main()</a:t>
            </a:r>
          </a:p>
          <a:p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IN" sz="16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 e1;</a:t>
            </a:r>
            <a:endParaRPr lang="en-IN" sz="16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IN" sz="16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 e2(4, 5);    </a:t>
            </a:r>
            <a:endParaRPr lang="en-IN" sz="16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IN" sz="16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 e3(e2);   </a:t>
            </a:r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e3.display();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return 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0;</a:t>
            </a:r>
          </a:p>
          <a:p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IN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4953000" y="763588"/>
            <a:ext cx="0" cy="6094412"/>
          </a:xfrm>
          <a:prstGeom prst="line">
            <a:avLst/>
          </a:prstGeom>
          <a:ln w="222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5296939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Dynamic Initialization of Objects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Class objects can be initialized dynamically also i.e. the initial value of an object can be provided during run time.</a:t>
            </a:r>
          </a:p>
          <a:p>
            <a:pPr marL="0" indent="0" algn="just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Advantage:</a:t>
            </a:r>
          </a:p>
          <a:p>
            <a:pPr marL="442913" algn="just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Various initialization formats can be provided using overloaded constructors.</a:t>
            </a:r>
          </a:p>
          <a:p>
            <a:pPr marL="442913" algn="just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Provides the flexibility of using different format of data at run time depending upon the situation.</a:t>
            </a:r>
          </a:p>
          <a:p>
            <a:pPr marL="100013" indent="0" algn="just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91140720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305800" cy="71596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Example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3581400" cy="5410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/*Program to find factorial of a number using constructor*/</a:t>
            </a:r>
          </a:p>
          <a:p>
            <a:pPr marL="0" indent="0" algn="just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#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include&lt;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namespace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factorial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 algn="just">
              <a:buNone/>
            </a:pP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n;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factorial(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display();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pPr marL="0" indent="0" algn="just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factorial::factorial(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number)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n=number;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762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962400" y="763588"/>
            <a:ext cx="0" cy="60944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0" y="877888"/>
            <a:ext cx="4876800" cy="58658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7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factorial::display()</a:t>
            </a:r>
          </a:p>
          <a:p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IN" sz="17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fact=1;</a:t>
            </a:r>
          </a:p>
          <a:p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if(n==0)</a:t>
            </a:r>
          </a:p>
          <a:p>
            <a:r>
              <a:rPr lang="en-IN" sz="17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&lt;&lt;"\n factorial=1";</a:t>
            </a:r>
          </a:p>
          <a:p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else</a:t>
            </a:r>
          </a:p>
          <a:p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for(</a:t>
            </a:r>
            <a:r>
              <a:rPr lang="en-IN" sz="17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i=1; i&lt;=n; i++)</a:t>
            </a:r>
          </a:p>
          <a:p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fact=fact *i;</a:t>
            </a:r>
          </a:p>
          <a:p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IN" sz="17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&lt;&lt;"\n factorial="&lt;&lt;fact;</a:t>
            </a:r>
          </a:p>
          <a:p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IN" sz="17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7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17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IN" sz="17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x;</a:t>
            </a:r>
          </a:p>
          <a:p>
            <a:r>
              <a:rPr lang="en-IN" sz="17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&lt;&lt;"\n enter the number to find its factorial";</a:t>
            </a:r>
          </a:p>
          <a:p>
            <a:r>
              <a:rPr lang="en-IN" sz="17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&gt;&gt;x;</a:t>
            </a:r>
          </a:p>
          <a:p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factorial </a:t>
            </a:r>
            <a:r>
              <a:rPr lang="en-IN" sz="17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(x</a:t>
            </a:r>
            <a:r>
              <a:rPr lang="en-IN" sz="17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);    </a:t>
            </a:r>
            <a:r>
              <a:rPr lang="en-IN" sz="17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//dynamic initialization of object</a:t>
            </a:r>
            <a:endParaRPr lang="en-IN" sz="17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7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obj.display</a:t>
            </a:r>
            <a:r>
              <a:rPr lang="en-IN" sz="17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();</a:t>
            </a:r>
            <a:endParaRPr lang="en-IN" sz="17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7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0;</a:t>
            </a:r>
          </a:p>
          <a:p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xmlns="" val="348107153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Dynamic Constructor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constructor can also be used to allocate memory while creating objects.</a:t>
            </a:r>
          </a:p>
          <a:p>
            <a:pPr marL="0" indent="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This enables 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system to allocate the right amount of memory for each object when the objects are not of the same size.</a:t>
            </a:r>
          </a:p>
          <a:p>
            <a:pPr marL="0" indent="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Allocation of memory to objects at time of their construction is known as dynamic construction of objects.</a:t>
            </a:r>
          </a:p>
          <a:p>
            <a:pPr algn="just">
              <a:buFont typeface="Wingdings" pitchFamily="2" charset="2"/>
              <a:buChar char="§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memory is allocated with the help of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new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operator.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91140720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305800" cy="71596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Example 1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3886200" cy="5943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namespace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test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ptr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   public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 test();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 test(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display();</a:t>
            </a:r>
          </a:p>
          <a:p>
            <a:pPr marL="0" indent="0" algn="just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};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test::test()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ptr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=new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*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ptr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=100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test::test(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t)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ptr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=new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*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ptr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=t;</a:t>
            </a:r>
          </a:p>
          <a:p>
            <a:pPr marL="0" indent="0" algn="just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762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4114800" y="763588"/>
            <a:ext cx="0" cy="6246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0" y="877888"/>
            <a:ext cx="4876800" cy="3922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test::display()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&lt;&lt;"The value of object's pointer is:"&lt;&lt;*</a:t>
            </a:r>
            <a:r>
              <a:rPr lang="en-IN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ptr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&lt;&lt;</a:t>
            </a:r>
            <a:r>
              <a:rPr lang="en-IN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test </a:t>
            </a:r>
            <a:r>
              <a:rPr lang="en-IN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test obj1(40);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IN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obj.display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obj1.display();</a:t>
            </a:r>
          </a:p>
          <a:p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IN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0;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 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4876800"/>
            <a:ext cx="4495800" cy="1371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 smtClean="0">
                <a:solidFill>
                  <a:schemeClr val="tx1"/>
                </a:solidFill>
              </a:rPr>
              <a:t>OUTPUT:</a:t>
            </a:r>
          </a:p>
          <a:p>
            <a:r>
              <a:rPr lang="en-I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value of object's pointer </a:t>
            </a:r>
            <a:r>
              <a:rPr lang="en-I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is:100</a:t>
            </a:r>
          </a:p>
          <a:p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value of object's pointer </a:t>
            </a:r>
            <a:r>
              <a:rPr lang="en-I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is:40</a:t>
            </a:r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019092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762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Example 2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57200"/>
            <a:ext cx="3886200" cy="6400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55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US" sz="1550" b="1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155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en-US" sz="1550" b="1" dirty="0" smtClean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sz="1550" b="1" dirty="0">
                <a:latin typeface="Times New Roman" pitchFamily="18" charset="0"/>
                <a:cs typeface="Times New Roman" pitchFamily="18" charset="0"/>
              </a:rPr>
              <a:t>namespace </a:t>
            </a:r>
            <a:r>
              <a:rPr lang="en-US" sz="1550" b="1" dirty="0" err="1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sz="1550" b="1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155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{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char 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*name;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length; 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example();</a:t>
            </a:r>
          </a:p>
          <a:p>
            <a:pPr marL="0" indent="0" algn="just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example(char *);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void display();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};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xample::example()</a:t>
            </a:r>
          </a:p>
          <a:p>
            <a:pPr marL="0" indent="0" algn="just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 algn="just">
              <a:buNone/>
            </a:pP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    length 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= 0;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name 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= new char[length+1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];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example::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example(char *e)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 algn="just">
              <a:buNone/>
            </a:pP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 length 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IN" sz="1600" dirty="0" err="1" smtClean="0">
                <a:latin typeface="Times New Roman" pitchFamily="18" charset="0"/>
                <a:cs typeface="Times New Roman" pitchFamily="18" charset="0"/>
              </a:rPr>
              <a:t>strlen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(e);</a:t>
            </a:r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name = new char[ length+1];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dirty="0" err="1" smtClean="0">
                <a:latin typeface="Times New Roman" pitchFamily="18" charset="0"/>
                <a:cs typeface="Times New Roman" pitchFamily="18" charset="0"/>
              </a:rPr>
              <a:t>strcpy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IN" sz="1600" dirty="0" err="1" smtClean="0">
                <a:latin typeface="Times New Roman" pitchFamily="18" charset="0"/>
                <a:cs typeface="Times New Roman" pitchFamily="18" charset="0"/>
              </a:rPr>
              <a:t>name,e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pPr marL="0" indent="0" algn="just">
              <a:buNone/>
            </a:pP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IN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457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4114800" y="457200"/>
            <a:ext cx="0" cy="6553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0" y="457200"/>
            <a:ext cx="4876800" cy="3124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void  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example::display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&lt;&lt;name&lt;&lt;</a:t>
            </a:r>
            <a:r>
              <a:rPr lang="en-IN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char  *a= “Welcome to";</a:t>
            </a:r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  e1(a), e2(“C++"), e3(“World");</a:t>
            </a:r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e1.display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e2.display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e3.display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();    </a:t>
            </a:r>
            <a:endParaRPr lang="en-IN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return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0;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 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3886200"/>
            <a:ext cx="4495800" cy="1600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 smtClean="0">
                <a:solidFill>
                  <a:schemeClr val="tx1"/>
                </a:solidFill>
              </a:rPr>
              <a:t>OUTPUT:</a:t>
            </a:r>
          </a:p>
          <a:p>
            <a:r>
              <a:rPr lang="en-I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Welcome to</a:t>
            </a:r>
          </a:p>
          <a:p>
            <a:r>
              <a:rPr lang="en-I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C++</a:t>
            </a:r>
          </a:p>
          <a:p>
            <a:r>
              <a:rPr lang="en-I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World</a:t>
            </a:r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5549788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Introduction </a:t>
            </a:r>
            <a:r>
              <a:rPr lang="en-US" sz="3600" b="1" smtClean="0">
                <a:latin typeface="Arial" pitchFamily="34" charset="0"/>
                <a:cs typeface="Arial" pitchFamily="34" charset="0"/>
              </a:rPr>
              <a:t>to Destructors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4495800" cy="51816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A destructor is a special member function of class which is used to destroy the objects that have been created by a constructor.</a:t>
            </a:r>
          </a:p>
          <a:p>
            <a:pPr marL="0" indent="0" algn="just">
              <a:buNone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The destructor is called automatically by the compiler when the object goes out of scope.</a:t>
            </a:r>
          </a:p>
          <a:p>
            <a:pPr marL="0" indent="0" algn="just">
              <a:buNone/>
            </a:pPr>
            <a:endParaRPr lang="en-US" sz="21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Like a constructor, the destructor is a member function whose name is the same as class name but is preceded by a tilde ~ sign.</a:t>
            </a:r>
          </a:p>
          <a:p>
            <a:pPr algn="just">
              <a:buFont typeface="Wingdings" pitchFamily="2" charset="2"/>
              <a:buChar char="§"/>
            </a:pPr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0" y="2781300"/>
            <a:ext cx="3505200" cy="1866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public: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~A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();    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//Destructor </a:t>
            </a:r>
            <a:r>
              <a:rPr lang="en-US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declaration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};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3365261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Introduction to Destructors (Cont..)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9530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Destructor never takes any argument.</a:t>
            </a:r>
          </a:p>
          <a:p>
            <a:pPr marL="0" indent="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Destructors does not return any value.</a:t>
            </a:r>
          </a:p>
          <a:p>
            <a:pPr marL="0" indent="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Destructor cannot be overloaded.</a:t>
            </a:r>
          </a:p>
          <a:p>
            <a:pPr marL="0" indent="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Whenever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new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used to allocate memory in the constructors,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delete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should be used to free that memory.</a:t>
            </a:r>
          </a:p>
          <a:p>
            <a:pPr algn="just">
              <a:buFont typeface="Wingdings" pitchFamily="2" charset="2"/>
              <a:buChar char="§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i="1" dirty="0" smtClean="0">
                <a:latin typeface="Times New Roman" pitchFamily="18" charset="0"/>
                <a:cs typeface="Times New Roman" pitchFamily="18" charset="0"/>
              </a:rPr>
              <a:t>Note: Objects are destroyed in reverse order of their creation.</a:t>
            </a:r>
            <a:endParaRPr lang="en-US" sz="1800" b="1" i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20506173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152400"/>
            <a:ext cx="8305800" cy="639762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Example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638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#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include&lt;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 algn="just"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namespace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 algn="just"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ABC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a;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 ABC(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);  </a:t>
            </a:r>
            <a:r>
              <a:rPr lang="en-US" sz="16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//Constructor</a:t>
            </a:r>
            <a:endParaRPr lang="en-US" sz="16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display();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 ~ABC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();   </a:t>
            </a:r>
            <a:r>
              <a:rPr lang="en-US" sz="16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//Destructor</a:t>
            </a:r>
            <a:endParaRPr lang="en-US" sz="16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};   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ABC::ABC(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   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a=x;</a:t>
            </a:r>
          </a:p>
          <a:p>
            <a:pPr marL="0" indent="0" algn="just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ABC::display()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&lt;&lt;"a="&lt;&lt;a;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algn="just">
              <a:buFont typeface="Wingdings" pitchFamily="2" charset="2"/>
              <a:buChar char="§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7620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4419600" y="763588"/>
            <a:ext cx="0" cy="60944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49036" y="914400"/>
            <a:ext cx="4419600" cy="3429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ABC::~ABC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       </a:t>
            </a:r>
            <a:r>
              <a:rPr lang="en-IN" sz="16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//Definition of Destructor</a:t>
            </a:r>
            <a:endParaRPr lang="en-IN" sz="16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IN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&lt;&lt;"\</a:t>
            </a:r>
            <a:r>
              <a:rPr lang="en-IN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nObject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 destroyed";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ABC obj1(10);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obj1.display();</a:t>
            </a:r>
          </a:p>
          <a:p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return 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0;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48200" y="4495800"/>
            <a:ext cx="3886200" cy="114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 smtClean="0">
                <a:solidFill>
                  <a:schemeClr val="tx1"/>
                </a:solidFill>
              </a:rPr>
              <a:t>OUTPUT: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a=10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Object is destroyed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6400800" y="3810794"/>
            <a:ext cx="990600" cy="1256506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239000" y="2819400"/>
            <a:ext cx="1752600" cy="106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 smtClean="0">
                <a:solidFill>
                  <a:schemeClr val="tx1"/>
                </a:solidFill>
              </a:rPr>
              <a:t>Destructor is automatically called by the compiler once the object goes out of scope. </a:t>
            </a:r>
            <a:endParaRPr lang="en-IN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0584158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2975</TotalTime>
  <Words>984</Words>
  <Application>Microsoft Office PowerPoint</Application>
  <PresentationFormat>On-screen Show (4:3)</PresentationFormat>
  <Paragraphs>269</Paragraphs>
  <Slides>13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Lecture 15-17 Constructors and Destructors</vt:lpstr>
      <vt:lpstr>Contents</vt:lpstr>
      <vt:lpstr>Constructor Overloading</vt:lpstr>
      <vt:lpstr>Example of Constructor Overloading</vt:lpstr>
      <vt:lpstr>Dynamic Initialization of Objects</vt:lpstr>
      <vt:lpstr>Example</vt:lpstr>
      <vt:lpstr>Dynamic Constructor</vt:lpstr>
      <vt:lpstr>Example 1</vt:lpstr>
      <vt:lpstr>Example 2</vt:lpstr>
      <vt:lpstr>Introduction to Destructors</vt:lpstr>
      <vt:lpstr>Introduction to Destructors (Cont..)</vt:lpstr>
      <vt:lpstr>Example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com</dc:creator>
  <cp:lastModifiedBy>raman</cp:lastModifiedBy>
  <cp:revision>347</cp:revision>
  <dcterms:created xsi:type="dcterms:W3CDTF">2015-08-02T14:02:11Z</dcterms:created>
  <dcterms:modified xsi:type="dcterms:W3CDTF">2018-02-14T14:44:53Z</dcterms:modified>
</cp:coreProperties>
</file>