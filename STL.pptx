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71" r:id="rId8"/>
    <p:sldId id="266" r:id="rId9"/>
    <p:sldId id="263" r:id="rId10"/>
    <p:sldId id="268" r:id="rId11"/>
    <p:sldId id="269" r:id="rId12"/>
    <p:sldId id="270" r:id="rId13"/>
    <p:sldId id="273" r:id="rId14"/>
    <p:sldId id="2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-636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D0792A-F2AD-95F5-E330-5DDA7ABC8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4CCA92D-7FBA-EE8C-016E-46A47F0B45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1671E43-EFE1-4AA7-7EA1-29D80275C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82DBB-C3C7-421E-B5E2-DCAA7CAD5F0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E3EB62C-A5F3-A1F9-B609-ABDE04D33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E6C7765-BF97-3B5C-11D4-F5FEEB494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ED438-FAE0-4C18-8CE3-6B961DA98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341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1766A4-7E30-89A4-B458-00F6A9DDE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642F142-BFE5-BEED-FB7F-12EDDE8D1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6451D14-F06B-978F-015E-DAD50CD43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82DBB-C3C7-421E-B5E2-DCAA7CAD5F0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6674FF7-E70B-58FB-2105-69E241EA8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6F49420-D177-6501-4035-CAB61C4D2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ED438-FAE0-4C18-8CE3-6B961DA98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617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707860-088C-F38D-F9EA-FDD2CBE6C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49275BF-F689-1511-9CE7-2EF5797B1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805A90F-D91B-DC50-56D8-B5F8A27BB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82DBB-C3C7-421E-B5E2-DCAA7CAD5F0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0FC9943-8A14-C61F-0828-4E79ED9C3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14BD48E-4133-87B0-BBD1-6D721C45E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ED438-FAE0-4C18-8CE3-6B961DA98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967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C3AC10-952E-94D8-D3D6-6D738D2E5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D963867-2773-78EF-DE6D-AFF7E1A93E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EB53D5C-3C88-36F0-BF4C-AE08ED3DE5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F2F0AA9-9D61-FD02-F255-3BE24248D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82DBB-C3C7-421E-B5E2-DCAA7CAD5F0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1AD2F9A-3AFA-FE4E-1ACF-15D475CA8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4760ACF-6F55-C971-030C-FC42080FC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ED438-FAE0-4C18-8CE3-6B961DA98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018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5A9037-D0F4-9E38-11BE-E0998C680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E936D97-F3F0-2F35-87AF-6D6E3692F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3E06F95-83CB-1B5B-1C00-F6370B236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61BA649-AC79-F5A5-13F4-0117B769B6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2A099818-A88B-EEFC-1891-CB9CD29E17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8DD6D700-C55A-C679-5BC6-0A663742F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82DBB-C3C7-421E-B5E2-DCAA7CAD5F0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58DED761-F90E-D089-0ABA-0BE8A592B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41CE6E0-E24A-C999-F4EB-F9CB9E79A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ED438-FAE0-4C18-8CE3-6B961DA98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206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F1CFB7-3DC7-46CD-FE64-4098637CF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3B2A9D2-C446-E58F-82D0-94F6BD74E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82DBB-C3C7-421E-B5E2-DCAA7CAD5F0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07041A74-7BDB-FAD8-2AA5-C0293411C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872719F-EB67-B2C1-B373-E898F8C2B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ED438-FAE0-4C18-8CE3-6B961DA98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397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077985FB-14D5-B23E-8A30-BFDB2732F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82DBB-C3C7-421E-B5E2-DCAA7CAD5F0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5ECF6831-8B23-A47D-E394-A7D02FCBE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623A270-52C2-C00E-DEAA-47F1714D4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ED438-FAE0-4C18-8CE3-6B961DA98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847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303D7A-90A7-503E-F922-93B3D5E32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C59E01C-642C-1CA0-4645-79DAC2CB5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2E2784D-4E9C-397C-AEA5-BAE4DF7275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0795CB9-37AB-A8FA-62FA-64E118351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82DBB-C3C7-421E-B5E2-DCAA7CAD5F0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D226F01-AD84-2D75-7106-53BEF7746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84FA094-6FF1-A0B5-7FC0-035D448DC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ED438-FAE0-4C18-8CE3-6B961DA98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30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3778C4-71E8-4A58-38C0-E2C2C94B3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29B0CAA-5D82-F48E-2755-AE7481F5F0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6EDFDBF-6C48-DC72-B2F8-0E697C1D8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2C295FF-AB2C-4B7A-2792-A3E2F2AA3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82DBB-C3C7-421E-B5E2-DCAA7CAD5F0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6C03722-87D8-22E3-D294-667C515A1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8DCC672-344C-1000-630A-90A55EBC5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ED438-FAE0-4C18-8CE3-6B961DA98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774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BE87848-A490-98C5-EFC4-9F2D71D9A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8853B6B-9995-7D75-0B37-57648EEB2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4F960C7-A6F3-E5D6-0D75-3E48B8EBE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82DBB-C3C7-421E-B5E2-DCAA7CAD5F0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EC6EE0E-CED4-AA38-99DC-585132D98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BED0F65-BA85-C0C3-6D8D-18BC12567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ED438-FAE0-4C18-8CE3-6B961DA98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348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3A4F4E1C-6D77-4574-C31E-6F8D06AE1C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728B905-C64E-92E8-EE82-F948313691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F272A0D-E9C4-04EB-4A03-D46600FB1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82DBB-C3C7-421E-B5E2-DCAA7CAD5F0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E9FB46E-8098-12F5-ABAE-0EA02CE6B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B4A78F3-12D3-E818-C6A6-56BC259F5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ED438-FAE0-4C18-8CE3-6B961DA98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399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4AE2D36-7BA5-A925-8A89-FB6747C69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183CEF1-5AB9-7862-C456-B0F0FE690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E6CB9F8-11F6-9A97-532A-C6B27276BA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82DBB-C3C7-421E-B5E2-DCAA7CAD5F0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446290E-0DDF-FEBF-2887-96538A31AC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3E1DEB7-06EA-FA4D-F1C0-386F9F735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EED438-FAE0-4C18-8CE3-6B961DA98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772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F561537-2C2E-2FE8-C1D8-8664142D4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4462" y="537328"/>
            <a:ext cx="10571218" cy="1865052"/>
          </a:xfrm>
        </p:spPr>
        <p:txBody>
          <a:bodyPr>
            <a:normAutofit/>
          </a:bodyPr>
          <a:lstStyle/>
          <a:p>
            <a:r>
              <a:rPr lang="en-IN" sz="6000" b="1" dirty="0">
                <a:latin typeface="+mn-lt"/>
              </a:rPr>
              <a:t>Standard Template Library (STL)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A715D5-D39E-3D38-23FA-D6830EB0D9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0871" y="2857500"/>
            <a:ext cx="10058400" cy="114300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9356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EDFD60-DB88-C958-5ED4-B512D6252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A811CE9-DD69-D397-4B53-E0A3252BE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0"/>
            <a:ext cx="10445685" cy="507205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It provides general-purpose, templatized classes and functions that implement many popular and commonly used algorithms and data structures. </a:t>
            </a:r>
          </a:p>
          <a:p>
            <a:r>
              <a:rPr lang="en-US" dirty="0"/>
              <a:t>The core of the standard template library comprises three foundational items: </a:t>
            </a:r>
          </a:p>
          <a:p>
            <a:pPr lvl="1"/>
            <a:r>
              <a:rPr lang="en-US" i="1" dirty="0"/>
              <a:t>Containers </a:t>
            </a:r>
          </a:p>
          <a:p>
            <a:pPr lvl="1"/>
            <a:r>
              <a:rPr lang="en-US" i="1" dirty="0"/>
              <a:t>Algorithms</a:t>
            </a:r>
          </a:p>
          <a:p>
            <a:pPr lvl="1"/>
            <a:r>
              <a:rPr lang="en-US" i="1" dirty="0"/>
              <a:t>Iterators</a:t>
            </a:r>
            <a:r>
              <a:rPr lang="en-US" dirty="0"/>
              <a:t>. </a:t>
            </a:r>
          </a:p>
          <a:p>
            <a:r>
              <a:rPr lang="en-US" dirty="0"/>
              <a:t>These items work in conjunction with one another to provide off-the-shelf solutions to a variety of programming problems.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8215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FA6457-433C-C99B-A845-85E5E039C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Containers: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3A65EB2-A4B5-C0FC-CC7C-4ECE5E6D6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Containers </a:t>
            </a:r>
            <a:r>
              <a:rPr lang="en-US" dirty="0"/>
              <a:t>are objects that hold other objects.</a:t>
            </a:r>
          </a:p>
          <a:p>
            <a:pPr lvl="1"/>
            <a:r>
              <a:rPr lang="en-IN" dirty="0"/>
              <a:t>Sequence container: </a:t>
            </a:r>
            <a:r>
              <a:rPr lang="en-US" dirty="0"/>
              <a:t>in STL terminology, a sequence refer to a linear list</a:t>
            </a:r>
            <a:endParaRPr lang="en-IN" dirty="0"/>
          </a:p>
          <a:p>
            <a:pPr lvl="2"/>
            <a:r>
              <a:rPr lang="en-IN" dirty="0"/>
              <a:t>vector: defines a dynamic array</a:t>
            </a:r>
          </a:p>
          <a:p>
            <a:pPr lvl="2"/>
            <a:r>
              <a:rPr lang="en-IN" dirty="0"/>
              <a:t>list: provides a linear list</a:t>
            </a:r>
          </a:p>
          <a:p>
            <a:pPr lvl="2"/>
            <a:r>
              <a:rPr lang="en-IN" dirty="0"/>
              <a:t>deque: creates a double ended queue</a:t>
            </a:r>
          </a:p>
          <a:p>
            <a:pPr marL="457200" lvl="1" indent="0">
              <a:buNone/>
            </a:pPr>
            <a:endParaRPr lang="en-IN" dirty="0"/>
          </a:p>
          <a:p>
            <a:pPr lvl="1"/>
            <a:r>
              <a:rPr lang="en-IN" dirty="0"/>
              <a:t>Associative container: </a:t>
            </a:r>
            <a:r>
              <a:rPr lang="en-US" dirty="0"/>
              <a:t>allow efficient retrieval of values based on keys</a:t>
            </a:r>
          </a:p>
          <a:p>
            <a:pPr lvl="2"/>
            <a:r>
              <a:rPr lang="en-US" dirty="0"/>
              <a:t>map: provides access to values with unique keys</a:t>
            </a:r>
            <a:endParaRPr lang="en-IN" dirty="0"/>
          </a:p>
          <a:p>
            <a:pPr lvl="2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3050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40A41A4-AE0B-C360-356B-F289F3B5A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3C99D2F-5C13-3327-8D4A-FF3FD5040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Algorithms </a:t>
            </a:r>
            <a:r>
              <a:rPr lang="en-US" dirty="0"/>
              <a:t>act on containers </a:t>
            </a:r>
          </a:p>
          <a:p>
            <a:r>
              <a:rPr lang="en-US" i="1" dirty="0"/>
              <a:t>Algorithms</a:t>
            </a:r>
            <a:r>
              <a:rPr lang="en-US" dirty="0"/>
              <a:t> manipulate </a:t>
            </a:r>
            <a:r>
              <a:rPr lang="en-IN" dirty="0"/>
              <a:t>the contents of containers</a:t>
            </a:r>
          </a:p>
          <a:p>
            <a:r>
              <a:rPr lang="en-IN" dirty="0"/>
              <a:t>Examples:</a:t>
            </a:r>
          </a:p>
          <a:p>
            <a:pPr lvl="1"/>
            <a:r>
              <a:rPr lang="en-IN" dirty="0"/>
              <a:t>sorting</a:t>
            </a:r>
          </a:p>
          <a:p>
            <a:pPr lvl="1"/>
            <a:r>
              <a:rPr lang="en-IN" dirty="0"/>
              <a:t>searching</a:t>
            </a:r>
          </a:p>
        </p:txBody>
      </p:sp>
    </p:spTree>
    <p:extLst>
      <p:ext uri="{BB962C8B-B14F-4D97-AF65-F5344CB8AC3E}">
        <p14:creationId xmlns:p14="http://schemas.microsoft.com/office/powerpoint/2010/main" val="570845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282542C-A344-1A06-2A13-970EE4BE8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Iterators: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D74D155-77FB-03EC-CED3-CACE8F9ED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Iterators provide the ability to </a:t>
            </a:r>
            <a:r>
              <a:rPr lang="en-US" dirty="0"/>
              <a:t>cycle through the contents of a container. 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58E11321-85A6-8841-E05E-2E98C7AD12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877285"/>
              </p:ext>
            </p:extLst>
          </p:nvPr>
        </p:nvGraphicFramePr>
        <p:xfrm>
          <a:off x="1900026" y="2746428"/>
          <a:ext cx="8128000" cy="303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xmlns="" val="35857037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xmlns="" val="19354060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Iterator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Access allowed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05020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Random Access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Store and retrieve values. Elements may be accessed randomly.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85637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Bidirectional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Store and retrieve values. Forward and backward moving.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73318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Store and retrieve values. Forward moving only.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98805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56598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21090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5249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FB8D32-957B-3E9F-DDC9-9BF7EC3A7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9531"/>
          </a:xfrm>
        </p:spPr>
        <p:txBody>
          <a:bodyPr/>
          <a:lstStyle/>
          <a:p>
            <a:r>
              <a:rPr lang="en-IN" dirty="0"/>
              <a:t>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DC62E31-AFE2-4F70-21CD-AC343425C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6066"/>
            <a:ext cx="10181734" cy="2303315"/>
          </a:xfrm>
        </p:spPr>
        <p:txBody>
          <a:bodyPr>
            <a:normAutofit/>
          </a:bodyPr>
          <a:lstStyle/>
          <a:p>
            <a:r>
              <a:rPr lang="en-US" dirty="0"/>
              <a:t>The vector class supports a dynamic array, i.e., an array that can grow as needed.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6BB89F1A-5479-B354-9529-EFAD688B16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5028738"/>
              </p:ext>
            </p:extLst>
          </p:nvPr>
        </p:nvGraphicFramePr>
        <p:xfrm>
          <a:off x="2949804" y="3297677"/>
          <a:ext cx="5732282" cy="2866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7355">
                  <a:extLst>
                    <a:ext uri="{9D8B030D-6E8A-4147-A177-3AD203B41FA5}">
                      <a16:colId xmlns:a16="http://schemas.microsoft.com/office/drawing/2014/main" xmlns="" val="1533460067"/>
                    </a:ext>
                  </a:extLst>
                </a:gridCol>
                <a:gridCol w="4194927">
                  <a:extLst>
                    <a:ext uri="{9D8B030D-6E8A-4147-A177-3AD203B41FA5}">
                      <a16:colId xmlns:a16="http://schemas.microsoft.com/office/drawing/2014/main" xmlns="" val="871482808"/>
                    </a:ext>
                  </a:extLst>
                </a:gridCol>
              </a:tblGrid>
              <a:tr h="372544">
                <a:tc>
                  <a:txBody>
                    <a:bodyPr/>
                    <a:lstStyle/>
                    <a:p>
                      <a:r>
                        <a:rPr lang="en-IN" dirty="0"/>
                        <a:t>Function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09980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size( )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the current size of the vector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95893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begin( 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an iterator to the start of the vector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56041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end( 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an iterator to the end of the vector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93723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push_back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 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puts a value onto the end of the vector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67288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insert( 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Add elements to the middle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63040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erase( 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remove elements from a vector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41376244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xmlns="" id="{14265B00-AA58-10A7-6CAB-DF2CF6F948C4}"/>
              </a:ext>
            </a:extLst>
          </p:cNvPr>
          <p:cNvSpPr txBox="1">
            <a:spLocks/>
          </p:cNvSpPr>
          <p:nvPr/>
        </p:nvSpPr>
        <p:spPr>
          <a:xfrm>
            <a:off x="2818614" y="6164501"/>
            <a:ext cx="9373386" cy="5379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latin typeface="+mn-lt"/>
              </a:rPr>
              <a:t>Most commonly used </a:t>
            </a:r>
            <a:r>
              <a:rPr lang="en-US" sz="2000" dirty="0">
                <a:latin typeface="+mn-lt"/>
              </a:rPr>
              <a:t>member functions defined by </a:t>
            </a:r>
            <a:r>
              <a:rPr lang="en-US" sz="2000" b="1" dirty="0">
                <a:latin typeface="+mn-lt"/>
              </a:rPr>
              <a:t>vector</a:t>
            </a:r>
            <a:endParaRPr lang="en-IN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20446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B9C3166-F84A-8F01-A7C9-3CD41F088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54E4432E-94C3-F998-16DA-C2477C0DC7FA}"/>
              </a:ext>
            </a:extLst>
          </p:cNvPr>
          <p:cNvSpPr/>
          <p:nvPr/>
        </p:nvSpPr>
        <p:spPr>
          <a:xfrm>
            <a:off x="395925" y="461913"/>
            <a:ext cx="2639106" cy="2456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dirty="0"/>
              <a:t>vector &lt;int&gt; v1;</a:t>
            </a:r>
          </a:p>
          <a:p>
            <a:pPr algn="just"/>
            <a:r>
              <a:rPr lang="en-IN" dirty="0"/>
              <a:t>v1.push_back(2);</a:t>
            </a:r>
          </a:p>
          <a:p>
            <a:pPr algn="just"/>
            <a:r>
              <a:rPr lang="en-IN" dirty="0"/>
              <a:t>v1.push_back(1);</a:t>
            </a:r>
          </a:p>
          <a:p>
            <a:pPr algn="just"/>
            <a:r>
              <a:rPr lang="en-IN" dirty="0"/>
              <a:t>v1.push_back(3);</a:t>
            </a:r>
          </a:p>
          <a:p>
            <a:pPr algn="just"/>
            <a:r>
              <a:rPr lang="en-IN" dirty="0" err="1"/>
              <a:t>cout</a:t>
            </a:r>
            <a:r>
              <a:rPr lang="en-IN" dirty="0"/>
              <a:t>&lt;&lt;v1.size()&lt;&lt;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algn="just"/>
            <a:r>
              <a:rPr lang="en-IN" dirty="0"/>
              <a:t>v1.pop_back();	</a:t>
            </a:r>
          </a:p>
          <a:p>
            <a:pPr algn="just"/>
            <a:r>
              <a:rPr lang="en-IN" dirty="0" err="1"/>
              <a:t>cout</a:t>
            </a:r>
            <a:r>
              <a:rPr lang="en-IN" dirty="0"/>
              <a:t>&lt;&lt;v1.size()&lt;&lt;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algn="just"/>
            <a:endParaRPr lang="en-IN" dirty="0"/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4D358BF-E82A-D38C-BF00-677C8D01F791}"/>
              </a:ext>
            </a:extLst>
          </p:cNvPr>
          <p:cNvSpPr/>
          <p:nvPr/>
        </p:nvSpPr>
        <p:spPr>
          <a:xfrm>
            <a:off x="7598002" y="461913"/>
            <a:ext cx="3890364" cy="20353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vector &lt;int&gt; v1= {1,2,3,4,5};</a:t>
            </a:r>
          </a:p>
          <a:p>
            <a:r>
              <a:rPr lang="en-IN" dirty="0"/>
              <a:t>vector &lt;int&gt; v2(v1);</a:t>
            </a:r>
          </a:p>
          <a:p>
            <a:endParaRPr lang="en-IN" dirty="0"/>
          </a:p>
          <a:p>
            <a:r>
              <a:rPr lang="en-US" dirty="0"/>
              <a:t>for(it=v2.begin(); it!=v2.end(); it++) {</a:t>
            </a:r>
          </a:p>
          <a:p>
            <a:r>
              <a:rPr lang="en-US" dirty="0"/>
              <a:t>	</a:t>
            </a:r>
            <a:r>
              <a:rPr lang="en-US" dirty="0" err="1"/>
              <a:t>cout</a:t>
            </a:r>
            <a:r>
              <a:rPr lang="en-US" dirty="0"/>
              <a:t>&lt;&lt;*(it)&lt;&lt;" ";</a:t>
            </a:r>
          </a:p>
          <a:p>
            <a:r>
              <a:rPr lang="en-US" dirty="0"/>
              <a:t>}</a:t>
            </a:r>
          </a:p>
          <a:p>
            <a:r>
              <a:rPr lang="en-IN" dirty="0"/>
              <a:t>	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B5FF5294-A937-D390-A652-8BA219F99927}"/>
              </a:ext>
            </a:extLst>
          </p:cNvPr>
          <p:cNvSpPr/>
          <p:nvPr/>
        </p:nvSpPr>
        <p:spPr>
          <a:xfrm>
            <a:off x="6712085" y="3696510"/>
            <a:ext cx="5083992" cy="18385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  <a:p>
            <a:endParaRPr lang="en-IN" dirty="0"/>
          </a:p>
          <a:p>
            <a:r>
              <a:rPr lang="en-IN" dirty="0"/>
              <a:t>vector &lt;int&gt; v1= {1,2,3,4,5};</a:t>
            </a:r>
            <a:endParaRPr lang="en-US" dirty="0"/>
          </a:p>
          <a:p>
            <a:r>
              <a:rPr lang="en-US" dirty="0" err="1"/>
              <a:t>cout</a:t>
            </a:r>
            <a:r>
              <a:rPr lang="en-US" dirty="0"/>
              <a:t>&lt;&lt;"begin:" &lt;&lt;*(v1.begin())&lt;&lt;"\n";</a:t>
            </a:r>
          </a:p>
          <a:p>
            <a:r>
              <a:rPr lang="en-US" dirty="0" err="1"/>
              <a:t>cout</a:t>
            </a:r>
            <a:r>
              <a:rPr lang="en-US" dirty="0"/>
              <a:t>&lt;&lt;"end:"&lt;&lt;*(v1.end())&lt;&lt;"\n";</a:t>
            </a:r>
            <a:endParaRPr lang="en-IN" dirty="0"/>
          </a:p>
          <a:p>
            <a:r>
              <a:rPr lang="en-IN" dirty="0"/>
              <a:t>v1.erase(v.begin());  </a:t>
            </a:r>
          </a:p>
          <a:p>
            <a:r>
              <a:rPr lang="en-IN" dirty="0"/>
              <a:t>v1.erase(v.begin()+2);</a:t>
            </a:r>
          </a:p>
          <a:p>
            <a:r>
              <a:rPr lang="en-IN" dirty="0"/>
              <a:t>v1.insert(v.begin()+2, 200);</a:t>
            </a:r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AA1DAE6-D3B2-D4DE-C63A-E8FAE6E3A580}"/>
              </a:ext>
            </a:extLst>
          </p:cNvPr>
          <p:cNvSpPr/>
          <p:nvPr/>
        </p:nvSpPr>
        <p:spPr>
          <a:xfrm>
            <a:off x="395923" y="4333973"/>
            <a:ext cx="3846136" cy="15412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vector&lt;int&gt; v1;</a:t>
            </a:r>
          </a:p>
          <a:p>
            <a:r>
              <a:rPr lang="en-US" dirty="0"/>
              <a:t>vector&lt;int&gt;::iterator it;</a:t>
            </a:r>
          </a:p>
          <a:p>
            <a:r>
              <a:rPr lang="en-US" dirty="0"/>
              <a:t>for(it=v1.begin(); it!=v1.end(); it++) {</a:t>
            </a:r>
          </a:p>
          <a:p>
            <a:r>
              <a:rPr lang="en-US" dirty="0"/>
              <a:t>	</a:t>
            </a:r>
            <a:r>
              <a:rPr lang="en-US" dirty="0" err="1"/>
              <a:t>cout</a:t>
            </a:r>
            <a:r>
              <a:rPr lang="en-US" dirty="0"/>
              <a:t>&lt;&lt;*(it)&lt;&lt;" ";</a:t>
            </a:r>
          </a:p>
          <a:p>
            <a:r>
              <a:rPr lang="en-US" dirty="0"/>
              <a:t>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xmlns="" id="{E44D02CD-6D50-A633-4D7A-CA01CF219E57}"/>
              </a:ext>
            </a:extLst>
          </p:cNvPr>
          <p:cNvSpPr/>
          <p:nvPr/>
        </p:nvSpPr>
        <p:spPr>
          <a:xfrm>
            <a:off x="1699868" y="2914862"/>
            <a:ext cx="1335163" cy="93729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Output:</a:t>
            </a:r>
          </a:p>
          <a:p>
            <a:pPr algn="ctr"/>
            <a:r>
              <a:rPr lang="en-IN" dirty="0"/>
              <a:t>3</a:t>
            </a:r>
          </a:p>
          <a:p>
            <a:pPr algn="ctr"/>
            <a:r>
              <a:rPr lang="en-IN" dirty="0"/>
              <a:t>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xmlns="" id="{22EFEA1D-FCF2-4C64-E714-5AF8EF4FFB37}"/>
              </a:ext>
            </a:extLst>
          </p:cNvPr>
          <p:cNvSpPr/>
          <p:nvPr/>
        </p:nvSpPr>
        <p:spPr>
          <a:xfrm>
            <a:off x="3035031" y="5875255"/>
            <a:ext cx="1218431" cy="82100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Output:</a:t>
            </a:r>
          </a:p>
          <a:p>
            <a:pPr algn="ctr"/>
            <a:r>
              <a:rPr lang="en-IN" dirty="0"/>
              <a:t>2 1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xmlns="" id="{CF88EBEB-F286-BE44-E702-9D4E6EDE3428}"/>
              </a:ext>
            </a:extLst>
          </p:cNvPr>
          <p:cNvSpPr/>
          <p:nvPr/>
        </p:nvSpPr>
        <p:spPr>
          <a:xfrm>
            <a:off x="8385244" y="2497225"/>
            <a:ext cx="3167590" cy="82100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Output:</a:t>
            </a:r>
          </a:p>
          <a:p>
            <a:pPr algn="ctr"/>
            <a:r>
              <a:rPr lang="en-IN" dirty="0"/>
              <a:t>1 2 3 4 5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6C002963-EF4F-7295-463F-7D7044CEBA7F}"/>
              </a:ext>
            </a:extLst>
          </p:cNvPr>
          <p:cNvSpPr/>
          <p:nvPr/>
        </p:nvSpPr>
        <p:spPr>
          <a:xfrm>
            <a:off x="10165404" y="5535038"/>
            <a:ext cx="1630673" cy="119928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Output:</a:t>
            </a:r>
          </a:p>
          <a:p>
            <a:pPr algn="ctr"/>
            <a:r>
              <a:rPr lang="en-IN" dirty="0"/>
              <a:t>1</a:t>
            </a:r>
          </a:p>
          <a:p>
            <a:pPr algn="ctr"/>
            <a:r>
              <a:rPr lang="en-IN" dirty="0"/>
              <a:t>0</a:t>
            </a:r>
          </a:p>
          <a:p>
            <a:pPr algn="ctr"/>
            <a:r>
              <a:rPr lang="en-IN" dirty="0"/>
              <a:t>2 3 200 5</a:t>
            </a:r>
          </a:p>
        </p:txBody>
      </p:sp>
    </p:spTree>
    <p:extLst>
      <p:ext uri="{BB962C8B-B14F-4D97-AF65-F5344CB8AC3E}">
        <p14:creationId xmlns:p14="http://schemas.microsoft.com/office/powerpoint/2010/main" val="952051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AB1F0A7-689A-FAEF-38B4-BBA494B13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9531"/>
          </a:xfrm>
        </p:spPr>
        <p:txBody>
          <a:bodyPr/>
          <a:lstStyle/>
          <a:p>
            <a:r>
              <a:rPr lang="en-IN" dirty="0"/>
              <a:t>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D3BCFBD-DD8F-C6B7-E9E6-50C34102A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4656"/>
            <a:ext cx="10515600" cy="5102307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list </a:t>
            </a:r>
            <a:r>
              <a:rPr lang="en-US" dirty="0"/>
              <a:t>class supports a bidirectional, linear list. </a:t>
            </a:r>
          </a:p>
          <a:p>
            <a:r>
              <a:rPr lang="en-US" dirty="0"/>
              <a:t>Unlike a vector, which supports random access, a list can be accessed sequentially only.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xmlns="" id="{ABE09C73-B8B5-48A8-A6F3-CB185CF05D91}"/>
              </a:ext>
            </a:extLst>
          </p:cNvPr>
          <p:cNvSpPr txBox="1">
            <a:spLocks/>
          </p:cNvSpPr>
          <p:nvPr/>
        </p:nvSpPr>
        <p:spPr>
          <a:xfrm>
            <a:off x="2582944" y="6419024"/>
            <a:ext cx="9373386" cy="5379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latin typeface="+mn-lt"/>
              </a:rPr>
              <a:t>Most commonly used </a:t>
            </a:r>
            <a:r>
              <a:rPr lang="en-US" sz="2000" dirty="0">
                <a:latin typeface="+mn-lt"/>
              </a:rPr>
              <a:t>member functions defined by </a:t>
            </a:r>
            <a:r>
              <a:rPr lang="en-US" sz="2000" b="1" dirty="0">
                <a:latin typeface="+mn-lt"/>
              </a:rPr>
              <a:t>list</a:t>
            </a:r>
            <a:endParaRPr lang="en-IN" sz="2000" dirty="0">
              <a:latin typeface="+mn-lt"/>
            </a:endParaRP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xmlns="" id="{A850335E-8F82-C3E2-27DD-AFC0B14DFE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0788538"/>
              </p:ext>
            </p:extLst>
          </p:nvPr>
        </p:nvGraphicFramePr>
        <p:xfrm>
          <a:off x="838200" y="3779203"/>
          <a:ext cx="10515600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xmlns="" val="153346006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xmlns="" val="8714828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Function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09980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merge( 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One list may be merged into another. Result is an ordered list that contains the contents of the two original lists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56041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push_front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 ) / </a:t>
                      </a:r>
                      <a:r>
                        <a:rPr lang="en-US" sz="1800" b="1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push_back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 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puts a value onto the front/end of the list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93723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pop_front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 ) &amp; </a:t>
                      </a:r>
                      <a:r>
                        <a:rPr lang="en-US" sz="1800" b="1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pop_back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 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Pop a value from front/end of the list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67288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insert( 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Add element into the middle of a list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63040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6834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xmlns="" id="{2E2EEE23-83C4-F791-4A82-15815495CA36}"/>
              </a:ext>
            </a:extLst>
          </p:cNvPr>
          <p:cNvSpPr/>
          <p:nvPr/>
        </p:nvSpPr>
        <p:spPr>
          <a:xfrm>
            <a:off x="2311807" y="5318723"/>
            <a:ext cx="1344891" cy="118908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Output:</a:t>
            </a:r>
          </a:p>
          <a:p>
            <a:pPr algn="ctr"/>
            <a:r>
              <a:rPr lang="en-IN" dirty="0"/>
              <a:t>4</a:t>
            </a:r>
          </a:p>
          <a:p>
            <a:pPr algn="ctr"/>
            <a:r>
              <a:rPr lang="en-IN" dirty="0"/>
              <a:t>2</a:t>
            </a:r>
          </a:p>
          <a:p>
            <a:pPr algn="ctr"/>
            <a:r>
              <a:rPr lang="en-IN" dirty="0"/>
              <a:t>200 3 2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830F7649-621B-0F89-6BD8-5802BB0FA63E}"/>
              </a:ext>
            </a:extLst>
          </p:cNvPr>
          <p:cNvSpPr/>
          <p:nvPr/>
        </p:nvSpPr>
        <p:spPr>
          <a:xfrm>
            <a:off x="214009" y="350197"/>
            <a:ext cx="3432961" cy="4958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#include&lt;list&gt;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int main() {</a:t>
            </a:r>
          </a:p>
          <a:p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list &lt;int&gt; l;</a:t>
            </a:r>
          </a:p>
          <a:p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l.push_back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(2); </a:t>
            </a:r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l.push_back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(1);</a:t>
            </a:r>
          </a:p>
          <a:p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l.push_front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(3); </a:t>
            </a:r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l.push_front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(4);</a:t>
            </a:r>
          </a:p>
          <a:p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&lt;&lt;</a:t>
            </a:r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l.size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()&lt;&lt;</a:t>
            </a:r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endl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l.pop_back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l.pop_front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();	</a:t>
            </a:r>
          </a:p>
          <a:p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for(int </a:t>
            </a:r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: l){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&lt;&lt;</a:t>
            </a:r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&lt;&lt;" ";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}	</a:t>
            </a:r>
          </a:p>
          <a:p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l.insert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l.begin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(), 200);  //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for(int </a:t>
            </a:r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: l){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&lt;&lt;</a:t>
            </a:r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&lt;&lt;" ";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	return 0;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858E6631-2586-E6E7-65AF-065EE567F40F}"/>
              </a:ext>
            </a:extLst>
          </p:cNvPr>
          <p:cNvSpPr/>
          <p:nvPr/>
        </p:nvSpPr>
        <p:spPr>
          <a:xfrm>
            <a:off x="5398852" y="350197"/>
            <a:ext cx="4922196" cy="52019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#include &lt;iostream&gt;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#include &lt;list&gt;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using namespace std;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int main()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list&lt;int&gt; l1, l2;  int </a:t>
            </a:r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for(</a:t>
            </a:r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=0; </a:t>
            </a:r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&lt;10; </a:t>
            </a:r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+=2) l1.push_back(</a:t>
            </a:r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for(</a:t>
            </a:r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=1; </a:t>
            </a:r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&lt;11; </a:t>
            </a:r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+=2) l2.push_back(</a:t>
            </a:r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list&lt;int&gt;::iterator p = l1.begin();</a:t>
            </a:r>
          </a:p>
          <a:p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l1.merge(l2);</a:t>
            </a:r>
          </a:p>
          <a:p>
            <a:endParaRPr lang="en-IN" sz="16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if(l2.empty())</a:t>
            </a:r>
          </a:p>
          <a:p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 &lt;&lt; "Contents of list1 after merge:\n";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p = l1.begin();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while(p != l1.end()) {</a:t>
            </a:r>
          </a:p>
          <a:p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 &lt;&lt; *p &lt;&lt; " "; p++;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return 0; 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xmlns="" id="{8D4F5C45-CCBE-48A8-AD31-EF21EADE0487}"/>
              </a:ext>
            </a:extLst>
          </p:cNvPr>
          <p:cNvSpPr/>
          <p:nvPr/>
        </p:nvSpPr>
        <p:spPr>
          <a:xfrm>
            <a:off x="6660205" y="5553342"/>
            <a:ext cx="3660843" cy="59338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Output:</a:t>
            </a:r>
          </a:p>
          <a:p>
            <a:pPr algn="ctr"/>
            <a:r>
              <a:rPr lang="en-IN" dirty="0"/>
              <a:t>0 1 2 3 4 5 6 7 8 9 </a:t>
            </a:r>
          </a:p>
        </p:txBody>
      </p:sp>
    </p:spTree>
    <p:extLst>
      <p:ext uri="{BB962C8B-B14F-4D97-AF65-F5344CB8AC3E}">
        <p14:creationId xmlns:p14="http://schemas.microsoft.com/office/powerpoint/2010/main" val="3077992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53C7B0-4203-E261-1A06-188666725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3828"/>
          </a:xfrm>
        </p:spPr>
        <p:txBody>
          <a:bodyPr/>
          <a:lstStyle/>
          <a:p>
            <a:r>
              <a:rPr lang="en-IN" dirty="0"/>
              <a:t>Stack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593790B-00E3-A4B7-4D61-41F3DDE3B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8954"/>
            <a:ext cx="10515600" cy="4785907"/>
          </a:xfrm>
        </p:spPr>
        <p:txBody>
          <a:bodyPr/>
          <a:lstStyle/>
          <a:p>
            <a:r>
              <a:rPr lang="en-IN" dirty="0"/>
              <a:t>Key operations: push(), pop(), top(), size(), empty(),…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3D2C942E-8F62-63EA-E5DD-94011E0FF1A7}"/>
              </a:ext>
            </a:extLst>
          </p:cNvPr>
          <p:cNvSpPr/>
          <p:nvPr/>
        </p:nvSpPr>
        <p:spPr>
          <a:xfrm>
            <a:off x="3599241" y="2039818"/>
            <a:ext cx="3229583" cy="44290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#include&lt;iostream&gt;</a:t>
            </a:r>
          </a:p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#include&lt;stack&gt;</a:t>
            </a:r>
          </a:p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using namespace std;</a:t>
            </a:r>
          </a:p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int main() {</a:t>
            </a:r>
          </a:p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stack&lt;int&gt; s1;</a:t>
            </a:r>
          </a:p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s1.push(2); s1.push(1);</a:t>
            </a:r>
          </a:p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s1.push(3); s1.push(4);</a:t>
            </a:r>
          </a:p>
          <a:p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&lt;&lt;s1.size()&lt;&lt;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endl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s1.pop(); s1.pop();	</a:t>
            </a:r>
          </a:p>
          <a:p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&lt;&lt;s1.size()&lt;&lt;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endl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while(!s1.empty()) {</a:t>
            </a:r>
          </a:p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&lt;&lt;s1.top() &lt;&lt;" ";</a:t>
            </a:r>
          </a:p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	s1.pop();</a:t>
            </a:r>
          </a:p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	return 0;</a:t>
            </a:r>
          </a:p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xmlns="" id="{47A6A82E-0B57-302A-AB95-BB6A4A0D05E7}"/>
              </a:ext>
            </a:extLst>
          </p:cNvPr>
          <p:cNvSpPr/>
          <p:nvPr/>
        </p:nvSpPr>
        <p:spPr>
          <a:xfrm>
            <a:off x="6828824" y="5279819"/>
            <a:ext cx="1344891" cy="118908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Output:</a:t>
            </a:r>
          </a:p>
          <a:p>
            <a:pPr algn="ctr"/>
            <a:r>
              <a:rPr lang="en-IN" dirty="0"/>
              <a:t>4</a:t>
            </a:r>
          </a:p>
          <a:p>
            <a:pPr algn="ctr"/>
            <a:r>
              <a:rPr lang="en-IN" dirty="0"/>
              <a:t>2</a:t>
            </a:r>
          </a:p>
          <a:p>
            <a:pPr algn="ctr"/>
            <a:r>
              <a:rPr lang="en-IN" dirty="0"/>
              <a:t>1 2 </a:t>
            </a:r>
          </a:p>
        </p:txBody>
      </p:sp>
    </p:spTree>
    <p:extLst>
      <p:ext uri="{BB962C8B-B14F-4D97-AF65-F5344CB8AC3E}">
        <p14:creationId xmlns:p14="http://schemas.microsoft.com/office/powerpoint/2010/main" val="1830564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338F04-690B-4185-05C1-A63DEE3E9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6279"/>
          </a:xfrm>
        </p:spPr>
        <p:txBody>
          <a:bodyPr>
            <a:normAutofit fontScale="90000"/>
          </a:bodyPr>
          <a:lstStyle/>
          <a:p>
            <a:r>
              <a:rPr lang="en-IN" dirty="0"/>
              <a:t>Deque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43D1903-18B8-D42E-2F9A-DE1E9471D68E}"/>
              </a:ext>
            </a:extLst>
          </p:cNvPr>
          <p:cNvSpPr/>
          <p:nvPr/>
        </p:nvSpPr>
        <p:spPr>
          <a:xfrm>
            <a:off x="838200" y="1571016"/>
            <a:ext cx="2373550" cy="37159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deque&lt;int&gt; </a:t>
            </a:r>
            <a:r>
              <a:rPr lang="en-IN" dirty="0" err="1"/>
              <a:t>dq</a:t>
            </a:r>
            <a:r>
              <a:rPr lang="en-IN" dirty="0"/>
              <a:t>;</a:t>
            </a:r>
          </a:p>
          <a:p>
            <a:r>
              <a:rPr lang="en-IN" dirty="0" err="1"/>
              <a:t>dq.push_back</a:t>
            </a:r>
            <a:r>
              <a:rPr lang="en-IN" dirty="0"/>
              <a:t>(2);</a:t>
            </a:r>
          </a:p>
          <a:p>
            <a:r>
              <a:rPr lang="en-IN" dirty="0" err="1"/>
              <a:t>dq.push_back</a:t>
            </a:r>
            <a:r>
              <a:rPr lang="en-IN" dirty="0"/>
              <a:t>(1);</a:t>
            </a:r>
          </a:p>
          <a:p>
            <a:r>
              <a:rPr lang="en-IN" dirty="0" err="1"/>
              <a:t>dq.push_front</a:t>
            </a:r>
            <a:r>
              <a:rPr lang="en-IN" dirty="0"/>
              <a:t>(3);</a:t>
            </a:r>
          </a:p>
          <a:p>
            <a:r>
              <a:rPr lang="en-IN" dirty="0" err="1"/>
              <a:t>dq.push_front</a:t>
            </a:r>
            <a:r>
              <a:rPr lang="en-IN" dirty="0"/>
              <a:t>(4);</a:t>
            </a:r>
          </a:p>
          <a:p>
            <a:r>
              <a:rPr lang="en-IN" dirty="0" err="1"/>
              <a:t>cout</a:t>
            </a:r>
            <a:r>
              <a:rPr lang="en-IN" dirty="0"/>
              <a:t>&lt;&lt;</a:t>
            </a:r>
            <a:r>
              <a:rPr lang="en-IN" dirty="0" err="1"/>
              <a:t>dq.size</a:t>
            </a:r>
            <a:r>
              <a:rPr lang="en-IN" dirty="0"/>
              <a:t>()&lt;&lt;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 err="1"/>
              <a:t>dq.pop_back</a:t>
            </a:r>
            <a:r>
              <a:rPr lang="en-IN" dirty="0"/>
              <a:t>();</a:t>
            </a:r>
          </a:p>
          <a:p>
            <a:r>
              <a:rPr lang="en-IN" dirty="0" err="1"/>
              <a:t>dq.pop_front</a:t>
            </a:r>
            <a:r>
              <a:rPr lang="en-IN" dirty="0"/>
              <a:t>();	</a:t>
            </a:r>
          </a:p>
          <a:p>
            <a:r>
              <a:rPr lang="en-IN" dirty="0" err="1"/>
              <a:t>cout</a:t>
            </a:r>
            <a:r>
              <a:rPr lang="en-IN" dirty="0"/>
              <a:t>&lt;&lt;</a:t>
            </a:r>
            <a:r>
              <a:rPr lang="en-IN" dirty="0" err="1"/>
              <a:t>dq.size</a:t>
            </a:r>
            <a:r>
              <a:rPr lang="en-IN" dirty="0"/>
              <a:t>()&lt;&lt;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for(int </a:t>
            </a:r>
            <a:r>
              <a:rPr lang="en-IN" dirty="0" err="1"/>
              <a:t>val</a:t>
            </a:r>
            <a:r>
              <a:rPr lang="en-IN" dirty="0"/>
              <a:t>: </a:t>
            </a:r>
            <a:r>
              <a:rPr lang="en-IN" dirty="0" err="1"/>
              <a:t>dq</a:t>
            </a:r>
            <a:r>
              <a:rPr lang="en-IN" dirty="0"/>
              <a:t>)</a:t>
            </a:r>
          </a:p>
          <a:p>
            <a:r>
              <a:rPr lang="en-IN" dirty="0"/>
              <a:t>  </a:t>
            </a:r>
            <a:r>
              <a:rPr lang="en-IN" dirty="0" err="1"/>
              <a:t>cout</a:t>
            </a:r>
            <a:r>
              <a:rPr lang="en-IN" dirty="0"/>
              <a:t>&lt;&lt;</a:t>
            </a:r>
            <a:r>
              <a:rPr lang="en-IN" dirty="0" err="1"/>
              <a:t>val</a:t>
            </a:r>
            <a:r>
              <a:rPr lang="en-IN" dirty="0"/>
              <a:t>&lt;&lt;" ";</a:t>
            </a:r>
          </a:p>
          <a:p>
            <a:pPr algn="ctr"/>
            <a:r>
              <a:rPr lang="en-IN" dirty="0"/>
              <a:t>	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77D0CCC2-3BBA-E1CE-5479-327FB1BBDC5E}"/>
              </a:ext>
            </a:extLst>
          </p:cNvPr>
          <p:cNvSpPr/>
          <p:nvPr/>
        </p:nvSpPr>
        <p:spPr>
          <a:xfrm>
            <a:off x="6164094" y="1571016"/>
            <a:ext cx="4606047" cy="20168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 err="1"/>
              <a:t>cout</a:t>
            </a:r>
            <a:r>
              <a:rPr lang="en-IN" dirty="0"/>
              <a:t>&lt;&lt;</a:t>
            </a:r>
            <a:r>
              <a:rPr lang="en-IN" dirty="0" err="1"/>
              <a:t>dq</a:t>
            </a:r>
            <a:r>
              <a:rPr lang="en-IN" dirty="0"/>
              <a:t>[1];  // not possible in list</a:t>
            </a:r>
          </a:p>
          <a:p>
            <a:r>
              <a:rPr lang="en-IN" dirty="0" err="1"/>
              <a:t>cout</a:t>
            </a:r>
            <a:r>
              <a:rPr lang="en-IN" dirty="0"/>
              <a:t>&lt;&lt;"\n";</a:t>
            </a:r>
          </a:p>
          <a:p>
            <a:r>
              <a:rPr lang="en-IN" dirty="0" err="1"/>
              <a:t>dq.insert</a:t>
            </a:r>
            <a:r>
              <a:rPr lang="en-IN" dirty="0"/>
              <a:t>(</a:t>
            </a:r>
            <a:r>
              <a:rPr lang="en-IN" dirty="0" err="1"/>
              <a:t>dq.begin</a:t>
            </a:r>
            <a:r>
              <a:rPr lang="en-IN" dirty="0"/>
              <a:t>() + 1, 100);</a:t>
            </a:r>
          </a:p>
          <a:p>
            <a:r>
              <a:rPr lang="en-IN" dirty="0" err="1"/>
              <a:t>dq.erase</a:t>
            </a:r>
            <a:r>
              <a:rPr lang="en-IN" dirty="0"/>
              <a:t>(</a:t>
            </a:r>
            <a:r>
              <a:rPr lang="en-IN" dirty="0" err="1"/>
              <a:t>dq.begin</a:t>
            </a:r>
            <a:r>
              <a:rPr lang="en-IN" dirty="0"/>
              <a:t>());</a:t>
            </a:r>
          </a:p>
          <a:p>
            <a:r>
              <a:rPr lang="en-IN" dirty="0"/>
              <a:t>for(int </a:t>
            </a:r>
            <a:r>
              <a:rPr lang="en-IN" dirty="0" err="1"/>
              <a:t>val</a:t>
            </a:r>
            <a:r>
              <a:rPr lang="en-IN" dirty="0"/>
              <a:t>: </a:t>
            </a:r>
            <a:r>
              <a:rPr lang="en-IN" dirty="0" err="1"/>
              <a:t>dq</a:t>
            </a:r>
            <a:r>
              <a:rPr lang="en-IN" dirty="0"/>
              <a:t>){</a:t>
            </a:r>
          </a:p>
          <a:p>
            <a:r>
              <a:rPr lang="en-IN" dirty="0"/>
              <a:t>	</a:t>
            </a:r>
            <a:r>
              <a:rPr lang="en-IN" dirty="0" err="1"/>
              <a:t>cout</a:t>
            </a:r>
            <a:r>
              <a:rPr lang="en-IN" dirty="0"/>
              <a:t>&lt;&lt;</a:t>
            </a:r>
            <a:r>
              <a:rPr lang="en-IN" dirty="0" err="1"/>
              <a:t>val</a:t>
            </a:r>
            <a:r>
              <a:rPr lang="en-IN" dirty="0"/>
              <a:t>&lt;&lt;" ";</a:t>
            </a:r>
          </a:p>
          <a:p>
            <a:r>
              <a:rPr lang="en-IN" dirty="0"/>
              <a:t>}	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xmlns="" id="{AD3897A6-9866-CF6A-7177-1243A5A0A580}"/>
              </a:ext>
            </a:extLst>
          </p:cNvPr>
          <p:cNvSpPr/>
          <p:nvPr/>
        </p:nvSpPr>
        <p:spPr>
          <a:xfrm>
            <a:off x="1866859" y="5286983"/>
            <a:ext cx="1344891" cy="118908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Output:</a:t>
            </a:r>
          </a:p>
          <a:p>
            <a:pPr algn="ctr"/>
            <a:r>
              <a:rPr lang="en-IN" dirty="0"/>
              <a:t>4</a:t>
            </a:r>
          </a:p>
          <a:p>
            <a:pPr algn="ctr"/>
            <a:r>
              <a:rPr lang="en-IN" dirty="0"/>
              <a:t>2</a:t>
            </a:r>
          </a:p>
          <a:p>
            <a:pPr algn="ctr"/>
            <a:r>
              <a:rPr lang="en-IN" dirty="0"/>
              <a:t>3 2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xmlns="" id="{7101FC9E-2397-1738-928E-0FFC82ECE859}"/>
              </a:ext>
            </a:extLst>
          </p:cNvPr>
          <p:cNvSpPr/>
          <p:nvPr/>
        </p:nvSpPr>
        <p:spPr>
          <a:xfrm>
            <a:off x="9425250" y="3587885"/>
            <a:ext cx="1344891" cy="118908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Output:</a:t>
            </a:r>
          </a:p>
          <a:p>
            <a:pPr algn="ctr"/>
            <a:r>
              <a:rPr lang="en-IN" dirty="0"/>
              <a:t>2</a:t>
            </a:r>
          </a:p>
          <a:p>
            <a:pPr algn="ctr"/>
            <a:r>
              <a:rPr lang="en-IN" dirty="0"/>
              <a:t>100 2</a:t>
            </a:r>
          </a:p>
        </p:txBody>
      </p:sp>
    </p:spTree>
    <p:extLst>
      <p:ext uri="{BB962C8B-B14F-4D97-AF65-F5344CB8AC3E}">
        <p14:creationId xmlns:p14="http://schemas.microsoft.com/office/powerpoint/2010/main" val="2197398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6E76F4-169F-CDB8-2955-5C71549A6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481" y="526069"/>
            <a:ext cx="10515600" cy="948109"/>
          </a:xfrm>
        </p:spPr>
        <p:txBody>
          <a:bodyPr/>
          <a:lstStyle/>
          <a:p>
            <a:r>
              <a:rPr lang="en-IN" dirty="0"/>
              <a:t>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EDE77A2-1EA6-ACC4-1BCA-E79890A6F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336"/>
            <a:ext cx="10515600" cy="4922195"/>
          </a:xfrm>
        </p:spPr>
        <p:txBody>
          <a:bodyPr/>
          <a:lstStyle/>
          <a:p>
            <a:r>
              <a:rPr lang="en-IN" dirty="0"/>
              <a:t>Each container provides support </a:t>
            </a:r>
            <a:r>
              <a:rPr lang="en-US" dirty="0"/>
              <a:t>for its own basic operations, the standard algorithms provide more extended or </a:t>
            </a:r>
            <a:r>
              <a:rPr lang="en-IN" dirty="0"/>
              <a:t>complex actions.</a:t>
            </a:r>
          </a:p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82B7EFC1-3B9C-C528-77C2-121BFE1793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105022"/>
              </p:ext>
            </p:extLst>
          </p:nvPr>
        </p:nvGraphicFramePr>
        <p:xfrm>
          <a:off x="1956586" y="2793039"/>
          <a:ext cx="8128000" cy="312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466">
                  <a:extLst>
                    <a:ext uri="{9D8B030D-6E8A-4147-A177-3AD203B41FA5}">
                      <a16:colId xmlns:a16="http://schemas.microsoft.com/office/drawing/2014/main" xmlns="" val="859383881"/>
                    </a:ext>
                  </a:extLst>
                </a:gridCol>
                <a:gridCol w="6549534">
                  <a:extLst>
                    <a:ext uri="{9D8B030D-6E8A-4147-A177-3AD203B41FA5}">
                      <a16:colId xmlns:a16="http://schemas.microsoft.com/office/drawing/2014/main" xmlns="" val="40291735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60607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binary_search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Performs a binary search on an ordered sequence.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43868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count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the number of elements in the sequence beginning at</a:t>
                      </a:r>
                    </a:p>
                    <a:p>
                      <a:r>
                        <a:rPr lang="en-US" sz="1800" b="0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start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and ending at </a:t>
                      </a:r>
                      <a:r>
                        <a:rPr lang="en-US" sz="1800" b="0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end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that match </a:t>
                      </a:r>
                      <a:r>
                        <a:rPr lang="en-US" sz="1800" b="0" i="1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4545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find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Searches a range for a value and returns an iterator to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first occurrence of the element.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52913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max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the maximum of two values.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78179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sort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Sorts a range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6711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swap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Exchanges two values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44568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9045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5D977BC6-D812-8A9C-6A73-4255DE65D742}"/>
              </a:ext>
            </a:extLst>
          </p:cNvPr>
          <p:cNvSpPr/>
          <p:nvPr/>
        </p:nvSpPr>
        <p:spPr>
          <a:xfrm>
            <a:off x="496111" y="856035"/>
            <a:ext cx="3200400" cy="50000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//#Sorting#</a:t>
            </a:r>
          </a:p>
          <a:p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#include&lt;iostream&gt;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#include&lt;vector&gt;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#include&lt;algorithm&gt;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using namespace std;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int main() {</a:t>
            </a:r>
          </a:p>
          <a:p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vector &lt;int&gt; v ={8, 1, 7, 4};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vector &lt;int&gt; :: iterator it;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for(it = v.begin(); it!= </a:t>
            </a:r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v.end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(); it++) 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{ </a:t>
            </a:r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&lt;&lt;*it&lt;&lt;" "; }</a:t>
            </a:r>
          </a:p>
          <a:p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&lt;&lt;</a:t>
            </a:r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endl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IN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sort(v.begin(), </a:t>
            </a:r>
            <a:r>
              <a:rPr lang="en-IN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v.end</a:t>
            </a:r>
            <a:r>
              <a:rPr lang="en-IN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());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for(it = v.begin(); it!= </a:t>
            </a:r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v.end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(); it++) 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{ </a:t>
            </a:r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&lt;&lt;*it&lt;&lt;" "; }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	return 0;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92D00528-F3A9-424F-B41E-8C0908D47860}"/>
              </a:ext>
            </a:extLst>
          </p:cNvPr>
          <p:cNvSpPr/>
          <p:nvPr/>
        </p:nvSpPr>
        <p:spPr>
          <a:xfrm>
            <a:off x="1506166" y="5856051"/>
            <a:ext cx="1180289" cy="964189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Output:</a:t>
            </a:r>
          </a:p>
          <a:p>
            <a:pPr algn="ctr"/>
            <a:r>
              <a:rPr lang="en-IN" dirty="0"/>
              <a:t>8 1 4 7</a:t>
            </a:r>
          </a:p>
          <a:p>
            <a:pPr algn="ctr"/>
            <a:r>
              <a:rPr lang="en-IN" dirty="0"/>
              <a:t>1 4 7 8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AF64E84F-33D2-92E6-53E4-0DCC63BE2B4B}"/>
              </a:ext>
            </a:extLst>
          </p:cNvPr>
          <p:cNvSpPr/>
          <p:nvPr/>
        </p:nvSpPr>
        <p:spPr>
          <a:xfrm>
            <a:off x="6712085" y="856036"/>
            <a:ext cx="4902741" cy="47665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//#Binary search#</a:t>
            </a:r>
          </a:p>
          <a:p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#include&lt;iostream&gt;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#include&lt;vector&gt;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#include&lt;algorithm&gt;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using namespace std;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int main() {</a:t>
            </a:r>
          </a:p>
          <a:p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vector &lt;int&gt; v {1, 2, 3, 4}; // v must be sorted</a:t>
            </a:r>
          </a:p>
          <a:p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&lt;&lt;</a:t>
            </a:r>
            <a:r>
              <a:rPr lang="en-US" sz="16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binary_search</a:t>
            </a:r>
            <a:r>
              <a:rPr lang="en-US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v.begin</a:t>
            </a:r>
            <a:r>
              <a:rPr lang="en-US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(), </a:t>
            </a:r>
            <a:r>
              <a:rPr lang="en-US" sz="16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v.end</a:t>
            </a:r>
            <a:r>
              <a:rPr lang="en-US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(), 10);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&lt;&lt;</a:t>
            </a:r>
            <a:r>
              <a:rPr lang="en-US" sz="16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binary_search</a:t>
            </a:r>
            <a:r>
              <a:rPr lang="en-US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v.begin</a:t>
            </a:r>
            <a:r>
              <a:rPr lang="en-US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(), </a:t>
            </a:r>
            <a:r>
              <a:rPr lang="en-US" sz="16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v.end</a:t>
            </a:r>
            <a:r>
              <a:rPr lang="en-US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(), 4);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return 0;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xmlns="" id="{9C34139F-17FC-9A51-F05A-B7CFF6F5A885}"/>
              </a:ext>
            </a:extLst>
          </p:cNvPr>
          <p:cNvSpPr/>
          <p:nvPr/>
        </p:nvSpPr>
        <p:spPr>
          <a:xfrm>
            <a:off x="8341468" y="5622588"/>
            <a:ext cx="2796702" cy="964189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Output:</a:t>
            </a:r>
          </a:p>
          <a:p>
            <a:pPr algn="ctr"/>
            <a:r>
              <a:rPr lang="en-IN" dirty="0"/>
              <a:t>0 </a:t>
            </a:r>
          </a:p>
          <a:p>
            <a:pPr algn="ctr"/>
            <a:r>
              <a:rPr lang="en-IN" dirty="0"/>
              <a:t>1 </a:t>
            </a:r>
          </a:p>
        </p:txBody>
      </p:sp>
    </p:spTree>
    <p:extLst>
      <p:ext uri="{BB962C8B-B14F-4D97-AF65-F5344CB8AC3E}">
        <p14:creationId xmlns:p14="http://schemas.microsoft.com/office/powerpoint/2010/main" val="3471035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660B5D-5076-EA3E-C323-2AED8913B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436258" cy="841506"/>
          </a:xfrm>
        </p:spPr>
        <p:txBody>
          <a:bodyPr/>
          <a:lstStyle/>
          <a:p>
            <a:r>
              <a:rPr lang="en-IN" dirty="0"/>
              <a:t>Function to objects (Functors)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1905734-F5C8-516E-AC33-7D16E8F31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6279" y="1206632"/>
            <a:ext cx="10219441" cy="131350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functor</a:t>
            </a:r>
            <a:r>
              <a:rPr lang="en-US" dirty="0"/>
              <a:t> (also called a </a:t>
            </a:r>
            <a:r>
              <a:rPr lang="en-US" b="1" dirty="0"/>
              <a:t>function object</a:t>
            </a:r>
            <a:r>
              <a:rPr lang="en-US" dirty="0"/>
              <a:t>) is </a:t>
            </a:r>
            <a:r>
              <a:rPr lang="en-US" b="1" dirty="0"/>
              <a:t>an object that can be called like a function</a:t>
            </a:r>
            <a:r>
              <a:rPr lang="en-US" dirty="0"/>
              <a:t>.</a:t>
            </a:r>
          </a:p>
          <a:p>
            <a:r>
              <a:rPr lang="en-US" dirty="0"/>
              <a:t>This is done by </a:t>
            </a:r>
            <a:r>
              <a:rPr lang="en-US" b="1" dirty="0"/>
              <a:t>overloading the operator()</a:t>
            </a:r>
            <a:r>
              <a:rPr lang="en-US" dirty="0"/>
              <a:t> inside a class.</a:t>
            </a:r>
          </a:p>
          <a:p>
            <a:pPr marL="457200" lvl="1" indent="0">
              <a:buNone/>
            </a:pPr>
            <a:endParaRPr lang="en-IN" dirty="0"/>
          </a:p>
          <a:p>
            <a:pPr lvl="1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E0D49CD5-A022-DA98-7D89-B4A319D7C1FD}"/>
              </a:ext>
            </a:extLst>
          </p:cNvPr>
          <p:cNvSpPr/>
          <p:nvPr/>
        </p:nvSpPr>
        <p:spPr>
          <a:xfrm>
            <a:off x="688158" y="2520133"/>
            <a:ext cx="4769961" cy="3871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class Descending {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    public: 	 bool operator()(int a, int b) {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        return a &gt; b;  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    } };</a:t>
            </a:r>
          </a:p>
          <a:p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int main() {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Descending D;   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 vector&lt;int&gt; v = {8, 2, 4, 6};	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	sort(</a:t>
            </a:r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v.begin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(), </a:t>
            </a:r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v.end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());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    	for (int x : v) </a:t>
            </a:r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 &lt;&lt; x &lt;&lt; " ";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&lt;&lt;</a:t>
            </a:r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endl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sort(</a:t>
            </a:r>
            <a:r>
              <a:rPr lang="en-IN" sz="16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v.begin</a:t>
            </a:r>
            <a:r>
              <a:rPr lang="en-IN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(), </a:t>
            </a:r>
            <a:r>
              <a:rPr lang="en-IN" sz="16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v.end</a:t>
            </a:r>
            <a:r>
              <a:rPr lang="en-IN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(), D);</a:t>
            </a:r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    for (int x : v) </a:t>
            </a:r>
            <a:r>
              <a:rPr lang="en-IN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 &lt;&lt; x &lt;&lt; " ";</a:t>
            </a:r>
          </a:p>
          <a:p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xmlns="" id="{DB33423A-844C-303B-C5C6-3BB8372DF347}"/>
              </a:ext>
            </a:extLst>
          </p:cNvPr>
          <p:cNvSpPr/>
          <p:nvPr/>
        </p:nvSpPr>
        <p:spPr>
          <a:xfrm>
            <a:off x="5458119" y="5458120"/>
            <a:ext cx="3355943" cy="933254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Output:</a:t>
            </a:r>
          </a:p>
          <a:p>
            <a:pPr algn="ctr"/>
            <a:r>
              <a:rPr lang="en-IN" dirty="0"/>
              <a:t>2 4 6 8</a:t>
            </a:r>
          </a:p>
          <a:p>
            <a:pPr algn="ctr"/>
            <a:r>
              <a:rPr lang="en-IN" dirty="0"/>
              <a:t>8 6 4 2 </a:t>
            </a:r>
          </a:p>
        </p:txBody>
      </p:sp>
    </p:spTree>
    <p:extLst>
      <p:ext uri="{BB962C8B-B14F-4D97-AF65-F5344CB8AC3E}">
        <p14:creationId xmlns:p14="http://schemas.microsoft.com/office/powerpoint/2010/main" val="4173628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3361</TotalTime>
  <Words>1057</Words>
  <Application>Microsoft Office PowerPoint</Application>
  <PresentationFormat>Custom</PresentationFormat>
  <Paragraphs>294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Standard Template Library (STL)</vt:lpstr>
      <vt:lpstr>Introduction </vt:lpstr>
      <vt:lpstr>Containers: </vt:lpstr>
      <vt:lpstr>Algorithms</vt:lpstr>
      <vt:lpstr>Iterators:</vt:lpstr>
      <vt:lpstr>Vectors</vt:lpstr>
      <vt:lpstr>PowerPoint Presentation</vt:lpstr>
      <vt:lpstr>List</vt:lpstr>
      <vt:lpstr>PowerPoint Presentation</vt:lpstr>
      <vt:lpstr>Stack </vt:lpstr>
      <vt:lpstr>Deque</vt:lpstr>
      <vt:lpstr>Algorithms</vt:lpstr>
      <vt:lpstr>PowerPoint Presentation</vt:lpstr>
      <vt:lpstr>Function to objects (Functors)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Template Library (STL)</dc:title>
  <dc:creator>HIMANSHU GAUTTAM</dc:creator>
  <cp:lastModifiedBy>Windows User</cp:lastModifiedBy>
  <cp:revision>102</cp:revision>
  <dcterms:created xsi:type="dcterms:W3CDTF">2025-11-12T05:26:54Z</dcterms:created>
  <dcterms:modified xsi:type="dcterms:W3CDTF">2025-12-10T19:52:00Z</dcterms:modified>
</cp:coreProperties>
</file>