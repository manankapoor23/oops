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00" r:id="rId2"/>
    <p:sldId id="257" r:id="rId3"/>
    <p:sldId id="288" r:id="rId4"/>
    <p:sldId id="263" r:id="rId5"/>
    <p:sldId id="264" r:id="rId6"/>
    <p:sldId id="301" r:id="rId7"/>
    <p:sldId id="280" r:id="rId8"/>
    <p:sldId id="266" r:id="rId9"/>
    <p:sldId id="281" r:id="rId10"/>
    <p:sldId id="289" r:id="rId11"/>
    <p:sldId id="290" r:id="rId12"/>
    <p:sldId id="267" r:id="rId13"/>
    <p:sldId id="268" r:id="rId14"/>
    <p:sldId id="298" r:id="rId15"/>
    <p:sldId id="299" r:id="rId16"/>
    <p:sldId id="302" r:id="rId17"/>
    <p:sldId id="293" r:id="rId18"/>
    <p:sldId id="295" r:id="rId19"/>
    <p:sldId id="297" r:id="rId20"/>
    <p:sldId id="294" r:id="rId21"/>
    <p:sldId id="282" r:id="rId22"/>
    <p:sldId id="283" r:id="rId23"/>
    <p:sldId id="303" r:id="rId24"/>
    <p:sldId id="304" r:id="rId25"/>
    <p:sldId id="305" r:id="rId26"/>
    <p:sldId id="29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413" autoAdjust="0"/>
    <p:restoredTop sz="94660"/>
  </p:normalViewPr>
  <p:slideViewPr>
    <p:cSldViewPr>
      <p:cViewPr varScale="1">
        <p:scale>
          <a:sx n="68" d="100"/>
          <a:sy n="68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739D4-B077-404A-8ADD-AF5FAA982EBB}" type="datetimeFigureOut">
              <a:rPr lang="en-US" smtClean="0"/>
              <a:pPr/>
              <a:t>1/16/2018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229F2-7453-4016-BBF3-7505EAF01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1014C-FFA6-488A-91CD-B4D91971395F}" type="datetimeFigureOut">
              <a:rPr lang="en-US" smtClean="0"/>
              <a:pPr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2057399"/>
          </a:xfrm>
          <a:ln w="254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Lecture 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4-7</a:t>
            </a:r>
            <a:r>
              <a:rPr lang="en-US" sz="5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 smtClean="0">
                <a:latin typeface="Times New Roman" pitchFamily="18" charset="0"/>
                <a:cs typeface="Times New Roman" pitchFamily="18" charset="0"/>
              </a:rPr>
              <a:t>Classes and Objects</a:t>
            </a:r>
            <a:endParaRPr lang="en-US" sz="5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3010" name="Picture 2" descr="Image result for C++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3505200"/>
            <a:ext cx="2590800" cy="2912492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Contents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Introduction to Classes and Objects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declaration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Creating Objects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Accessing Object Members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Defining Member Functions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Nesting of Member Function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Access Specifiers: Public 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Private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Nested Classes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 pitchFamily="34" charset="0"/>
                <a:cs typeface="Arial" pitchFamily="34" charset="0"/>
              </a:rPr>
              <a:t>Classes</a:t>
            </a:r>
          </a:p>
        </p:txBody>
      </p:sp>
      <p:sp>
        <p:nvSpPr>
          <p:cNvPr id="615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Different from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structures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Adds member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functions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Not just member data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Integral to object-oriented programming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Focus on objects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Object: Contains data and operations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In C++, variables of class type are objects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Specifying a Class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class is a way to bind the data and its associated functions together.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class specification has 2 parts:</a:t>
            </a:r>
          </a:p>
          <a:p>
            <a:pPr lvl="1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declaration</a:t>
            </a:r>
          </a:p>
          <a:p>
            <a:pPr lvl="1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function definitions</a:t>
            </a:r>
          </a:p>
          <a:p>
            <a:pPr lvl="1"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Class declaration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describes type and scope of its members.</a:t>
            </a: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Class function definitions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describes how the class functions are implemented.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Autofit/>
          </a:bodyPr>
          <a:lstStyle/>
          <a:p>
            <a:pPr algn="l"/>
            <a:r>
              <a:rPr lang="en-US" sz="3600" b="1" dirty="0" smtClean="0">
                <a:latin typeface="Arial" pitchFamily="34" charset="0"/>
                <a:cs typeface="Arial" pitchFamily="34" charset="0"/>
              </a:rPr>
              <a:t>General form of Class declaration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752600"/>
            <a:ext cx="8664838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Data Hiding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9458" name="Picture 2" descr="Image result for data hiding in c++ class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828800"/>
            <a:ext cx="7010400" cy="4154312"/>
          </a:xfrm>
          <a:prstGeom prst="rect">
            <a:avLst/>
          </a:prstGeom>
          <a:noFill/>
        </p:spPr>
      </p:pic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sz="3600" b="1" dirty="0" smtClean="0">
                <a:latin typeface="Arial" pitchFamily="34" charset="0"/>
                <a:cs typeface="Arial" pitchFamily="34" charset="0"/>
              </a:rPr>
              <a:t>Difference between Structure and Class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By default, members of class are private, while, by default, members of structure are public.</a:t>
            </a:r>
          </a:p>
          <a:p>
            <a:pPr lvl="0" algn="just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Encapsulation</a:t>
            </a:r>
          </a:p>
          <a:p>
            <a:pPr lvl="0" algn="just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keywords public and private are known as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visibility labels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A Simple Class Example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1"/>
            <a:ext cx="3810000" cy="29717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lass item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{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buNone/>
            </a:pP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number;</a:t>
            </a:r>
          </a:p>
          <a:p>
            <a:pPr lvl="2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loat cost;</a:t>
            </a:r>
          </a:p>
          <a:p>
            <a:pPr lvl="1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public :</a:t>
            </a:r>
          </a:p>
          <a:p>
            <a:pPr lvl="2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oid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getdata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a, float b);</a:t>
            </a:r>
          </a:p>
          <a:p>
            <a:pPr lvl="2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oid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putdata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(void);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1447800"/>
            <a:ext cx="22860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1371600"/>
            <a:ext cx="260488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304800" y="4800600"/>
            <a:ext cx="838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Creating Objects: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item x;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Accessing Class Members: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Object_name.function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-name (actual-arguments);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x.getdata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(100, 75.5); 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x.putdata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 );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0" y="4343400"/>
            <a:ext cx="4419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Class Representation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 rot="5400000">
            <a:off x="1981200" y="3048000"/>
            <a:ext cx="350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0" y="48006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56388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Creating Objects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Objects can also be created as follows: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2209800"/>
            <a:ext cx="4495800" cy="3821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Memory Allocation for Objects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Memory space for objects is allocated when they are declared and not when the class is specified :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partially true.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Since all the objects belonging to that class use the same member functions, no separate space is allocated for member functions when the objects are created.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Only space for member variables is allocated separately for each object.  Because, member variables will hold different data values for different objects.</a:t>
            </a: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/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Example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399" y="1524000"/>
            <a:ext cx="8272221" cy="4648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Defining Member Functions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4572000" cy="1142999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20000"/>
              </a:lnSpc>
              <a:defRPr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Outside the class definition</a:t>
            </a:r>
          </a:p>
          <a:p>
            <a:pPr>
              <a:buNone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     When function is defined  outside class, it requires a prototype declaration in the class.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00600" y="1295401"/>
            <a:ext cx="4191000" cy="11429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Inside the class definition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700" dirty="0" smtClean="0">
                <a:latin typeface="Times New Roman" pitchFamily="18" charset="0"/>
                <a:cs typeface="Times New Roman" pitchFamily="18" charset="0"/>
              </a:rPr>
              <a:t>     When function is defined inside class, it does not require a prototype declaration in the class.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4191000"/>
            <a:ext cx="4114800" cy="2500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2362200"/>
            <a:ext cx="4572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Straight Connector 10"/>
          <p:cNvCxnSpPr/>
          <p:nvPr/>
        </p:nvCxnSpPr>
        <p:spPr>
          <a:xfrm rot="5400000">
            <a:off x="2020094" y="4075906"/>
            <a:ext cx="5562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0" y="2438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4114800"/>
            <a:ext cx="4800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2667000"/>
            <a:ext cx="3619500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Straight Connector 11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Inline Functions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18288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can define a member function outside the class definition and still make it inline by using the qualifier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inline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the header line of the function definition.</a:t>
            </a:r>
          </a:p>
          <a:p>
            <a:pPr algn="just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667000"/>
            <a:ext cx="7696200" cy="4038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Nesting of Member Functions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96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object of a class using dot operator generally calls a member function of the class.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However, a member function may also be called by using its name inside another member function of the same class.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is known as “Nesting of Member Functions”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Nesting of Member Functions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447799"/>
            <a:ext cx="7391400" cy="5188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Data Hiding Revisited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9458" name="Picture 2" descr="Image result for data hiding in c++ class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828800"/>
            <a:ext cx="7010400" cy="4154312"/>
          </a:xfrm>
          <a:prstGeom prst="rect">
            <a:avLst/>
          </a:prstGeom>
          <a:noFill/>
        </p:spPr>
      </p:pic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Access </a:t>
            </a:r>
            <a:r>
              <a:rPr lang="en-US" sz="3600" b="1" dirty="0" err="1" smtClean="0">
                <a:latin typeface="Arial" pitchFamily="34" charset="0"/>
                <a:cs typeface="Arial" pitchFamily="34" charset="0"/>
              </a:rPr>
              <a:t>Specifier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: Public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Public members are accessible outside the class.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Public members are accessible to both member Functions and non-member Functions. 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Objects can access the members directly using dot operator. E.g. </a:t>
            </a:r>
          </a:p>
          <a:p>
            <a:pPr lvl="1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object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name.public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data member </a:t>
            </a:r>
          </a:p>
          <a:p>
            <a:pPr lvl="1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object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name.public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member function </a:t>
            </a:r>
          </a:p>
          <a:p>
            <a:pPr algn="just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Access </a:t>
            </a:r>
            <a:r>
              <a:rPr lang="en-US" sz="3600" b="1" dirty="0" err="1" smtClean="0">
                <a:latin typeface="Arial" pitchFamily="34" charset="0"/>
                <a:cs typeface="Arial" pitchFamily="34" charset="0"/>
              </a:rPr>
              <a:t>Specifier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: Public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447800"/>
            <a:ext cx="7086600" cy="525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Connector 7"/>
          <p:cNvCxnSpPr/>
          <p:nvPr/>
        </p:nvCxnSpPr>
        <p:spPr>
          <a:xfrm>
            <a:off x="914400" y="2895600"/>
            <a:ext cx="609600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Access </a:t>
            </a:r>
            <a:r>
              <a:rPr lang="en-US" sz="3600" b="1" dirty="0" err="1" smtClean="0">
                <a:latin typeface="Arial" pitchFamily="34" charset="0"/>
                <a:cs typeface="Arial" pitchFamily="34" charset="0"/>
              </a:rPr>
              <a:t>Specifier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: Private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Private Members can only be accessed by the member functions of that class.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cannot be accessed by any non member functions (data is hidden from outside world).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Object of a class cannot access private members using dot operators.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data at the beginning of a class is by default private, until any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specifier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mentioned.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Access </a:t>
            </a:r>
            <a:r>
              <a:rPr lang="en-US" sz="3600" b="1" dirty="0" err="1" smtClean="0">
                <a:latin typeface="Arial" pitchFamily="34" charset="0"/>
                <a:cs typeface="Arial" pitchFamily="34" charset="0"/>
              </a:rPr>
              <a:t>Specifier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: Private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524000"/>
            <a:ext cx="7086600" cy="491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Private Member Functions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524000"/>
            <a:ext cx="789598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Private Member Functions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28800"/>
            <a:ext cx="8458200" cy="381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class is declared within another class.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outer class is called enclosing class and inner class is called the nested class.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nested class is a member and as such has the same access rights as any other member.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members of an enclosing class have no special access to members of a nested class; the usual access rules shall be obeyed.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Nested Classes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228600" y="1524000"/>
            <a:ext cx="8763000" cy="5016758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#include&lt;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iostream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&gt;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using namespace std;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class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Enclosing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		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/* start of Enclosing class declaration */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{	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x;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class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Nested 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	{              			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/* start of Nested class declaration */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    	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y;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   	 void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NestedFun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Enclosing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e)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   	 {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	    	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cout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&lt;&lt;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e.x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; 	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// works fine: nested class can access 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				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// private members of Enclosing class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   	 }	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}; 				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// declaration Nested class ends here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}; 					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// declaration Enclosing class ends here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main(){}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Nested Classes Example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Nested Classes Example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52400" y="1524000"/>
            <a:ext cx="8839200" cy="4708981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#include&lt;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iostream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&gt;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using namespace std;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class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Enclosing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		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/* start of Enclosing class declaration */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{	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x;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class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Nested 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	{              			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/* start of Nested class declaration */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    	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y; </a:t>
            </a:r>
          </a:p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};				</a:t>
            </a:r>
            <a:r>
              <a:rPr lang="en-US" sz="2000" dirty="0" smtClean="0">
                <a:solidFill>
                  <a:schemeClr val="accent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// declaration Nested class ends here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void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EnclosingFun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Nested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n)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{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	    	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cout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&lt;&lt;</a:t>
            </a:r>
            <a:r>
              <a:rPr lang="en-US" sz="2000" b="1" dirty="0" err="1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; 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</a:t>
            </a:r>
            <a:r>
              <a:rPr lang="en-US" sz="2000" b="1" dirty="0" smtClean="0">
                <a:solidFill>
                  <a:srgbClr val="00B05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// </a:t>
            </a:r>
            <a:r>
              <a:rPr lang="en-US" sz="2000" b="1" dirty="0" smtClean="0">
                <a:solidFill>
                  <a:srgbClr val="00B05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Compiler Error: y is private in Nested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 }	 			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}; 					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// declaration Enclosing class ends here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main(){}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641</Words>
  <Application>Microsoft Office PowerPoint</Application>
  <PresentationFormat>On-screen Show (4:3)</PresentationFormat>
  <Paragraphs>134</Paragraphs>
  <Slides>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Lecture 4-7 Classes and Objects</vt:lpstr>
      <vt:lpstr>Contents</vt:lpstr>
      <vt:lpstr>Classes</vt:lpstr>
      <vt:lpstr>Specifying a Class</vt:lpstr>
      <vt:lpstr>General form of Class declaration</vt:lpstr>
      <vt:lpstr>Data Hiding</vt:lpstr>
      <vt:lpstr>Difference between Structure and Class</vt:lpstr>
      <vt:lpstr>A Simple Class Example</vt:lpstr>
      <vt:lpstr>Creating Objects</vt:lpstr>
      <vt:lpstr>Memory Allocation for Objects</vt:lpstr>
      <vt:lpstr>Example</vt:lpstr>
      <vt:lpstr>Defining Member Functions</vt:lpstr>
      <vt:lpstr>Inline Functions</vt:lpstr>
      <vt:lpstr>Nesting of Member Functions</vt:lpstr>
      <vt:lpstr>Nesting of Member Functions</vt:lpstr>
      <vt:lpstr>Data Hiding Revisited</vt:lpstr>
      <vt:lpstr>Access Specifier: Public</vt:lpstr>
      <vt:lpstr>Access Specifier: Public</vt:lpstr>
      <vt:lpstr>Access Specifier: Private</vt:lpstr>
      <vt:lpstr>Access Specifier: Private</vt:lpstr>
      <vt:lpstr>Private Member Functions</vt:lpstr>
      <vt:lpstr>Private Member Functions</vt:lpstr>
      <vt:lpstr>Nested Classes</vt:lpstr>
      <vt:lpstr>Nested Classes Example</vt:lpstr>
      <vt:lpstr>Nested Classes Example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com</dc:creator>
  <cp:lastModifiedBy>com</cp:lastModifiedBy>
  <cp:revision>105</cp:revision>
  <dcterms:created xsi:type="dcterms:W3CDTF">2015-08-02T14:02:11Z</dcterms:created>
  <dcterms:modified xsi:type="dcterms:W3CDTF">2018-01-16T14:17:09Z</dcterms:modified>
</cp:coreProperties>
</file>