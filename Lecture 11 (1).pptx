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3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572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ABEF2-F5AE-4179-904E-8EE3C23C578C}" type="datetimeFigureOut">
              <a:rPr lang="en-GB" smtClean="0"/>
              <a:pPr/>
              <a:t>05/02/2018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4E35B-2CEC-4717-BF1F-57203B89FF71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4A39D-237C-498C-AC5E-F23361E3673F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DEFC-31D3-412A-851F-315222646856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72C80-88E8-4D0B-ADA3-5649BAB0143D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BE83-8999-4436-B4DE-ECA5F4BCBE04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B0962-445C-4336-8B9B-090E74871DEE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7D39-3934-4BF9-9DA4-A9926E596CBB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6298-9D37-4129-A51A-BBFD049DC91E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98FBC-8594-43CA-9213-13E87ED89FA6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011E6-196E-49C1-AABF-156BDDFC0779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95538-566C-4A33-BD09-4CB0A2B1B6F6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96752"/>
            <a:ext cx="91440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67082-57FA-45BC-8166-43D7D7FAB04F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Lecture 11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60363" indent="-360363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Dynamic Memory </a:t>
            </a:r>
            <a:r>
              <a:rPr lang="en-US" dirty="0" smtClean="0">
                <a:solidFill>
                  <a:schemeClr val="tx1"/>
                </a:solidFill>
              </a:rPr>
              <a:t>Allocation</a:t>
            </a:r>
          </a:p>
          <a:p>
            <a:pPr marL="360363" indent="-360363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Reference </a:t>
            </a:r>
            <a:r>
              <a:rPr lang="en-US" dirty="0">
                <a:solidFill>
                  <a:schemeClr val="tx1"/>
                </a:solidFill>
              </a:rPr>
              <a:t>Variables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256F-B2F2-4282-B313-17C0DB93045B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Dynamic Allocation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 smtClean="0"/>
              <a:t>new </a:t>
            </a:r>
          </a:p>
          <a:p>
            <a:pPr lvl="1"/>
            <a:r>
              <a:rPr lang="en-US" sz="3200" dirty="0" smtClean="0"/>
              <a:t>Allocates memory and returns a pointer to the start of it. Let </a:t>
            </a:r>
            <a:r>
              <a:rPr lang="en-US" sz="3200" b="1" i="1" dirty="0" err="1" smtClean="0"/>
              <a:t>p_var</a:t>
            </a:r>
            <a:r>
              <a:rPr lang="en-US" sz="3200" dirty="0" smtClean="0"/>
              <a:t> is a pointer variable of any data type </a:t>
            </a:r>
            <a:r>
              <a:rPr lang="en-US" sz="3200" b="1" i="1" dirty="0" err="1" smtClean="0"/>
              <a:t>type</a:t>
            </a:r>
            <a:r>
              <a:rPr lang="en-US" sz="3200" b="1" i="1" dirty="0" smtClean="0"/>
              <a:t>, </a:t>
            </a:r>
            <a:r>
              <a:rPr lang="en-US" sz="3200" dirty="0" smtClean="0"/>
              <a:t>then</a:t>
            </a:r>
            <a:endParaRPr lang="en-US" sz="3200" b="1" i="1" dirty="0" smtClean="0"/>
          </a:p>
          <a:p>
            <a:pPr lvl="1" algn="ctr">
              <a:buNone/>
            </a:pPr>
            <a:r>
              <a:rPr lang="en-US" sz="3200" dirty="0" err="1" smtClean="0"/>
              <a:t>p_var</a:t>
            </a:r>
            <a:r>
              <a:rPr lang="en-US" sz="3200" dirty="0" smtClean="0"/>
              <a:t> = </a:t>
            </a:r>
            <a:r>
              <a:rPr lang="en-US" sz="3200" b="1" dirty="0" smtClean="0"/>
              <a:t>new</a:t>
            </a:r>
            <a:r>
              <a:rPr lang="en-US" sz="3200" dirty="0" smtClean="0"/>
              <a:t> type;</a:t>
            </a:r>
          </a:p>
          <a:p>
            <a:endParaRPr lang="en-US" sz="2400" b="1" dirty="0" smtClean="0"/>
          </a:p>
          <a:p>
            <a:r>
              <a:rPr lang="en-US" b="1" dirty="0" smtClean="0"/>
              <a:t>delete</a:t>
            </a:r>
          </a:p>
          <a:p>
            <a:pPr lvl="1"/>
            <a:r>
              <a:rPr lang="en-US" sz="3200" dirty="0" smtClean="0"/>
              <a:t>Frees memory previously allocated using </a:t>
            </a:r>
            <a:r>
              <a:rPr lang="en-US" sz="3200" b="1" dirty="0" smtClean="0"/>
              <a:t>new</a:t>
            </a:r>
            <a:r>
              <a:rPr lang="en-US" sz="3200" dirty="0" smtClean="0"/>
              <a:t>.</a:t>
            </a:r>
          </a:p>
          <a:p>
            <a:pPr lvl="1" algn="ctr">
              <a:buNone/>
            </a:pPr>
            <a:r>
              <a:rPr lang="en-US" sz="3200" b="1" dirty="0" smtClean="0"/>
              <a:t>delete</a:t>
            </a:r>
            <a:r>
              <a:rPr lang="en-US" sz="3200" dirty="0" smtClean="0"/>
              <a:t> </a:t>
            </a:r>
            <a:r>
              <a:rPr lang="en-US" sz="3200" dirty="0" err="1" smtClean="0"/>
              <a:t>p_var</a:t>
            </a:r>
            <a:r>
              <a:rPr lang="en-US" sz="3200" dirty="0" smtClean="0"/>
              <a:t>;</a:t>
            </a:r>
            <a:endParaRPr lang="en-IN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80FD1-38BE-4B4B-8C2F-9A661EDA720E}" type="datetime1">
              <a:rPr lang="en-US" smtClean="0"/>
              <a:pPr/>
              <a:t>2/5/2018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UTA009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Example –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#include&lt;</a:t>
            </a:r>
            <a:r>
              <a:rPr lang="en-US" b="1" dirty="0" err="1" smtClean="0"/>
              <a:t>iostream</a:t>
            </a:r>
            <a:r>
              <a:rPr lang="en-US" b="1" dirty="0" smtClean="0"/>
              <a:t>&gt;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err="1" smtClean="0"/>
              <a:t>int</a:t>
            </a:r>
            <a:r>
              <a:rPr lang="en-US" b="1" dirty="0" smtClean="0"/>
              <a:t> main()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{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  </a:t>
            </a:r>
            <a:r>
              <a:rPr lang="en-US" b="1" dirty="0" err="1" smtClean="0"/>
              <a:t>int</a:t>
            </a:r>
            <a:r>
              <a:rPr lang="en-US" b="1" dirty="0" smtClean="0"/>
              <a:t> *p;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  p = new </a:t>
            </a:r>
            <a:r>
              <a:rPr lang="en-US" b="1" dirty="0" err="1" smtClean="0"/>
              <a:t>int</a:t>
            </a:r>
            <a:r>
              <a:rPr lang="en-US" b="1" dirty="0" smtClean="0"/>
              <a:t>(87);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  </a:t>
            </a:r>
            <a:r>
              <a:rPr lang="en-US" b="1" dirty="0" err="1" smtClean="0"/>
              <a:t>cout</a:t>
            </a:r>
            <a:r>
              <a:rPr lang="en-US" b="1" dirty="0" smtClean="0"/>
              <a:t> &lt;&lt; "Value is: " &lt;&lt; *p;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  delete p;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  return 0;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} 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92865-540B-4804-8AEB-0BD9B2B89588}" type="datetime1">
              <a:rPr lang="en-US" smtClean="0"/>
              <a:pPr/>
              <a:t>2/5/2018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UTA009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3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Example – 2 (Dynamic Arrays)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93A1-6648-4BE0-897D-4C1BE07EA353}" type="datetime1">
              <a:rPr lang="en-US" smtClean="0"/>
              <a:pPr/>
              <a:t>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UTA009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72375-96E0-4DBB-B3D7-B1489209CDB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#include &lt;</a:t>
            </a:r>
            <a:r>
              <a:rPr lang="en-US" sz="2400" b="1" dirty="0" err="1" smtClean="0"/>
              <a:t>iostream</a:t>
            </a:r>
            <a:r>
              <a:rPr lang="en-US" sz="2400" b="1" dirty="0" smtClean="0"/>
              <a:t>&gt;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using namespace std; 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err="1" smtClean="0"/>
              <a:t>int</a:t>
            </a:r>
            <a:r>
              <a:rPr lang="en-US" sz="2400" b="1" dirty="0" smtClean="0"/>
              <a:t> main () 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{  	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, n, *p; 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  	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 &lt;&lt; "How many numbers would you like to type? ";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  	</a:t>
            </a:r>
            <a:r>
              <a:rPr lang="en-US" sz="2400" b="1" dirty="0" err="1" smtClean="0"/>
              <a:t>cin</a:t>
            </a:r>
            <a:r>
              <a:rPr lang="en-US" sz="2400" b="1" dirty="0" smtClean="0"/>
              <a:t> &gt;&gt; n;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  	p = new 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[n]; 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  	for (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 = 0; 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 &lt; n; 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++) 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  	{    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 &lt;&lt; "Enter number: ";     </a:t>
            </a:r>
            <a:r>
              <a:rPr lang="en-US" sz="2400" b="1" dirty="0" err="1" smtClean="0"/>
              <a:t>cin</a:t>
            </a:r>
            <a:r>
              <a:rPr lang="en-US" sz="2400" b="1" dirty="0" smtClean="0"/>
              <a:t> &gt;&gt; p[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];  } 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  	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 &lt;&lt; "You have entered: "; 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  	for (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 = 0; 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 &lt; n; 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++)     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 &lt;&lt; p[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] &lt;&lt; " "; 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  	delete[] p; 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  	return 0;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 smtClean="0"/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627784" y="3068960"/>
            <a:ext cx="5976664" cy="31683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Some points…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 case of insufficient memory, new returns  null pointer.</a:t>
            </a:r>
          </a:p>
          <a:p>
            <a:r>
              <a:rPr lang="en-GB" dirty="0" smtClean="0"/>
              <a:t>So check for the pointer produced by new before using it.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587739" y="2780928"/>
            <a:ext cx="616072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smtClean="0"/>
              <a:t>…..</a:t>
            </a:r>
          </a:p>
          <a:p>
            <a:r>
              <a:rPr lang="en-GB" sz="3200" dirty="0" smtClean="0"/>
              <a:t>…..</a:t>
            </a:r>
          </a:p>
          <a:p>
            <a:r>
              <a:rPr lang="en-GB" sz="3200" dirty="0" smtClean="0"/>
              <a:t>p = new </a:t>
            </a:r>
            <a:r>
              <a:rPr lang="en-GB" sz="3200" dirty="0" err="1" smtClean="0"/>
              <a:t>int</a:t>
            </a:r>
            <a:r>
              <a:rPr lang="en-GB" sz="3200" dirty="0" smtClean="0"/>
              <a:t>;</a:t>
            </a:r>
          </a:p>
          <a:p>
            <a:r>
              <a:rPr lang="en-GB" sz="3200" dirty="0" smtClean="0"/>
              <a:t>If(!p)</a:t>
            </a:r>
          </a:p>
          <a:p>
            <a:r>
              <a:rPr lang="en-GB" sz="3200" dirty="0"/>
              <a:t>	</a:t>
            </a:r>
            <a:r>
              <a:rPr lang="en-GB" sz="3200" dirty="0" smtClean="0"/>
              <a:t>count &lt;&lt; "Allocation failed\n";</a:t>
            </a:r>
          </a:p>
          <a:p>
            <a:r>
              <a:rPr lang="en-GB" sz="3200" dirty="0" smtClean="0"/>
              <a:t>…..</a:t>
            </a:r>
          </a:p>
          <a:p>
            <a:r>
              <a:rPr lang="en-GB" sz="3200" dirty="0" smtClean="0"/>
              <a:t>…..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Advantages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en-GB" dirty="0" smtClean="0"/>
              <a:t>Automatically computes size of the data object, no need to use </a:t>
            </a:r>
            <a:r>
              <a:rPr lang="en-GB" dirty="0" err="1" smtClean="0"/>
              <a:t>sizeof</a:t>
            </a:r>
            <a:r>
              <a:rPr lang="en-GB" dirty="0" smtClean="0"/>
              <a:t> operator.</a:t>
            </a:r>
          </a:p>
          <a:p>
            <a:pPr>
              <a:spcBef>
                <a:spcPts val="2400"/>
              </a:spcBef>
            </a:pPr>
            <a:r>
              <a:rPr lang="en-GB" dirty="0" smtClean="0"/>
              <a:t>Automatically returns correct pointer type, no need to use type cast.</a:t>
            </a:r>
          </a:p>
          <a:p>
            <a:pPr>
              <a:spcBef>
                <a:spcPts val="2400"/>
              </a:spcBef>
            </a:pPr>
            <a:r>
              <a:rPr lang="en-GB" dirty="0" smtClean="0"/>
              <a:t>Possible to initialize the object during the memory space creation.</a:t>
            </a:r>
          </a:p>
          <a:p>
            <a:pPr>
              <a:spcBef>
                <a:spcPts val="2400"/>
              </a:spcBef>
            </a:pPr>
            <a:r>
              <a:rPr lang="en-GB" dirty="0" smtClean="0"/>
              <a:t>New and delete can be overloaded.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Reference variable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It provides an alias, an alternative name, for a previously defined variable.</a:t>
            </a:r>
          </a:p>
          <a:p>
            <a:r>
              <a:rPr lang="en-GB" dirty="0" smtClean="0"/>
              <a:t>Syntax:</a:t>
            </a:r>
          </a:p>
          <a:p>
            <a:pPr algn="ctr">
              <a:buNone/>
            </a:pPr>
            <a:r>
              <a:rPr lang="en-GB" dirty="0" smtClean="0"/>
              <a:t>data-type &amp;reference-name = variable-name</a:t>
            </a:r>
          </a:p>
          <a:p>
            <a:r>
              <a:rPr lang="en-GB" dirty="0" smtClean="0"/>
              <a:t>Must be initialized at the time of declaration.</a:t>
            </a:r>
          </a:p>
          <a:p>
            <a:r>
              <a:rPr lang="en-GB" dirty="0" smtClean="0"/>
              <a:t>Example: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7</a:t>
            </a:fld>
            <a:endParaRPr lang="en-GB"/>
          </a:p>
        </p:txBody>
      </p:sp>
      <p:grpSp>
        <p:nvGrpSpPr>
          <p:cNvPr id="15" name="Group 14"/>
          <p:cNvGrpSpPr/>
          <p:nvPr/>
        </p:nvGrpSpPr>
        <p:grpSpPr>
          <a:xfrm>
            <a:off x="1259632" y="4653136"/>
            <a:ext cx="6624736" cy="1569660"/>
            <a:chOff x="1115616" y="4653136"/>
            <a:chExt cx="6624736" cy="1569660"/>
          </a:xfrm>
        </p:grpSpPr>
        <p:sp>
          <p:nvSpPr>
            <p:cNvPr id="13" name="TextBox 12"/>
            <p:cNvSpPr txBox="1"/>
            <p:nvPr/>
          </p:nvSpPr>
          <p:spPr>
            <a:xfrm>
              <a:off x="5170994" y="4653136"/>
              <a:ext cx="2569358" cy="15696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3200" dirty="0" err="1" smtClean="0"/>
                <a:t>int</a:t>
              </a:r>
              <a:r>
                <a:rPr lang="en-GB" sz="3200" dirty="0" smtClean="0"/>
                <a:t> n[10];</a:t>
              </a:r>
            </a:p>
            <a:p>
              <a:r>
                <a:rPr lang="en-GB" sz="3200" dirty="0" err="1"/>
                <a:t>i</a:t>
              </a:r>
              <a:r>
                <a:rPr lang="en-GB" sz="3200" dirty="0" err="1" smtClean="0"/>
                <a:t>nt</a:t>
              </a:r>
              <a:r>
                <a:rPr lang="en-GB" sz="3200" dirty="0" smtClean="0"/>
                <a:t> &amp;x = n[10];</a:t>
              </a:r>
            </a:p>
            <a:p>
              <a:r>
                <a:rPr lang="en-GB" sz="3200" dirty="0" smtClean="0"/>
                <a:t>char &amp;a = '\n';</a:t>
              </a:r>
              <a:endParaRPr lang="en-GB" sz="32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15616" y="4653136"/>
              <a:ext cx="2255169" cy="15696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3200" dirty="0" err="1" smtClean="0"/>
                <a:t>int</a:t>
              </a:r>
              <a:r>
                <a:rPr lang="en-GB" sz="3200" dirty="0" smtClean="0"/>
                <a:t> x;</a:t>
              </a:r>
            </a:p>
            <a:p>
              <a:r>
                <a:rPr lang="en-GB" sz="3200" dirty="0" err="1"/>
                <a:t>i</a:t>
              </a:r>
              <a:r>
                <a:rPr lang="en-GB" sz="3200" dirty="0" err="1" smtClean="0"/>
                <a:t>nt</a:t>
              </a:r>
              <a:r>
                <a:rPr lang="en-GB" sz="3200" dirty="0" smtClean="0"/>
                <a:t> *p = &amp;x;</a:t>
              </a:r>
            </a:p>
            <a:p>
              <a:r>
                <a:rPr lang="en-GB" sz="3200" dirty="0" err="1" smtClean="0"/>
                <a:t>int</a:t>
              </a:r>
              <a:r>
                <a:rPr lang="en-GB" sz="3200" dirty="0" smtClean="0"/>
                <a:t> </a:t>
              </a:r>
              <a:r>
                <a:rPr lang="en-GB" sz="3200" dirty="0" smtClean="0"/>
                <a:t>&amp;m = *p;</a:t>
              </a:r>
              <a:endParaRPr lang="en-GB" sz="3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 smtClean="0"/>
              <a:t>Example</a:t>
            </a:r>
            <a:endParaRPr lang="en-IN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#include &lt;</a:t>
            </a:r>
            <a:r>
              <a:rPr lang="en-US" b="1" dirty="0" err="1" smtClean="0"/>
              <a:t>iostream</a:t>
            </a:r>
            <a:r>
              <a:rPr lang="en-US" b="1" dirty="0" smtClean="0"/>
              <a:t>&gt;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err="1" smtClean="0"/>
              <a:t>int</a:t>
            </a:r>
            <a:r>
              <a:rPr lang="en-US" b="1" dirty="0" smtClean="0"/>
              <a:t> main()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{  </a:t>
            </a:r>
            <a:r>
              <a:rPr lang="en-US" b="1" dirty="0" err="1" smtClean="0"/>
              <a:t>int</a:t>
            </a:r>
            <a:r>
              <a:rPr lang="en-US" b="1" dirty="0" smtClean="0"/>
              <a:t> a = 10;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   </a:t>
            </a:r>
            <a:r>
              <a:rPr lang="en-US" b="1" dirty="0" err="1" smtClean="0"/>
              <a:t>int</a:t>
            </a:r>
            <a:r>
              <a:rPr lang="en-US" b="1" dirty="0" smtClean="0"/>
              <a:t> &amp;ref = a;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   </a:t>
            </a:r>
            <a:r>
              <a:rPr lang="en-US" b="1" dirty="0" err="1" smtClean="0"/>
              <a:t>cout</a:t>
            </a:r>
            <a:r>
              <a:rPr lang="en-US" b="1" dirty="0" smtClean="0"/>
              <a:t> &lt;&lt; a &lt;&lt; " " &lt;&lt; ref &lt;&lt; </a:t>
            </a:r>
            <a:r>
              <a:rPr lang="en-US" b="1" dirty="0" err="1" smtClean="0"/>
              <a:t>endl</a:t>
            </a:r>
            <a:r>
              <a:rPr lang="en-US" b="1" dirty="0" smtClean="0"/>
              <a:t>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   ref += 5;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   </a:t>
            </a:r>
            <a:r>
              <a:rPr lang="en-US" b="1" dirty="0" err="1" smtClean="0"/>
              <a:t>cout</a:t>
            </a:r>
            <a:r>
              <a:rPr lang="en-US" b="1" dirty="0" smtClean="0"/>
              <a:t> &lt;&lt; a &lt;&lt; " " &lt;&lt; ref &lt;&lt; </a:t>
            </a:r>
            <a:r>
              <a:rPr lang="en-US" b="1" dirty="0" err="1" smtClean="0"/>
              <a:t>endl</a:t>
            </a:r>
            <a:r>
              <a:rPr lang="en-US" b="1" dirty="0" smtClean="0"/>
              <a:t>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   return 0;</a:t>
            </a:r>
          </a:p>
          <a:p>
            <a:pPr marL="514350" indent="-514350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b="1" dirty="0" smtClean="0"/>
              <a:t>}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UTA007 - Computer Programming 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Example – Call-by-reference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30238" indent="-630238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600" b="1" dirty="0" smtClean="0"/>
              <a:t>#include&lt;</a:t>
            </a:r>
            <a:r>
              <a:rPr lang="en-IN" sz="2600" b="1" dirty="0" err="1" smtClean="0"/>
              <a:t>iostream</a:t>
            </a:r>
            <a:r>
              <a:rPr lang="en-IN" sz="2600" b="1" dirty="0" smtClean="0"/>
              <a:t>&gt; </a:t>
            </a:r>
          </a:p>
          <a:p>
            <a:pPr marL="630238" indent="-630238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600" b="1" dirty="0" smtClean="0"/>
              <a:t>using namespace std;</a:t>
            </a:r>
          </a:p>
          <a:p>
            <a:pPr marL="630238" indent="-630238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600" b="1" dirty="0" smtClean="0"/>
              <a:t>void add(</a:t>
            </a:r>
            <a:r>
              <a:rPr lang="en-IN" sz="2600" b="1" dirty="0" err="1" smtClean="0"/>
              <a:t>int</a:t>
            </a:r>
            <a:r>
              <a:rPr lang="en-IN" sz="2600" b="1" dirty="0" smtClean="0"/>
              <a:t> &amp;n); </a:t>
            </a:r>
          </a:p>
          <a:p>
            <a:pPr marL="630238" indent="-630238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600" b="1" dirty="0" err="1" smtClean="0"/>
              <a:t>int</a:t>
            </a:r>
            <a:r>
              <a:rPr lang="en-IN" sz="2600" b="1" dirty="0" smtClean="0"/>
              <a:t> main() </a:t>
            </a:r>
          </a:p>
          <a:p>
            <a:pPr marL="630238" indent="-630238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600" b="1" dirty="0" smtClean="0"/>
              <a:t>{  </a:t>
            </a:r>
            <a:r>
              <a:rPr lang="en-IN" sz="2600" b="1" dirty="0" err="1" smtClean="0"/>
              <a:t>int</a:t>
            </a:r>
            <a:r>
              <a:rPr lang="en-IN" sz="2600" b="1" dirty="0" smtClean="0"/>
              <a:t> number; </a:t>
            </a:r>
          </a:p>
          <a:p>
            <a:pPr marL="630238" indent="-630238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600" b="1" dirty="0" smtClean="0"/>
              <a:t>   number = 34; </a:t>
            </a:r>
          </a:p>
          <a:p>
            <a:pPr marL="630238" indent="-630238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600" b="1" dirty="0" smtClean="0"/>
              <a:t>   </a:t>
            </a:r>
            <a:r>
              <a:rPr lang="en-IN" sz="2600" b="1" dirty="0" err="1" smtClean="0"/>
              <a:t>cout</a:t>
            </a:r>
            <a:r>
              <a:rPr lang="en-IN" sz="2600" b="1" dirty="0" smtClean="0"/>
              <a:t> &lt;&lt; " The initial value of number : " &lt;&lt; number &lt;&lt; 		</a:t>
            </a:r>
            <a:r>
              <a:rPr lang="en-IN" sz="2600" b="1" dirty="0" err="1" smtClean="0"/>
              <a:t>endl</a:t>
            </a:r>
            <a:r>
              <a:rPr lang="en-IN" sz="2600" b="1" dirty="0" smtClean="0"/>
              <a:t>; </a:t>
            </a:r>
          </a:p>
          <a:p>
            <a:pPr marL="630238" indent="-630238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600" b="1" dirty="0" smtClean="0"/>
              <a:t>   add(number);</a:t>
            </a:r>
          </a:p>
          <a:p>
            <a:pPr marL="630238" indent="-630238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600" b="1" dirty="0" smtClean="0"/>
              <a:t>   </a:t>
            </a:r>
            <a:r>
              <a:rPr lang="en-IN" sz="2600" b="1" dirty="0" err="1" smtClean="0"/>
              <a:t>cout</a:t>
            </a:r>
            <a:r>
              <a:rPr lang="en-IN" sz="2600" b="1" dirty="0" smtClean="0"/>
              <a:t> &lt;&lt; " The final value of number : " &lt;&lt; number &lt;&lt; </a:t>
            </a:r>
            <a:r>
              <a:rPr lang="en-IN" sz="2600" b="1" dirty="0" err="1" smtClean="0"/>
              <a:t>endl</a:t>
            </a:r>
            <a:r>
              <a:rPr lang="en-IN" sz="2600" b="1" dirty="0" smtClean="0"/>
              <a:t>; </a:t>
            </a:r>
          </a:p>
          <a:p>
            <a:pPr marL="630238" indent="-630238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600" b="1" dirty="0" smtClean="0"/>
              <a:t>   return(0); 	} </a:t>
            </a:r>
          </a:p>
          <a:p>
            <a:pPr marL="630238" indent="-630238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600" b="1" dirty="0" smtClean="0"/>
              <a:t>void add(</a:t>
            </a:r>
            <a:r>
              <a:rPr lang="en-IN" sz="2600" b="1" dirty="0" err="1" smtClean="0"/>
              <a:t>int</a:t>
            </a:r>
            <a:r>
              <a:rPr lang="en-IN" sz="2600" b="1" dirty="0" smtClean="0"/>
              <a:t> &amp;n) </a:t>
            </a:r>
          </a:p>
          <a:p>
            <a:pPr marL="630238" indent="-630238">
              <a:spcBef>
                <a:spcPts val="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600" b="1" dirty="0" smtClean="0"/>
              <a:t>{ 	n = n + 6;  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UTA007 - Computer Programming 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9</a:t>
            </a:fld>
            <a:endParaRPr lang="en-I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 smtClean="0"/>
              <a:t>Restrictions to 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dirty="0" smtClean="0"/>
              <a:t>Reference to another reference is not possible.</a:t>
            </a:r>
          </a:p>
          <a:p>
            <a:pPr>
              <a:spcBef>
                <a:spcPts val="600"/>
              </a:spcBef>
            </a:pPr>
            <a:r>
              <a:rPr lang="en-GB" dirty="0" smtClean="0"/>
              <a:t>Address of a reference cannot be obtained.</a:t>
            </a:r>
          </a:p>
          <a:p>
            <a:pPr>
              <a:spcBef>
                <a:spcPts val="600"/>
              </a:spcBef>
            </a:pPr>
            <a:r>
              <a:rPr lang="en-GB" dirty="0" smtClean="0"/>
              <a:t>Arrays of references cannot be created.</a:t>
            </a:r>
          </a:p>
          <a:p>
            <a:pPr>
              <a:spcBef>
                <a:spcPts val="600"/>
              </a:spcBef>
            </a:pPr>
            <a:r>
              <a:rPr lang="en-GB" dirty="0" smtClean="0"/>
              <a:t>Pointer to a reference cannot be created. </a:t>
            </a:r>
          </a:p>
          <a:p>
            <a:pPr>
              <a:spcBef>
                <a:spcPts val="600"/>
              </a:spcBef>
            </a:pPr>
            <a:r>
              <a:rPr lang="en-GB" dirty="0" smtClean="0"/>
              <a:t>Reference for a bit-field is not possible.</a:t>
            </a:r>
          </a:p>
          <a:p>
            <a:pPr>
              <a:spcBef>
                <a:spcPts val="600"/>
              </a:spcBef>
            </a:pPr>
            <a:r>
              <a:rPr lang="en-GB" dirty="0" smtClean="0"/>
              <a:t>A reference variable must be initialized when it is declared unless it is a member of a class, a function parameter, or a return value.</a:t>
            </a:r>
          </a:p>
          <a:p>
            <a:pPr>
              <a:spcBef>
                <a:spcPts val="600"/>
              </a:spcBef>
            </a:pPr>
            <a:r>
              <a:rPr lang="en-GB" dirty="0" smtClean="0"/>
              <a:t>Null references are prohibited.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CAB6A-4FB4-4735-8C4F-232EC025C767}" type="datetime1">
              <a:rPr lang="en-US" smtClean="0"/>
              <a:pPr/>
              <a:t>2/5/2018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UTA009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10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486</Words>
  <Application>Microsoft Office PowerPoint</Application>
  <PresentationFormat>On-screen Show (4:3)</PresentationFormat>
  <Paragraphs>126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Lecture 11</vt:lpstr>
      <vt:lpstr>Dynamic Allocation Operators</vt:lpstr>
      <vt:lpstr>Example – 1</vt:lpstr>
      <vt:lpstr>Example – 2 (Dynamic Arrays)</vt:lpstr>
      <vt:lpstr>Some points…</vt:lpstr>
      <vt:lpstr>Advantages</vt:lpstr>
      <vt:lpstr>Reference variable</vt:lpstr>
      <vt:lpstr>Example</vt:lpstr>
      <vt:lpstr>Example – Call-by-reference</vt:lpstr>
      <vt:lpstr>Restrictions to References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dc:creator>Shreelekha</dc:creator>
  <cp:lastModifiedBy>Shreelekha</cp:lastModifiedBy>
  <cp:revision>5</cp:revision>
  <dcterms:created xsi:type="dcterms:W3CDTF">2018-01-17T16:26:13Z</dcterms:created>
  <dcterms:modified xsi:type="dcterms:W3CDTF">2018-02-05T07:17:18Z</dcterms:modified>
</cp:coreProperties>
</file>