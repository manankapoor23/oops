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351" r:id="rId4"/>
    <p:sldId id="398" r:id="rId5"/>
    <p:sldId id="349" r:id="rId6"/>
    <p:sldId id="399" r:id="rId7"/>
    <p:sldId id="400" r:id="rId8"/>
    <p:sldId id="402" r:id="rId9"/>
    <p:sldId id="350" r:id="rId10"/>
    <p:sldId id="403" r:id="rId11"/>
    <p:sldId id="406" r:id="rId12"/>
    <p:sldId id="315" r:id="rId13"/>
    <p:sldId id="393" r:id="rId14"/>
    <p:sldId id="394" r:id="rId15"/>
    <p:sldId id="395" r:id="rId16"/>
    <p:sldId id="397" r:id="rId17"/>
    <p:sldId id="358" r:id="rId18"/>
    <p:sldId id="359" r:id="rId19"/>
    <p:sldId id="360" r:id="rId20"/>
    <p:sldId id="407" r:id="rId21"/>
    <p:sldId id="408" r:id="rId22"/>
    <p:sldId id="409" r:id="rId23"/>
    <p:sldId id="410" r:id="rId24"/>
    <p:sldId id="411" r:id="rId25"/>
    <p:sldId id="412" r:id="rId26"/>
    <p:sldId id="428" r:id="rId27"/>
    <p:sldId id="432" r:id="rId28"/>
    <p:sldId id="433" r:id="rId29"/>
    <p:sldId id="434" r:id="rId30"/>
    <p:sldId id="435" r:id="rId31"/>
    <p:sldId id="436" r:id="rId32"/>
    <p:sldId id="437" r:id="rId33"/>
    <p:sldId id="361" r:id="rId34"/>
    <p:sldId id="363" r:id="rId35"/>
    <p:sldId id="371" r:id="rId36"/>
    <p:sldId id="372" r:id="rId37"/>
    <p:sldId id="373" r:id="rId38"/>
    <p:sldId id="374" r:id="rId39"/>
    <p:sldId id="375" r:id="rId40"/>
    <p:sldId id="438" r:id="rId41"/>
    <p:sldId id="479" r:id="rId42"/>
    <p:sldId id="449" r:id="rId43"/>
    <p:sldId id="450" r:id="rId44"/>
    <p:sldId id="453" r:id="rId45"/>
    <p:sldId id="480" r:id="rId46"/>
    <p:sldId id="455" r:id="rId47"/>
    <p:sldId id="457" r:id="rId48"/>
    <p:sldId id="458" r:id="rId49"/>
    <p:sldId id="459" r:id="rId50"/>
    <p:sldId id="460" r:id="rId51"/>
    <p:sldId id="461" r:id="rId52"/>
    <p:sldId id="465" r:id="rId53"/>
    <p:sldId id="466" r:id="rId54"/>
    <p:sldId id="481" r:id="rId55"/>
    <p:sldId id="467" r:id="rId56"/>
    <p:sldId id="469" r:id="rId57"/>
    <p:sldId id="472" r:id="rId58"/>
    <p:sldId id="473" r:id="rId59"/>
    <p:sldId id="482" r:id="rId60"/>
    <p:sldId id="477" r:id="rId61"/>
    <p:sldId id="483" r:id="rId62"/>
    <p:sldId id="413" r:id="rId6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4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9248D-33D5-4E41-AD87-C20035705F19}" type="datetimeFigureOut">
              <a:rPr lang="en-US" smtClean="0"/>
              <a:pPr/>
              <a:t>1/24/2018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40166D-7B3D-4948-B05B-C58E00A7DC5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76B7957-614B-4395-8968-F1C67645C32E}" type="slidenum">
              <a:rPr lang="en-CA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C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B666B39-0740-41F8-8267-E61834331396}" type="slidenum">
              <a:rPr lang="en-CA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086E333-E066-4209-8B72-9776F038AC58}" type="slidenum">
              <a:rPr lang="en-CA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ADCF1B0-2D58-4981-AF1A-0711100EC9DB}" type="slidenum">
              <a:rPr lang="en-CA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C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B796ED0-A95F-4C0B-83AA-0F1CF5662960}" type="slidenum">
              <a:rPr lang="en-CA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C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DDEF8-E0CE-4C4E-82F6-C568EA0DF8BA}" type="datetimeFigureOut">
              <a:rPr lang="en-US" smtClean="0"/>
              <a:pPr/>
              <a:t>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C8E8-077D-4BA9-A11A-C6A16B13DF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DDEF8-E0CE-4C4E-82F6-C568EA0DF8BA}" type="datetimeFigureOut">
              <a:rPr lang="en-US" smtClean="0"/>
              <a:pPr/>
              <a:t>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C8E8-077D-4BA9-A11A-C6A16B13DF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DDEF8-E0CE-4C4E-82F6-C568EA0DF8BA}" type="datetimeFigureOut">
              <a:rPr lang="en-US" smtClean="0"/>
              <a:pPr/>
              <a:t>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C8E8-077D-4BA9-A11A-C6A16B13DF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DDEF8-E0CE-4C4E-82F6-C568EA0DF8BA}" type="datetimeFigureOut">
              <a:rPr lang="en-US" smtClean="0"/>
              <a:pPr/>
              <a:t>1/24/2018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C8E8-077D-4BA9-A11A-C6A16B13DF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DDEF8-E0CE-4C4E-82F6-C568EA0DF8BA}" type="datetimeFigureOut">
              <a:rPr lang="en-US" smtClean="0"/>
              <a:pPr/>
              <a:t>1/24/2018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C8E8-077D-4BA9-A11A-C6A16B13DF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DDEF8-E0CE-4C4E-82F6-C568EA0DF8BA}" type="datetimeFigureOut">
              <a:rPr lang="en-US" smtClean="0"/>
              <a:pPr/>
              <a:t>1/24/2018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C8E8-077D-4BA9-A11A-C6A16B13DF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DDEF8-E0CE-4C4E-82F6-C568EA0DF8BA}" type="datetimeFigureOut">
              <a:rPr lang="en-US" smtClean="0"/>
              <a:pPr/>
              <a:t>1/24/2018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C8E8-077D-4BA9-A11A-C6A16B13DF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DDEF8-E0CE-4C4E-82F6-C568EA0DF8BA}" type="datetimeFigureOut">
              <a:rPr lang="en-US" smtClean="0"/>
              <a:pPr/>
              <a:t>1/24/2018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C8E8-077D-4BA9-A11A-C6A16B13DF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DDEF8-E0CE-4C4E-82F6-C568EA0DF8BA}" type="datetimeFigureOut">
              <a:rPr lang="en-US" smtClean="0"/>
              <a:pPr/>
              <a:t>1/24/2018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C8E8-077D-4BA9-A11A-C6A16B13DF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DDEF8-E0CE-4C4E-82F6-C568EA0DF8BA}" type="datetimeFigureOut">
              <a:rPr lang="en-US" smtClean="0"/>
              <a:pPr/>
              <a:t>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C8E8-077D-4BA9-A11A-C6A16B13DF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DDEF8-E0CE-4C4E-82F6-C568EA0DF8BA}" type="datetimeFigureOut">
              <a:rPr lang="en-US" smtClean="0"/>
              <a:pPr/>
              <a:t>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C8E8-077D-4BA9-A11A-C6A16B13DF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DDEF8-E0CE-4C4E-82F6-C568EA0DF8BA}" type="datetimeFigureOut">
              <a:rPr lang="en-US" smtClean="0"/>
              <a:pPr/>
              <a:t>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4C8E8-077D-4BA9-A11A-C6A16B13DFB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2057399"/>
          </a:xfrm>
          <a:ln w="2540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b="1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Lecture 2-3</a:t>
            </a:r>
            <a:r>
              <a:rPr lang="en-US" sz="5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5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 smtClean="0">
                <a:latin typeface="Times New Roman" pitchFamily="18" charset="0"/>
                <a:cs typeface="Times New Roman" pitchFamily="18" charset="0"/>
              </a:rPr>
              <a:t>C++ Basic Constructs</a:t>
            </a:r>
            <a:endParaRPr lang="en-US" sz="5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3010" name="Picture 2" descr="Image result for C++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3505200"/>
            <a:ext cx="2590800" cy="2912492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Contents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Console Input and Output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C++ Tokens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Type Casting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Control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143000"/>
          </a:xfrm>
          <a:ln w="38100">
            <a:solidFill>
              <a:schemeClr val="accent1"/>
            </a:solidFill>
          </a:ln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Console Input and Output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Console Input / Output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I/O objects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Defined in the C++ library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called &lt;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Must have these lines (called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pre- processor directives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 near start of file: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using namespace std;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Tells C++ to use appropriate library so we can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 the I/O objects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Console Output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600200"/>
            <a:ext cx="7539037" cy="3991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533400" y="5638800"/>
            <a:ext cx="815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Output using Insertion Operator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6172200"/>
            <a:ext cx="815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**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Standard Output Stream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Console Output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1539875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What can be outputted?</a:t>
            </a:r>
          </a:p>
          <a:p>
            <a:pPr lvl="1">
              <a:lnSpc>
                <a:spcPct val="90000"/>
              </a:lnSpc>
              <a:tabLst>
                <a:tab pos="1539875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Any data can be outputted to display screen</a:t>
            </a:r>
          </a:p>
          <a:p>
            <a:pPr lvl="2">
              <a:lnSpc>
                <a:spcPct val="90000"/>
              </a:lnSpc>
              <a:tabLst>
                <a:tab pos="1539875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Variables</a:t>
            </a:r>
          </a:p>
          <a:p>
            <a:pPr lvl="2">
              <a:lnSpc>
                <a:spcPct val="90000"/>
              </a:lnSpc>
              <a:tabLst>
                <a:tab pos="1539875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Constants</a:t>
            </a:r>
          </a:p>
          <a:p>
            <a:pPr lvl="2">
              <a:lnSpc>
                <a:spcPct val="90000"/>
              </a:lnSpc>
              <a:tabLst>
                <a:tab pos="1539875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Literals</a:t>
            </a:r>
          </a:p>
          <a:p>
            <a:pPr lvl="2">
              <a:lnSpc>
                <a:spcPct val="90000"/>
              </a:lnSpc>
              <a:tabLst>
                <a:tab pos="1539875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Expressions (which can include all of above)</a:t>
            </a:r>
          </a:p>
          <a:p>
            <a:pPr lvl="1">
              <a:lnSpc>
                <a:spcPct val="90000"/>
              </a:lnSpc>
              <a:tabLst>
                <a:tab pos="1539875" algn="l"/>
              </a:tabLst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&lt;&lt;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numberOfGames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&lt;&lt; " games played.";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 values are outputted: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"value" of variable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numberOfGames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literal string " games played."</a:t>
            </a:r>
          </a:p>
          <a:p>
            <a:pPr>
              <a:lnSpc>
                <a:spcPct val="90000"/>
              </a:lnSpc>
              <a:tabLst>
                <a:tab pos="1539875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Cascading: multiple values in one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cout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Separating Lines of Output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New lines in output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Recall: "\n" is escape sequence for the 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char "newline"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second method: object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endl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lvl="1">
              <a:lnSpc>
                <a:spcPct val="90000"/>
              </a:lnSpc>
              <a:buFont typeface="Symbol" pitchFamily="18" charset="2"/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&lt;&lt; "Hello World\n";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Sends string "Hello World" to display, &amp;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escape sequence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"\n", skipping to next line </a:t>
            </a:r>
          </a:p>
          <a:p>
            <a:pPr lvl="1">
              <a:lnSpc>
                <a:spcPct val="90000"/>
              </a:lnSpc>
              <a:buFont typeface="Symbol" pitchFamily="18" charset="2"/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&lt;&lt; "Hello World" &lt;&lt;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Same result as above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Input Using </a:t>
            </a:r>
            <a:r>
              <a:rPr lang="en-US" sz="4000" b="1" dirty="0" err="1">
                <a:latin typeface="Times New Roman" pitchFamily="18" charset="0"/>
                <a:cs typeface="Times New Roman" pitchFamily="18" charset="0"/>
              </a:rPr>
              <a:t>cin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for input,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for output</a:t>
            </a:r>
          </a:p>
          <a:p>
            <a:pPr>
              <a:lnSpc>
                <a:spcPct val="90000"/>
              </a:lnSpc>
              <a:spcBef>
                <a:spcPct val="40000"/>
              </a:spcBef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Differences: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"&gt;&gt;" (extraction operator) points opposite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Think of it as "pointing toward where the data goes"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Object name "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" used instead of "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 literals allowed for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cin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Must input "to a variable"</a:t>
            </a:r>
          </a:p>
          <a:p>
            <a:pPr>
              <a:lnSpc>
                <a:spcPct val="90000"/>
              </a:lnSpc>
              <a:spcBef>
                <a:spcPct val="40000"/>
              </a:spcBef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&gt;&gt; num;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Waits on-screen for keyboard entry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Value entered at keyboard is "assigned" to num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Console Input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874" name="Picture 2" descr="extraction operato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752600"/>
            <a:ext cx="8205303" cy="3390216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533400" y="5638800"/>
            <a:ext cx="815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Input using Extraction Operator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6172200"/>
            <a:ext cx="815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**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Standard Input Stream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Prompting for Input: </a:t>
            </a:r>
            <a:r>
              <a:rPr lang="en-US" sz="4000" b="1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4000" b="1" dirty="0" err="1">
                <a:latin typeface="Times New Roman" pitchFamily="18" charset="0"/>
                <a:cs typeface="Times New Roman" pitchFamily="18" charset="0"/>
              </a:rPr>
              <a:t>cout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Always "prompt" user for input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&lt;&lt; "Enter number of dragons: ";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&gt;&gt;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numOfDragons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Note no "\n" in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 Prompt "waits" on same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line for keyboard input as follows:</a:t>
            </a:r>
          </a:p>
          <a:p>
            <a:pPr lvl="2">
              <a:lnSpc>
                <a:spcPct val="90000"/>
              </a:lnSpc>
              <a:buFont typeface="Symbol" pitchFamily="18" charset="2"/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Enter number of dragons: ____</a:t>
            </a:r>
          </a:p>
          <a:p>
            <a:pPr lvl="2">
              <a:lnSpc>
                <a:spcPct val="9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Underscore above denotes where keyboard entry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made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Namespaces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06538"/>
            <a:ext cx="8178800" cy="4437062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Namespaces defined: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Collection of name definitions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For now: interested in namespace "std"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Has all standard library definitions we need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Examples: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&gt;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using namespace std;	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Includes entire standard library of name definitions</a:t>
            </a:r>
          </a:p>
          <a:p>
            <a:pPr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include &lt;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&gt;using std::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;	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using std::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Can specify just the objects we want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143000"/>
          </a:xfrm>
          <a:ln w="38100">
            <a:solidFill>
              <a:schemeClr val="accent1"/>
            </a:solidFill>
          </a:ln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C++ Tokens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8915400" cy="762000"/>
          </a:xfrm>
        </p:spPr>
        <p:txBody>
          <a:bodyPr>
            <a:normAutofit lnSpcReduction="10000"/>
          </a:bodyPr>
          <a:lstStyle/>
          <a:p>
            <a:pPr algn="just">
              <a:buNone/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Tokens are the minimal chunk of program that have meaning to the compiler – the smallest meaningful symbols in the language.</a:t>
            </a:r>
          </a:p>
          <a:p>
            <a:pPr algn="just" eaLnBrk="1" hangingPunct="1">
              <a:defRPr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C++ Tokens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2286000"/>
            <a:ext cx="8687751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C++ Keywords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970" name="Picture 2" descr="Image result for C++ keyword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447800"/>
            <a:ext cx="8776165" cy="5029200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C++ Identifiers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User defined names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Rules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identifier can consist of alphabets, digits and/or underscores.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must not start with a digit.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C++ is case sensitive i.e., upper case and lower case letters are considered differently.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should not be a reserved word/ declared keyword.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C++ Identifiers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828800"/>
            <a:ext cx="8677322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C++ Variables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memory location to store data for a program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Must declare all data before use in program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810" name="AutoShape 2" descr="Image result for types of operators in c++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9812" name="AutoShape 4" descr="Image result for types of operators in c++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9814" name="AutoShape 6" descr="Image result for types of operators in c++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Simple Data Types (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1 of 2)</a:t>
            </a:r>
          </a:p>
        </p:txBody>
      </p:sp>
      <p:pic>
        <p:nvPicPr>
          <p:cNvPr id="11878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676400"/>
            <a:ext cx="8538183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Straight Connector 6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Simple Data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Types: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2 of 2)</a:t>
            </a:r>
          </a:p>
        </p:txBody>
      </p:sp>
      <p:pic>
        <p:nvPicPr>
          <p:cNvPr id="59396" name="Picture 4" descr="C:\WINDOWS\Desktop\Oh_type\sacitch_C++_ppt\gif\savitchc01d02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52400" y="1524000"/>
            <a:ext cx="8622061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2514600" y="1143000"/>
            <a:ext cx="51816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96200" y="990600"/>
            <a:ext cx="1219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May take up to 12 to 16 bytes due to alignment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Literal Data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3149600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Literals</a:t>
            </a:r>
          </a:p>
          <a:p>
            <a:pPr lvl="1">
              <a:tabLst>
                <a:tab pos="3149600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lvl="2">
              <a:tabLst>
                <a:tab pos="3149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	// Literal constant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2">
              <a:tabLst>
                <a:tab pos="3149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5.75	// Literal constant double</a:t>
            </a:r>
          </a:p>
          <a:p>
            <a:pPr lvl="2">
              <a:tabLst>
                <a:tab pos="314960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‘Z’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// Literal constant char</a:t>
            </a:r>
          </a:p>
          <a:p>
            <a:pPr lvl="2">
              <a:tabLst>
                <a:tab pos="3149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"Hello World"	// Literal constant string</a:t>
            </a:r>
          </a:p>
          <a:p>
            <a:pPr>
              <a:spcBef>
                <a:spcPct val="50000"/>
              </a:spcBef>
              <a:tabLst>
                <a:tab pos="3149600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Cannot change values during execution</a:t>
            </a:r>
          </a:p>
          <a:p>
            <a:pPr>
              <a:spcBef>
                <a:spcPct val="50000"/>
              </a:spcBef>
              <a:tabLst>
                <a:tab pos="3149600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Called "literals" because you "literally typed"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them in your program!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Escape Sequences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"Extend" character set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Backslash, \  preceding a character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Instructs compiler: a special "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escape character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 is coming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Following character treated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 "escape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sequence char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762000"/>
            <a:ext cx="7696200" cy="5455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Some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Escape Sequences (1 of 2)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Some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Escape Sequences (2 of 2)</a:t>
            </a:r>
          </a:p>
        </p:txBody>
      </p:sp>
      <p:pic>
        <p:nvPicPr>
          <p:cNvPr id="66564" name="Picture 4" descr="C:\WINDOWS\Desktop\Oh_type\sacitch_C++_ppt\gif\savitchc01d03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143000" y="1524000"/>
            <a:ext cx="6705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Straight Connector 3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Naming your constants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Literal constants are "OK", but provide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little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meaning</a:t>
            </a:r>
          </a:p>
          <a:p>
            <a:pPr>
              <a:lnSpc>
                <a:spcPct val="9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named constants instead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Meaningful name to represent data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NUMBER_OF_STUDENTS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 24;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Called a "declared constant" or "named constant"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Now use it’s name wherever needed in program 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C++ Constants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Usage of Named Constant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363747"/>
            <a:ext cx="8689100" cy="5494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Straight Connector 3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7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371600"/>
            <a:ext cx="7848600" cy="5309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Straight Connector 6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Different Types of Operators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Precedence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of Operators (1 of 4)</a:t>
            </a:r>
          </a:p>
        </p:txBody>
      </p:sp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1368809"/>
            <a:ext cx="8153400" cy="5489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Straight Connector 6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4" name="Rectangle 6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Precedence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of Operators (2 of 4)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0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1600200"/>
            <a:ext cx="8593715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3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Precedence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of Operators (3 of 4)</a:t>
            </a:r>
          </a:p>
        </p:txBody>
      </p:sp>
      <p:pic>
        <p:nvPicPr>
          <p:cNvPr id="129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1524000"/>
            <a:ext cx="8570459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Straight Connector 9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7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Precedence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of Operators (4 of 4)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524000"/>
            <a:ext cx="8421538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Precedence Examples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Arithmetic before logical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x + 1 &gt; 2 || x + 1 &lt; -3 means:</a:t>
            </a:r>
          </a:p>
          <a:p>
            <a:pPr lvl="2">
              <a:lnSpc>
                <a:spcPct val="90000"/>
              </a:lnSpc>
              <a:spcBef>
                <a:spcPct val="25000"/>
              </a:spcBef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(x + 1) &gt; 2  || (x + 1) &lt; -3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Short-circuit evaluation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(x &gt;= 0) &amp;&amp; (y &gt; 1)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 careful with increment operators!</a:t>
            </a:r>
          </a:p>
          <a:p>
            <a:pPr lvl="2">
              <a:lnSpc>
                <a:spcPct val="90000"/>
              </a:lnSpc>
              <a:spcBef>
                <a:spcPct val="25000"/>
              </a:spcBef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(x &gt; 1) &amp;&amp; (y++)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Integers as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boolean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values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non-zero values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true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Zero value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false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143000"/>
          </a:xfrm>
          <a:ln w="38100">
            <a:solidFill>
              <a:schemeClr val="accent1"/>
            </a:solidFill>
          </a:ln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Type Casting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Assigning Data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Initializing data in declaration statement</a:t>
            </a:r>
          </a:p>
          <a:p>
            <a:pPr lvl="2">
              <a:lnSpc>
                <a:spcPct val="90000"/>
              </a:lnSpc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myValue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0;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Assigning data during execution</a:t>
            </a:r>
          </a:p>
          <a:p>
            <a:pPr lvl="1">
              <a:lnSpc>
                <a:spcPct val="90000"/>
              </a:lnSpc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Lvalues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(left-side) &amp;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Rvalues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(right-side)</a:t>
            </a:r>
          </a:p>
          <a:p>
            <a:pPr lvl="2">
              <a:lnSpc>
                <a:spcPct val="90000"/>
              </a:lnSpc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Lvalues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must be variables</a:t>
            </a:r>
          </a:p>
          <a:p>
            <a:pPr lvl="2">
              <a:lnSpc>
                <a:spcPct val="90000"/>
              </a:lnSpc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Rvalues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can be any expression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distance = rate * time;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Lvalue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 "distance"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Rvalue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"rate * time"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Data Assignment Rules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Compatibility of Data Assignments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Type mismatches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General Rule: Cannot place value of one type into variable of another type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intVar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2.99;	// 2 is assigned to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intVar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!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Only integer part "fits", so that’s all that goes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Called "implicit" or "automatic type conversion"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Literals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2, 5.75,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‘Z’,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"Hello World"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Considered "constants": can’t change in program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Arithmetic Precision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Precision of Calculations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VERY important consideration!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Expressions in C++ might not evaluate as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you’d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"expect"!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"Highest-order operand" determines type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of arithmetic "precision" performed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Common pitfall!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Arithmetic Precision Examples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17 / 5  evaluates to 3 in C++!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Both operands are integers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Integer division is performed!</a:t>
            </a:r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17.0 / 5 equals 3.4 in C++!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Highest-order operand is "double type"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Double "precision" division is performed!</a:t>
            </a:r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intVar1 =1, intVar2=2;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intVar1 / intVar2;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Performs integer division!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Result: 0!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Individual Arithmetic Precision 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Calculations done "one-by-one"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 / 2 / 3.0 / 4  performs 3 separate divisions.</a:t>
            </a:r>
          </a:p>
          <a:p>
            <a:pPr lvl="2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First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1 / 2    equals 0</a:t>
            </a:r>
          </a:p>
          <a:p>
            <a:pPr lvl="2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0 / 3.0 equals 0.0</a:t>
            </a:r>
          </a:p>
          <a:p>
            <a:pPr lvl="2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0.0 / 4 equals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0.0 !!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So not necessarily sufficient to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change just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"one operand" in a large expression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Must keep in mind all individual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calculations that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will be performed during evaluation!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Type Casting 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Casting for Variables</a:t>
            </a:r>
          </a:p>
          <a:p>
            <a:pPr lvl="1" algn="just"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Can add ".0" to literals to force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precision arithmetic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but what about variables?</a:t>
            </a:r>
          </a:p>
          <a:p>
            <a:pPr lvl="2" algn="just"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We can’t use "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myInt.0" !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Type Casting 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Two types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Implicit—also called "Automatic"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Done FOR you, automatically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17 / 5.5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expression causes an "implicit type cast"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take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place, casting the 17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17.0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Explicit type conversion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Programmer specifies conversion with cast operator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(double)17 / 5.5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Same expression as above, using explicit cast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(double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myInt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myDouble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More typical use; cast operator on variable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143000"/>
          </a:xfrm>
          <a:ln w="38100">
            <a:solidFill>
              <a:schemeClr val="accent1"/>
            </a:solidFill>
          </a:ln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Control Structures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Control Structures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2820" name="Picture 4" descr="Related 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905000"/>
            <a:ext cx="9144000" cy="4267200"/>
          </a:xfrm>
          <a:prstGeom prst="rect">
            <a:avLst/>
          </a:prstGeom>
          <a:noFill/>
        </p:spPr>
      </p:pic>
      <p:cxnSp>
        <p:nvCxnSpPr>
          <p:cNvPr id="5" name="Straight Connector 4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Branching Mechanisms</a:t>
            </a:r>
          </a:p>
        </p:txBody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if-else statements</a:t>
            </a:r>
          </a:p>
          <a:p>
            <a:pPr lvl="1">
              <a:spcBef>
                <a:spcPct val="5000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Choice of two alternate statements based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on condition expression</a:t>
            </a:r>
          </a:p>
          <a:p>
            <a:pPr lvl="1">
              <a:spcBef>
                <a:spcPct val="5000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if (hrs &gt; 40)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grossPay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rate*40 + 1.5*rate*(hrs-40);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else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grossPay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rate*hrs;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886200"/>
            <a:ext cx="6629400" cy="1905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if-else Statement Syntax</a:t>
            </a:r>
          </a:p>
        </p:txBody>
      </p:sp>
      <p:sp>
        <p:nvSpPr>
          <p:cNvPr id="455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Formal syntax: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if (&lt;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boolean_expression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&gt;)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{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&lt;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yes_statement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}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else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{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&lt;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no_statement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2057400"/>
            <a:ext cx="7620000" cy="3962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Common Pitfalls</a:t>
            </a:r>
          </a:p>
        </p:txBody>
      </p:sp>
      <p:sp>
        <p:nvSpPr>
          <p:cNvPr id="458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Operator "=" vs. operator "=="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One means "assignment" (=)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One means "equality" (==)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VERY different in C++!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if (x = 12) 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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Note operator used!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Do_Something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else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Do_Something_Else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43000" y="4114800"/>
            <a:ext cx="6629400" cy="1676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Conditional Operator</a:t>
            </a:r>
          </a:p>
        </p:txBody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Also called "ternary operator"</a:t>
            </a:r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Allows embedded conditional in expression</a:t>
            </a:r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Essentially "shorthand if-else" operator</a:t>
            </a:r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if (n1 &gt; n2)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max = n1;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else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max = n2;</a:t>
            </a:r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Can be written: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max = (n1 &gt; n2) ? N1 : n2;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"?" and ":" form this "ternary" operator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9200" y="3429000"/>
            <a:ext cx="64770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219200" y="5257800"/>
            <a:ext cx="6477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Nested Statements</a:t>
            </a:r>
          </a:p>
        </p:txBody>
      </p:sp>
      <p:sp>
        <p:nvSpPr>
          <p:cNvPr id="460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if-else statements contain smaller statements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also contain any statement at all, including another if-else stmt!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if (speed &gt; 55)</a:t>
            </a:r>
            <a:br>
              <a:rPr lang="en-US" sz="2400" i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   if (speed &gt; 80)</a:t>
            </a:r>
            <a:br>
              <a:rPr lang="en-US" sz="2400" i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2400" i="1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&lt;&lt; "You’re really speeding!";</a:t>
            </a:r>
            <a:br>
              <a:rPr lang="en-US" sz="2400" i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   else</a:t>
            </a:r>
            <a:br>
              <a:rPr lang="en-US" sz="2400" i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2400" i="1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&lt;&lt; "You’re speeding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.";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Note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proper indenting!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9200" y="3352800"/>
            <a:ext cx="7086600" cy="1752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err="1">
                <a:latin typeface="Times New Roman" pitchFamily="18" charset="0"/>
                <a:cs typeface="Times New Roman" pitchFamily="18" charset="0"/>
              </a:rPr>
              <a:t>Multiway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if-else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62852" name="Picture 4" descr="C:\WINDOWS\Desktop\Oh_type\sacitch_C++_ppt\gif\savitchc02d_p63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0494" y="1752600"/>
            <a:ext cx="9103506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The switch Statement</a:t>
            </a:r>
          </a:p>
        </p:txBody>
      </p:sp>
      <p:sp>
        <p:nvSpPr>
          <p:cNvPr id="463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new stmt for controlling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multiple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branches</a:t>
            </a:r>
          </a:p>
          <a:p>
            <a:pPr>
              <a:spcBef>
                <a:spcPct val="50000"/>
              </a:spcBef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Uses controlling expression which returns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bool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data type (true or false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switch Statement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64900" name="Picture 4" descr="C:\WINDOWS\Desktop\Oh_type\sacitch_C++_ppt\gif\savitchc02d_p64_1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04800" y="1447800"/>
            <a:ext cx="8458200" cy="5281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The switch Statement in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Action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65924" name="Picture 4" descr="C:\WINDOWS\Desktop\Oh_type\sacitch_C++_ppt\gif\savitchc02d_p64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57200" y="1372917"/>
            <a:ext cx="8305800" cy="5485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The switch: multiple case labels</a:t>
            </a:r>
          </a:p>
        </p:txBody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255000" cy="443706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Execution "falls thru" until break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switch provides a "point of entry"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case "A":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case "a":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&lt;&lt; "Excellent: you got an "A"!\n";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break;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case "B":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case "b":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&lt;&lt; "Good: you got a "B"!\n";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break;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Note multiple labels provide same "entry"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600" y="2819400"/>
            <a:ext cx="7010400" cy="243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Loops</a:t>
            </a:r>
          </a:p>
        </p:txBody>
      </p:sp>
      <p:sp>
        <p:nvSpPr>
          <p:cNvPr id="471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3 Types of loops in C++</a:t>
            </a:r>
          </a:p>
          <a:p>
            <a:pPr lvl="1"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while</a:t>
            </a:r>
          </a:p>
          <a:p>
            <a:pPr lvl="2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Most flexible</a:t>
            </a:r>
          </a:p>
          <a:p>
            <a:pPr lvl="2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 "restrictions"</a:t>
            </a:r>
          </a:p>
          <a:p>
            <a:pPr lvl="1"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do-while</a:t>
            </a:r>
          </a:p>
          <a:p>
            <a:pPr lvl="2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Least flexible</a:t>
            </a:r>
          </a:p>
          <a:p>
            <a:pPr lvl="2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Always executes loop body at least once</a:t>
            </a:r>
          </a:p>
          <a:p>
            <a:pPr lvl="1"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</a:t>
            </a:r>
          </a:p>
          <a:p>
            <a:pPr lvl="2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Natural "counting" loop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9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while Loops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72070" name="Picture 6" descr="savitchc02d_p69.gif                                            000528B5backup                         BE98102B: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524000"/>
            <a:ext cx="8600006" cy="5029200"/>
          </a:xfrm>
          <a:prstGeom prst="rect">
            <a:avLst/>
          </a:prstGeom>
          <a:noFill/>
        </p:spPr>
      </p:pic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do-while Loop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74116" name="Picture 4" descr="C:\WINDOWS\Desktop\Oh_type\sacitch_C++_ppt\gif\savitchc02d_p70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81000" y="1524000"/>
            <a:ext cx="8077200" cy="4669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Straight Connector 3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while Loop Example</a:t>
            </a:r>
          </a:p>
        </p:txBody>
      </p:sp>
      <p:sp>
        <p:nvSpPr>
          <p:cNvPr id="473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Consider: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count = 0;			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//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Initialization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while (count &lt; 3)		// Loop Condition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{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&lt;&lt; "Hi ";		// Loop Body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count++;			// Update expression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lvl="1"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Loop body executes how many times?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2057400"/>
            <a:ext cx="7391400" cy="3733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do-while Loop Example</a:t>
            </a:r>
          </a:p>
        </p:txBody>
      </p:sp>
      <p:sp>
        <p:nvSpPr>
          <p:cNvPr id="475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count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= 0;		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//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Initialization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do   		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{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&lt;&lt; "Hi ";	// Loop Body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count++;		// Update expression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} while (count &lt; 3);	// Loop Condition</a:t>
            </a:r>
          </a:p>
          <a:p>
            <a:pPr lvl="1">
              <a:spcBef>
                <a:spcPct val="50000"/>
              </a:spcBef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ct val="5000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Loop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body executes how many times?</a:t>
            </a:r>
          </a:p>
          <a:p>
            <a:pPr lvl="1"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do-while loops always execute body at least once!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0200"/>
            <a:ext cx="8077200" cy="2819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for Loop Syntax</a:t>
            </a:r>
          </a:p>
        </p:txBody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28800"/>
            <a:ext cx="8229600" cy="4525963"/>
          </a:xfrm>
        </p:spPr>
        <p:txBody>
          <a:bodyPr/>
          <a:lstStyle/>
          <a:p>
            <a:pPr>
              <a:buFont typeface="Symbol" charset="2"/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for 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Init_Action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Bool_Exp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Update_Action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Font typeface="Symbol" charset="2"/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Body_Statement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OR</a:t>
            </a:r>
          </a:p>
          <a:p>
            <a:pPr>
              <a:buFont typeface="Symbol" charset="2"/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for 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Init_Action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Bool_Exp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Update_Action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Font typeface="Symbol" charset="2"/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buFont typeface="Symbol" charset="2"/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Body_Statements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Symbol" charset="2"/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3352800"/>
            <a:ext cx="7772400" cy="228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1676400"/>
            <a:ext cx="7772400" cy="114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for Loop Example</a:t>
            </a:r>
          </a:p>
        </p:txBody>
      </p:sp>
      <p:sp>
        <p:nvSpPr>
          <p:cNvPr id="479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for (count=0;count&lt;3;count++)   		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{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&lt;&lt; "Hi ";	// Loop Body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spcBef>
                <a:spcPct val="50000"/>
              </a:spcBef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How many times does loop body execute?</a:t>
            </a:r>
          </a:p>
          <a:p>
            <a:pPr>
              <a:spcBef>
                <a:spcPct val="50000"/>
              </a:spcBef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Initialization, loop condition and update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all "built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into" the for-loop structure!</a:t>
            </a:r>
          </a:p>
          <a:p>
            <a:pPr>
              <a:spcBef>
                <a:spcPct val="50000"/>
              </a:spcBef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natural "counting"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524000"/>
            <a:ext cx="6629400" cy="1905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Nested Loops</a:t>
            </a:r>
          </a:p>
        </p:txBody>
      </p:sp>
      <p:sp>
        <p:nvSpPr>
          <p:cNvPr id="484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ct val="40000"/>
              </a:spcBef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Recall: ANY valid C++ statements can be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inside body of loop</a:t>
            </a:r>
          </a:p>
          <a:p>
            <a:pPr>
              <a:lnSpc>
                <a:spcPct val="90000"/>
              </a:lnSpc>
              <a:spcBef>
                <a:spcPct val="40000"/>
              </a:spcBef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This includes additional loop statements!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Called "nested loops"</a:t>
            </a:r>
          </a:p>
          <a:p>
            <a:pPr>
              <a:lnSpc>
                <a:spcPct val="90000"/>
              </a:lnSpc>
              <a:spcBef>
                <a:spcPct val="40000"/>
              </a:spcBef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Requires careful indenting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lnSpc>
                <a:spcPct val="90000"/>
              </a:lnSpc>
              <a:spcBef>
                <a:spcPct val="40000"/>
              </a:spcBef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for (outer=0; outer&lt;5; outer++)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for (inner=7; inner&gt;2; inner--)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&lt;&lt; outer &lt;&lt; inner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40000"/>
              </a:spcBef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Notice no { } since each body is one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statement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0" y="3886200"/>
            <a:ext cx="7010400" cy="137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The break and continue Statements</a:t>
            </a:r>
          </a:p>
        </p:txBody>
      </p:sp>
      <p:sp>
        <p:nvSpPr>
          <p:cNvPr id="483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Flow of Control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Recall how loops provide "graceful" and clear flow of control in and out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RARE instances, can alter natural flow</a:t>
            </a:r>
          </a:p>
          <a:p>
            <a:pPr>
              <a:lnSpc>
                <a:spcPct val="90000"/>
              </a:lnSpc>
              <a:spcBef>
                <a:spcPct val="35000"/>
              </a:spcBef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break; 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Forces loop to exit immediately.</a:t>
            </a:r>
          </a:p>
          <a:p>
            <a:pPr>
              <a:lnSpc>
                <a:spcPct val="90000"/>
              </a:lnSpc>
              <a:spcBef>
                <a:spcPct val="35000"/>
              </a:spcBef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continue;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Skips rest of loop body</a:t>
            </a:r>
          </a:p>
          <a:p>
            <a:pPr>
              <a:lnSpc>
                <a:spcPct val="90000"/>
              </a:lnSpc>
              <a:spcBef>
                <a:spcPct val="35000"/>
              </a:spcBef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These statements violate natural flow</a:t>
            </a:r>
          </a:p>
          <a:p>
            <a:pPr lvl="1">
              <a:lnSpc>
                <a:spcPct val="90000"/>
              </a:lnSpc>
              <a:spcBef>
                <a:spcPct val="25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Only used when absolutely necessary!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CLO1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Write, compile and debug programs in C++, use different data types, operators and I/O function in a computer program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2514600"/>
            <a:ext cx="8229600" cy="1143000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2919</TotalTime>
  <Words>1125</Words>
  <Application>Microsoft Office PowerPoint</Application>
  <PresentationFormat>On-screen Show (4:3)</PresentationFormat>
  <Paragraphs>275</Paragraphs>
  <Slides>62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3" baseType="lpstr">
      <vt:lpstr>Office Theme</vt:lpstr>
      <vt:lpstr>Lecture 2-3 C++ Basic Constructs</vt:lpstr>
      <vt:lpstr>Contents</vt:lpstr>
      <vt:lpstr>Console Input and Output</vt:lpstr>
      <vt:lpstr>Console Input / Output</vt:lpstr>
      <vt:lpstr>Console Output</vt:lpstr>
      <vt:lpstr>Console Output</vt:lpstr>
      <vt:lpstr>Separating Lines of Output</vt:lpstr>
      <vt:lpstr>Input Using cin</vt:lpstr>
      <vt:lpstr>Console Input</vt:lpstr>
      <vt:lpstr>Prompting for Input: cin and cout</vt:lpstr>
      <vt:lpstr>Namespaces</vt:lpstr>
      <vt:lpstr>C++ Tokens</vt:lpstr>
      <vt:lpstr>C++ Tokens</vt:lpstr>
      <vt:lpstr>C++ Keywords</vt:lpstr>
      <vt:lpstr>C++ Identifiers</vt:lpstr>
      <vt:lpstr>C++ Identifiers</vt:lpstr>
      <vt:lpstr>C++ Variables</vt:lpstr>
      <vt:lpstr>Simple Data Types (1 of 2)</vt:lpstr>
      <vt:lpstr>Simple Data Types:  (2 of 2)</vt:lpstr>
      <vt:lpstr>Literal Data</vt:lpstr>
      <vt:lpstr>Escape Sequences</vt:lpstr>
      <vt:lpstr>Some Escape Sequences (1 of 2)</vt:lpstr>
      <vt:lpstr>Some Escape Sequences (2 of 2)</vt:lpstr>
      <vt:lpstr>C++ Constants</vt:lpstr>
      <vt:lpstr>Usage of Named Constant</vt:lpstr>
      <vt:lpstr>Different Types of Operators</vt:lpstr>
      <vt:lpstr>Precedence of Operators (1 of 4)</vt:lpstr>
      <vt:lpstr>Precedence of Operators (2 of 4)</vt:lpstr>
      <vt:lpstr>Precedence of Operators (3 of 4)</vt:lpstr>
      <vt:lpstr>Precedence of Operators (4 of 4)</vt:lpstr>
      <vt:lpstr>Precedence Examples</vt:lpstr>
      <vt:lpstr>Type Casting</vt:lpstr>
      <vt:lpstr>Assigning Data</vt:lpstr>
      <vt:lpstr>Data Assignment Rules</vt:lpstr>
      <vt:lpstr>Arithmetic Precision</vt:lpstr>
      <vt:lpstr>Arithmetic Precision Examples</vt:lpstr>
      <vt:lpstr>Individual Arithmetic Precision </vt:lpstr>
      <vt:lpstr>Type Casting </vt:lpstr>
      <vt:lpstr>Type Casting </vt:lpstr>
      <vt:lpstr>Control Structures</vt:lpstr>
      <vt:lpstr>Control Structures</vt:lpstr>
      <vt:lpstr>Branching Mechanisms</vt:lpstr>
      <vt:lpstr>if-else Statement Syntax</vt:lpstr>
      <vt:lpstr>Common Pitfalls</vt:lpstr>
      <vt:lpstr>Conditional Operator</vt:lpstr>
      <vt:lpstr>Nested Statements</vt:lpstr>
      <vt:lpstr>Multiway if-else Example</vt:lpstr>
      <vt:lpstr>The switch Statement</vt:lpstr>
      <vt:lpstr>switch Statement Syntax</vt:lpstr>
      <vt:lpstr>The switch Statement in Action</vt:lpstr>
      <vt:lpstr>The switch: multiple case labels</vt:lpstr>
      <vt:lpstr>Loops</vt:lpstr>
      <vt:lpstr>while Loops Syntax</vt:lpstr>
      <vt:lpstr>do-while Loop Syntax</vt:lpstr>
      <vt:lpstr>while Loop Example</vt:lpstr>
      <vt:lpstr>do-while Loop Example</vt:lpstr>
      <vt:lpstr>for Loop Syntax</vt:lpstr>
      <vt:lpstr>for Loop Example</vt:lpstr>
      <vt:lpstr>Nested Loops</vt:lpstr>
      <vt:lpstr>The break and continue Statements</vt:lpstr>
      <vt:lpstr>CLO1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com</dc:creator>
  <cp:lastModifiedBy>raman</cp:lastModifiedBy>
  <cp:revision>78</cp:revision>
  <dcterms:created xsi:type="dcterms:W3CDTF">2018-01-09T13:38:26Z</dcterms:created>
  <dcterms:modified xsi:type="dcterms:W3CDTF">2018-01-24T17:41:31Z</dcterms:modified>
</cp:coreProperties>
</file>