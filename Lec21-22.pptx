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66" r:id="rId5"/>
    <p:sldId id="270" r:id="rId6"/>
    <p:sldId id="269" r:id="rId7"/>
    <p:sldId id="271" r:id="rId8"/>
    <p:sldId id="272" r:id="rId9"/>
    <p:sldId id="273" r:id="rId10"/>
    <p:sldId id="274" r:id="rId11"/>
    <p:sldId id="275" r:id="rId12"/>
    <p:sldId id="276" r:id="rId13"/>
    <p:sldId id="281" r:id="rId14"/>
    <p:sldId id="278" r:id="rId15"/>
    <p:sldId id="283" r:id="rId16"/>
    <p:sldId id="284" r:id="rId17"/>
    <p:sldId id="285" r:id="rId18"/>
    <p:sldId id="286" r:id="rId19"/>
    <p:sldId id="28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24" autoAdjust="0"/>
  </p:normalViewPr>
  <p:slideViewPr>
    <p:cSldViewPr>
      <p:cViewPr varScale="1">
        <p:scale>
          <a:sx n="69" d="100"/>
          <a:sy n="69" d="100"/>
        </p:scale>
        <p:origin x="-140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" y="116632"/>
            <a:ext cx="900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1340768"/>
            <a:ext cx="9000000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8453C-2510-4104-AF7F-91CF8D0C6DDD}" type="datetimeFigureOut">
              <a:rPr lang="en-IN" smtClean="0"/>
              <a:pPr/>
              <a:t>19-03-2018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Polymorphism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/>
              <a:t>Lec</a:t>
            </a:r>
            <a:r>
              <a:rPr lang="en-IN" dirty="0" smtClean="0"/>
              <a:t> 21-22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Polymorphism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 smtClean="0"/>
              <a:t>Compile time</a:t>
            </a:r>
          </a:p>
          <a:p>
            <a:pPr lvl="1" algn="just"/>
            <a:r>
              <a:rPr lang="en-IN" sz="3200" dirty="0" smtClean="0"/>
              <a:t>Uses static or early binding.</a:t>
            </a:r>
          </a:p>
          <a:p>
            <a:pPr lvl="1" algn="just"/>
            <a:r>
              <a:rPr lang="en-US" sz="3200" dirty="0" smtClean="0"/>
              <a:t>Example: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3000" dirty="0" smtClean="0"/>
              <a:t>Function overloading and Operator overloading.</a:t>
            </a:r>
          </a:p>
          <a:p>
            <a:pPr algn="just"/>
            <a:r>
              <a:rPr lang="en-US" dirty="0" smtClean="0"/>
              <a:t>Run time</a:t>
            </a:r>
          </a:p>
          <a:p>
            <a:pPr lvl="1" algn="just"/>
            <a:r>
              <a:rPr lang="en-US" sz="3200" dirty="0" smtClean="0"/>
              <a:t>Uses dynamic or late binding.</a:t>
            </a:r>
          </a:p>
          <a:p>
            <a:pPr lvl="1" algn="just"/>
            <a:r>
              <a:rPr lang="en-US" sz="3200" dirty="0" smtClean="0"/>
              <a:t>Example:</a:t>
            </a:r>
          </a:p>
          <a:p>
            <a:pPr lvl="2" algn="just">
              <a:buFont typeface="Wingdings" pitchFamily="2" charset="2"/>
              <a:buChar char="ü"/>
            </a:pPr>
            <a:r>
              <a:rPr lang="en-US" sz="3000" dirty="0" smtClean="0"/>
              <a:t>Virtual functions.</a:t>
            </a:r>
            <a:endParaRPr lang="en-IN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Run-time Polymorphism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Pointers to Derived Classes</a:t>
            </a:r>
            <a:endParaRPr 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2000" y="1340768"/>
            <a:ext cx="9000000" cy="3528392"/>
          </a:xfrm>
        </p:spPr>
        <p:txBody>
          <a:bodyPr>
            <a:normAutofit/>
          </a:bodyPr>
          <a:lstStyle/>
          <a:p>
            <a:r>
              <a:rPr lang="en-US" dirty="0" smtClean="0"/>
              <a:t>Base class pointers can point to derived class objects.</a:t>
            </a:r>
          </a:p>
          <a:p>
            <a:r>
              <a:rPr lang="en-US" dirty="0" smtClean="0"/>
              <a:t>Example: Let there be two classes,</a:t>
            </a:r>
          </a:p>
          <a:p>
            <a:pPr marL="2152650" lvl="1" indent="-354013"/>
            <a:r>
              <a:rPr lang="en-US" sz="3200" dirty="0" smtClean="0"/>
              <a:t>class base { … };</a:t>
            </a:r>
          </a:p>
          <a:p>
            <a:pPr marL="2152650" lvl="1" indent="-354013"/>
            <a:r>
              <a:rPr lang="en-US" sz="3200" dirty="0" smtClean="0"/>
              <a:t>class derived : public base { … };</a:t>
            </a:r>
          </a:p>
          <a:p>
            <a:r>
              <a:rPr lang="en-US" dirty="0" smtClean="0"/>
              <a:t>Then,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47664" y="4581128"/>
            <a:ext cx="3240360" cy="1766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013" lvl="1" indent="-354013">
              <a:spcBef>
                <a:spcPct val="20000"/>
              </a:spcBef>
            </a:pPr>
            <a:r>
              <a:rPr lang="en-US" sz="3200" dirty="0" smtClean="0">
                <a:solidFill>
                  <a:prstClr val="black"/>
                </a:solidFill>
              </a:rPr>
              <a:t>base *p1;</a:t>
            </a:r>
          </a:p>
          <a:p>
            <a:pPr marL="354013" lvl="1" indent="-354013">
              <a:spcBef>
                <a:spcPct val="20000"/>
              </a:spcBef>
            </a:pPr>
            <a:r>
              <a:rPr lang="en-US" sz="3200" dirty="0" smtClean="0">
                <a:solidFill>
                  <a:prstClr val="black"/>
                </a:solidFill>
              </a:rPr>
              <a:t>derived </a:t>
            </a:r>
            <a:r>
              <a:rPr lang="en-US" sz="3200" dirty="0" err="1" smtClean="0">
                <a:solidFill>
                  <a:prstClr val="black"/>
                </a:solidFill>
              </a:rPr>
              <a:t>d_obj</a:t>
            </a:r>
            <a:r>
              <a:rPr lang="en-US" sz="3200" dirty="0" smtClean="0">
                <a:solidFill>
                  <a:prstClr val="black"/>
                </a:solidFill>
              </a:rPr>
              <a:t>;</a:t>
            </a:r>
          </a:p>
          <a:p>
            <a:pPr marL="354013" lvl="1" indent="-354013">
              <a:spcBef>
                <a:spcPct val="20000"/>
              </a:spcBef>
            </a:pPr>
            <a:r>
              <a:rPr lang="en-US" sz="3200" dirty="0" smtClean="0">
                <a:solidFill>
                  <a:prstClr val="black"/>
                </a:solidFill>
              </a:rPr>
              <a:t>p1 = &amp;</a:t>
            </a:r>
            <a:r>
              <a:rPr lang="en-US" sz="3200" dirty="0" err="1" smtClean="0">
                <a:solidFill>
                  <a:prstClr val="black"/>
                </a:solidFill>
              </a:rPr>
              <a:t>d_obj</a:t>
            </a:r>
            <a:r>
              <a:rPr lang="en-US" sz="3200" dirty="0" smtClean="0">
                <a:solidFill>
                  <a:prstClr val="black"/>
                </a:solidFill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900"/>
              </a:spcBef>
            </a:pPr>
            <a:r>
              <a:rPr lang="en-US" dirty="0" smtClean="0"/>
              <a:t>A base class pointer pointing to a derived class object</a:t>
            </a:r>
          </a:p>
          <a:p>
            <a:pPr lvl="1" algn="just">
              <a:spcBef>
                <a:spcPts val="900"/>
              </a:spcBef>
            </a:pPr>
            <a:r>
              <a:rPr lang="en-US" sz="3200" dirty="0" smtClean="0"/>
              <a:t>Has knowledge only of the base class.</a:t>
            </a:r>
          </a:p>
          <a:p>
            <a:pPr lvl="1" algn="just">
              <a:spcBef>
                <a:spcPts val="900"/>
              </a:spcBef>
            </a:pPr>
            <a:r>
              <a:rPr lang="en-US" sz="3200" dirty="0" smtClean="0"/>
              <a:t>Knows nothing about the members added by the derived class.</a:t>
            </a:r>
          </a:p>
          <a:p>
            <a:pPr algn="just">
              <a:spcBef>
                <a:spcPts val="900"/>
              </a:spcBef>
            </a:pPr>
            <a:r>
              <a:rPr lang="en-US" dirty="0" smtClean="0"/>
              <a:t>Thus,</a:t>
            </a:r>
          </a:p>
          <a:p>
            <a:pPr lvl="1" algn="just">
              <a:spcBef>
                <a:spcPts val="900"/>
              </a:spcBef>
            </a:pPr>
            <a:r>
              <a:rPr lang="en-US" sz="3200" dirty="0" smtClean="0"/>
              <a:t>Members of the derived object that were inherited from the base class can only be accessed.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" y="116632"/>
            <a:ext cx="9000000" cy="11430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9000000" cy="4968552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#include&lt;</a:t>
            </a:r>
            <a:r>
              <a:rPr lang="en-US" sz="2800" dirty="0" err="1" smtClean="0"/>
              <a:t>iostream</a:t>
            </a:r>
            <a:r>
              <a:rPr lang="en-US" sz="2800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class base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  <a:tabLst>
                <a:tab pos="808038" algn="l"/>
              </a:tabLst>
            </a:pPr>
            <a:r>
              <a:rPr lang="en-US" sz="2800" dirty="0" smtClean="0"/>
              <a:t> 	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        void show()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        {    </a:t>
            </a:r>
            <a:r>
              <a:rPr lang="en-US" sz="2800" dirty="0" err="1" smtClean="0"/>
              <a:t>cout</a:t>
            </a:r>
            <a:r>
              <a:rPr lang="en-US" sz="2800" dirty="0" smtClean="0"/>
              <a:t> &lt;&lt; "base\n"; 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class derived : public base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  <a:tabLst>
                <a:tab pos="808038" algn="l"/>
              </a:tabLst>
            </a:pPr>
            <a:r>
              <a:rPr lang="en-US" sz="2800" dirty="0" smtClean="0"/>
              <a:t> 	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        void show()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        {   </a:t>
            </a:r>
            <a:r>
              <a:rPr lang="en-US" sz="2800" dirty="0" err="1" smtClean="0"/>
              <a:t>cout</a:t>
            </a:r>
            <a:r>
              <a:rPr lang="en-US" sz="2800" dirty="0" smtClean="0"/>
              <a:t> &lt;&lt; "derived\n"; 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};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24000" y="1340768"/>
            <a:ext cx="4284000" cy="43924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main()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   base b1;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b1.show(); //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derived d1;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d1.show(); //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derived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base *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pb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&amp;b1;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pb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-&gt;show(); //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pb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&amp;d1;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pb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-&gt;show(); //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2400"/>
              </a:spcBef>
            </a:pPr>
            <a:r>
              <a:rPr lang="en-IN" dirty="0" smtClean="0"/>
              <a:t>A member function declared within a base class are redefined by a derived class. (</a:t>
            </a:r>
            <a:r>
              <a:rPr lang="en-IN" b="1" dirty="0" smtClean="0"/>
              <a:t>Overriding</a:t>
            </a:r>
            <a:r>
              <a:rPr lang="en-IN" dirty="0" smtClean="0"/>
              <a:t>)</a:t>
            </a:r>
          </a:p>
          <a:p>
            <a:pPr algn="just">
              <a:spcBef>
                <a:spcPts val="2400"/>
              </a:spcBef>
            </a:pPr>
            <a:r>
              <a:rPr lang="en-IN" dirty="0" smtClean="0"/>
              <a:t>Implement the "one interface, multiple methods" philosophy that underlies polymorphism.</a:t>
            </a:r>
          </a:p>
          <a:p>
            <a:pPr algn="just">
              <a:spcBef>
                <a:spcPts val="2400"/>
              </a:spcBef>
            </a:pPr>
            <a:r>
              <a:rPr lang="en-IN" dirty="0" smtClean="0"/>
              <a:t>The keyword virtual is used to designate a member function as virtual.</a:t>
            </a:r>
          </a:p>
          <a:p>
            <a:pPr algn="just">
              <a:spcBef>
                <a:spcPts val="2400"/>
              </a:spcBef>
            </a:pPr>
            <a:r>
              <a:rPr lang="en-IN" dirty="0" smtClean="0"/>
              <a:t>Support run-time polymorphism with the help of base class pointers.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Contd…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>
              <a:spcBef>
                <a:spcPts val="600"/>
              </a:spcBef>
            </a:pPr>
            <a:r>
              <a:rPr lang="en-US" dirty="0" smtClean="0"/>
              <a:t>While redefining a virtual function in a derived class,</a:t>
            </a:r>
          </a:p>
          <a:p>
            <a:pPr lvl="1" algn="just">
              <a:spcBef>
                <a:spcPts val="600"/>
              </a:spcBef>
            </a:pPr>
            <a:r>
              <a:rPr lang="en-US" sz="3200" dirty="0" smtClean="0"/>
              <a:t>The function signature must match the original function present in the base class.</a:t>
            </a:r>
          </a:p>
          <a:p>
            <a:pPr lvl="1" algn="just">
              <a:spcBef>
                <a:spcPts val="600"/>
              </a:spcBef>
            </a:pPr>
            <a:r>
              <a:rPr lang="en-US" sz="3200" dirty="0" smtClean="0"/>
              <a:t>The keyword virtual is not needed (but can be specified).</a:t>
            </a:r>
          </a:p>
          <a:p>
            <a:pPr algn="just">
              <a:spcBef>
                <a:spcPts val="600"/>
              </a:spcBef>
            </a:pPr>
            <a:r>
              <a:rPr lang="en-US" dirty="0" smtClean="0"/>
              <a:t>The "virtual"-</a:t>
            </a:r>
            <a:r>
              <a:rPr lang="en-US" dirty="0" err="1" smtClean="0"/>
              <a:t>ity</a:t>
            </a:r>
            <a:r>
              <a:rPr lang="en-US" dirty="0" smtClean="0"/>
              <a:t> of the member function continues along the inheritance chain.</a:t>
            </a:r>
          </a:p>
          <a:p>
            <a:pPr algn="just">
              <a:spcBef>
                <a:spcPts val="600"/>
              </a:spcBef>
            </a:pPr>
            <a:r>
              <a:rPr lang="en-US" dirty="0" smtClean="0"/>
              <a:t>A class that contains a virtual function is referred to as a polymorphic class.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" y="116632"/>
            <a:ext cx="9000000" cy="1143000"/>
          </a:xfrm>
        </p:spPr>
        <p:txBody>
          <a:bodyPr/>
          <a:lstStyle/>
          <a:p>
            <a:r>
              <a:rPr lang="en-US" dirty="0" smtClean="0"/>
              <a:t>Example –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9000000" cy="4968552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#include&lt;</a:t>
            </a:r>
            <a:r>
              <a:rPr lang="en-US" sz="2800" dirty="0" err="1" smtClean="0"/>
              <a:t>iostream</a:t>
            </a:r>
            <a:r>
              <a:rPr lang="en-US" sz="2800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class base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  <a:tabLst>
                <a:tab pos="808038" algn="l"/>
              </a:tabLst>
            </a:pPr>
            <a:r>
              <a:rPr lang="en-US" sz="2800" dirty="0" smtClean="0"/>
              <a:t> 	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        </a:t>
            </a:r>
            <a:r>
              <a:rPr lang="en-US" sz="2800" b="1" dirty="0" smtClean="0"/>
              <a:t>virtual</a:t>
            </a:r>
            <a:r>
              <a:rPr lang="en-US" sz="2800" dirty="0" smtClean="0"/>
              <a:t> void show()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        {    </a:t>
            </a:r>
            <a:r>
              <a:rPr lang="en-US" sz="2800" dirty="0" err="1" smtClean="0"/>
              <a:t>cout</a:t>
            </a:r>
            <a:r>
              <a:rPr lang="en-US" sz="2800" dirty="0" smtClean="0"/>
              <a:t> &lt;&lt; "base\n"; 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class derived : public base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  <a:tabLst>
                <a:tab pos="808038" algn="l"/>
              </a:tabLst>
            </a:pPr>
            <a:r>
              <a:rPr lang="en-US" sz="2800" dirty="0" smtClean="0"/>
              <a:t> 	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        void show()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        {   </a:t>
            </a:r>
            <a:r>
              <a:rPr lang="en-US" sz="2800" dirty="0" err="1" smtClean="0"/>
              <a:t>cout</a:t>
            </a:r>
            <a:r>
              <a:rPr lang="en-US" sz="2800" dirty="0" smtClean="0"/>
              <a:t> &lt;&lt; "derived\n"; 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};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24000" y="1340768"/>
            <a:ext cx="4320000" cy="43924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main()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  base b1;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b1.show(); //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derived d1;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d1.show(); //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derived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base *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pb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&amp;b1;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pb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-&gt;show(); //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pb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&amp;d1;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pb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-&gt;show(); //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derived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3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" y="116632"/>
            <a:ext cx="9000000" cy="1143000"/>
          </a:xfrm>
        </p:spPr>
        <p:txBody>
          <a:bodyPr/>
          <a:lstStyle/>
          <a:p>
            <a:r>
              <a:rPr lang="en-US" dirty="0" smtClean="0"/>
              <a:t>Example –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9000000" cy="5256584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#include&lt;</a:t>
            </a:r>
            <a:r>
              <a:rPr lang="en-US" sz="2400" dirty="0" err="1" smtClean="0"/>
              <a:t>iostream</a:t>
            </a:r>
            <a:r>
              <a:rPr lang="en-US" sz="2400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class base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  <a:tabLst>
                <a:tab pos="808038" algn="l"/>
              </a:tabLst>
            </a:pPr>
            <a:r>
              <a:rPr lang="en-US" sz="2400" dirty="0" smtClean="0"/>
              <a:t> 	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        </a:t>
            </a:r>
            <a:r>
              <a:rPr lang="en-US" sz="2400" b="1" dirty="0" smtClean="0"/>
              <a:t>virtual</a:t>
            </a:r>
            <a:r>
              <a:rPr lang="en-US" sz="2400" dirty="0" smtClean="0"/>
              <a:t> void show()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        {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&lt;&lt; "base\n"; }   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class d1 : public base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  <a:tabLst>
                <a:tab pos="808038" algn="l"/>
              </a:tabLst>
            </a:pPr>
            <a:r>
              <a:rPr lang="en-US" sz="2400" dirty="0" smtClean="0"/>
              <a:t> 	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        void show()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        {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&lt;&lt; "derived – 1\n"; }   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IN" sz="2400" dirty="0" smtClean="0"/>
              <a:t>class d2 : public base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  <a:tabLst>
                <a:tab pos="811213" algn="l"/>
              </a:tabLst>
            </a:pPr>
            <a:r>
              <a:rPr lang="en-IN" sz="2400" dirty="0" smtClean="0"/>
              <a:t> 	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IN" sz="2400" dirty="0" smtClean="0"/>
              <a:t>        void show()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IN" sz="2400" dirty="0" smtClean="0"/>
              <a:t>       {    </a:t>
            </a:r>
            <a:r>
              <a:rPr lang="en-IN" sz="2400" dirty="0" err="1" smtClean="0"/>
              <a:t>cout</a:t>
            </a:r>
            <a:r>
              <a:rPr lang="en-IN" sz="2400" dirty="0" smtClean="0"/>
              <a:t> &lt;&lt; "derived – 2\n";   }   };</a:t>
            </a:r>
            <a:endParaRPr lang="en-US" sz="2400" dirty="0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580112" y="1340768"/>
            <a:ext cx="3204000" cy="5256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lvl="0" indent="-514350">
              <a:buFont typeface="+mj-lt"/>
              <a:buAutoNum type="arabicPeriod" startAt="15"/>
            </a:pPr>
            <a:r>
              <a:rPr lang="en-US" sz="2800" dirty="0" err="1" smtClean="0"/>
              <a:t>int</a:t>
            </a:r>
            <a:r>
              <a:rPr lang="en-US" sz="2800" dirty="0" smtClean="0"/>
              <a:t> main()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800" dirty="0" smtClean="0"/>
              <a:t>{ base *</a:t>
            </a:r>
            <a:r>
              <a:rPr lang="en-US" sz="2800" dirty="0" err="1" smtClean="0"/>
              <a:t>pb</a:t>
            </a:r>
            <a:r>
              <a:rPr lang="en-US" sz="2800" dirty="0" smtClean="0"/>
              <a:t>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800" dirty="0" smtClean="0"/>
              <a:t>   d1 od1;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800" dirty="0" smtClean="0"/>
              <a:t>   d2 od2;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800" dirty="0" smtClean="0"/>
              <a:t>   </a:t>
            </a:r>
            <a:r>
              <a:rPr lang="en-US" sz="2800" dirty="0" err="1" smtClean="0"/>
              <a:t>int</a:t>
            </a:r>
            <a:r>
              <a:rPr lang="en-US" sz="2800" dirty="0" smtClean="0"/>
              <a:t> n;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800" dirty="0" smtClean="0"/>
              <a:t>   </a:t>
            </a:r>
            <a:r>
              <a:rPr lang="en-US" sz="2800" dirty="0" err="1" smtClean="0"/>
              <a:t>cin</a:t>
            </a:r>
            <a:r>
              <a:rPr lang="en-US" sz="2800" dirty="0" smtClean="0"/>
              <a:t> &gt;&gt; n;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800" dirty="0" smtClean="0"/>
              <a:t>   if (n % 2)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800" dirty="0" smtClean="0"/>
              <a:t> 	      </a:t>
            </a:r>
            <a:r>
              <a:rPr lang="en-US" sz="2800" dirty="0" err="1" smtClean="0"/>
              <a:t>pb</a:t>
            </a:r>
            <a:r>
              <a:rPr lang="en-US" sz="2800" dirty="0" smtClean="0"/>
              <a:t> = &amp;od1;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800" dirty="0" smtClean="0"/>
              <a:t>   else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800" dirty="0" smtClean="0"/>
              <a:t> 	      </a:t>
            </a:r>
            <a:r>
              <a:rPr lang="en-US" sz="2800" dirty="0" err="1" smtClean="0"/>
              <a:t>pb</a:t>
            </a:r>
            <a:r>
              <a:rPr lang="en-US" sz="2800" dirty="0" smtClean="0"/>
              <a:t> = &amp;od2;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800" dirty="0" smtClean="0"/>
              <a:t>   </a:t>
            </a:r>
            <a:r>
              <a:rPr lang="en-US" sz="2800" dirty="0" err="1" smtClean="0"/>
              <a:t>pb</a:t>
            </a:r>
            <a:r>
              <a:rPr lang="en-US" sz="2800" dirty="0" smtClean="0"/>
              <a:t>-&gt;show();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800" dirty="0" smtClean="0"/>
              <a:t>   return 0;	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Virtual Destructors</a:t>
            </a: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Constructors cannot be virtual, but destructors can be virtual.</a:t>
            </a:r>
          </a:p>
          <a:p>
            <a:endParaRPr lang="en-US" dirty="0" smtClean="0"/>
          </a:p>
          <a:p>
            <a:r>
              <a:rPr lang="en-US" dirty="0" smtClean="0"/>
              <a:t>It ensures that the derived class destructor is called when a base class pointer is used while deleting a dynamically created derived class object.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(Non-virtual Destructor)</a:t>
            </a:r>
            <a:endParaRPr lang="en-US" dirty="0"/>
          </a:p>
        </p:txBody>
      </p:sp>
      <p:sp>
        <p:nvSpPr>
          <p:cNvPr id="24581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#include&lt;</a:t>
            </a:r>
            <a:r>
              <a:rPr lang="en-US" sz="2500" dirty="0" err="1" smtClean="0"/>
              <a:t>iostream</a:t>
            </a:r>
            <a:r>
              <a:rPr lang="en-US" sz="2500" dirty="0" smtClean="0"/>
              <a:t>&gt;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using namespace std;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class base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{ 	public: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1076325" algn="l"/>
              </a:tabLst>
            </a:pPr>
            <a:r>
              <a:rPr lang="en-US" sz="2500" dirty="0" smtClean="0"/>
              <a:t>   	~base()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1076325" algn="l"/>
              </a:tabLst>
            </a:pPr>
            <a:r>
              <a:rPr lang="en-US" sz="2500" dirty="0" smtClean="0"/>
              <a:t> 	{    </a:t>
            </a:r>
            <a:r>
              <a:rPr lang="en-US" sz="2500" dirty="0" err="1" smtClean="0"/>
              <a:t>cout</a:t>
            </a:r>
            <a:r>
              <a:rPr lang="en-US" sz="2500" dirty="0" smtClean="0"/>
              <a:t> &lt;&lt;  "destructing base\n";   }	};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1076325" algn="l"/>
              </a:tabLst>
            </a:pPr>
            <a:r>
              <a:rPr lang="en-US" sz="2500" dirty="0" smtClean="0"/>
              <a:t>class derived : public base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900113" algn="l"/>
              </a:tabLst>
            </a:pPr>
            <a:r>
              <a:rPr lang="en-US" sz="2500" dirty="0" smtClean="0"/>
              <a:t>{	public: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1076325" algn="l"/>
              </a:tabLst>
            </a:pPr>
            <a:r>
              <a:rPr lang="en-US" sz="2500" dirty="0" smtClean="0"/>
              <a:t> 	~derived()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1076325" algn="l"/>
              </a:tabLst>
            </a:pPr>
            <a:r>
              <a:rPr lang="en-US" sz="2500" dirty="0" smtClean="0"/>
              <a:t> 	{    </a:t>
            </a:r>
            <a:r>
              <a:rPr lang="en-US" sz="2500" dirty="0" err="1" smtClean="0"/>
              <a:t>cout</a:t>
            </a:r>
            <a:r>
              <a:rPr lang="en-US" sz="2500" dirty="0" smtClean="0"/>
              <a:t> &lt;&lt; "destructing derived\n";   }	};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err="1" smtClean="0"/>
              <a:t>int</a:t>
            </a:r>
            <a:r>
              <a:rPr lang="en-US" sz="2500" dirty="0" smtClean="0"/>
              <a:t> main()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{  base *p = new derived;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   delete p;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   return 0;	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580112" y="1935996"/>
            <a:ext cx="2592000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sz="2800" dirty="0" smtClean="0"/>
              <a:t>destructing base</a:t>
            </a:r>
            <a:endParaRPr lang="en-IN" sz="2800" dirty="0" smtClean="0"/>
          </a:p>
        </p:txBody>
      </p:sp>
      <p:sp>
        <p:nvSpPr>
          <p:cNvPr id="14" name="Rectangle 13"/>
          <p:cNvSpPr/>
          <p:nvPr/>
        </p:nvSpPr>
        <p:spPr>
          <a:xfrm>
            <a:off x="5580112" y="1412776"/>
            <a:ext cx="12538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IN" sz="2800" b="1" dirty="0">
                <a:solidFill>
                  <a:prstClr val="black"/>
                </a:solidFill>
              </a:rPr>
              <a:t>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(Virtual Destructor)</a:t>
            </a:r>
            <a:endParaRPr lang="en-US" dirty="0"/>
          </a:p>
        </p:txBody>
      </p:sp>
      <p:sp>
        <p:nvSpPr>
          <p:cNvPr id="24581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#include&lt;</a:t>
            </a:r>
            <a:r>
              <a:rPr lang="en-US" sz="2500" dirty="0" err="1" smtClean="0"/>
              <a:t>iostream</a:t>
            </a:r>
            <a:r>
              <a:rPr lang="en-US" sz="2500" dirty="0" smtClean="0"/>
              <a:t>&gt;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using namespace std;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class base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{ 	public: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1076325" algn="l"/>
              </a:tabLst>
            </a:pPr>
            <a:r>
              <a:rPr lang="en-US" sz="2500" dirty="0" smtClean="0"/>
              <a:t>   	virtual ~base()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1076325" algn="l"/>
              </a:tabLst>
            </a:pPr>
            <a:r>
              <a:rPr lang="en-US" sz="2500" dirty="0" smtClean="0"/>
              <a:t> 	{    </a:t>
            </a:r>
            <a:r>
              <a:rPr lang="en-US" sz="2500" dirty="0" err="1" smtClean="0"/>
              <a:t>cout</a:t>
            </a:r>
            <a:r>
              <a:rPr lang="en-US" sz="2500" dirty="0" smtClean="0"/>
              <a:t> &lt;&lt;  "destructing base\n";   }	};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1076325" algn="l"/>
              </a:tabLst>
            </a:pPr>
            <a:r>
              <a:rPr lang="en-US" sz="2500" dirty="0" smtClean="0"/>
              <a:t>class derived : public base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900113" algn="l"/>
              </a:tabLst>
            </a:pPr>
            <a:r>
              <a:rPr lang="en-US" sz="2500" dirty="0" smtClean="0"/>
              <a:t>{	public: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1076325" algn="l"/>
              </a:tabLst>
            </a:pPr>
            <a:r>
              <a:rPr lang="en-US" sz="2500" dirty="0" smtClean="0"/>
              <a:t> 	~derived()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  <a:tabLst>
                <a:tab pos="1076325" algn="l"/>
              </a:tabLst>
            </a:pPr>
            <a:r>
              <a:rPr lang="en-US" sz="2500" dirty="0" smtClean="0"/>
              <a:t> 	{    </a:t>
            </a:r>
            <a:r>
              <a:rPr lang="en-US" sz="2500" dirty="0" err="1" smtClean="0"/>
              <a:t>cout</a:t>
            </a:r>
            <a:r>
              <a:rPr lang="en-US" sz="2500" dirty="0" smtClean="0"/>
              <a:t> &lt;&lt; "destructing derived\n";   }	};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err="1" smtClean="0"/>
              <a:t>int</a:t>
            </a:r>
            <a:r>
              <a:rPr lang="en-US" sz="2500" dirty="0" smtClean="0"/>
              <a:t> main()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{  base *p = new derived;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   delete p;</a:t>
            </a:r>
          </a:p>
          <a:p>
            <a:pPr marL="722313" indent="-722313">
              <a:spcBef>
                <a:spcPts val="0"/>
              </a:spcBef>
              <a:buFont typeface="+mj-lt"/>
              <a:buAutoNum type="arabicPeriod"/>
            </a:pPr>
            <a:r>
              <a:rPr lang="en-US" sz="2500" dirty="0" smtClean="0"/>
              <a:t>   return 0;	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580112" y="1935996"/>
            <a:ext cx="2988000" cy="10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sz="2800" dirty="0" smtClean="0"/>
              <a:t>destructing derived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2800" dirty="0" smtClean="0"/>
              <a:t>destructing base</a:t>
            </a:r>
            <a:endParaRPr lang="en-IN" sz="2800" dirty="0" smtClean="0"/>
          </a:p>
        </p:txBody>
      </p:sp>
      <p:sp>
        <p:nvSpPr>
          <p:cNvPr id="14" name="Rectangle 13"/>
          <p:cNvSpPr/>
          <p:nvPr/>
        </p:nvSpPr>
        <p:spPr>
          <a:xfrm>
            <a:off x="5580112" y="1412776"/>
            <a:ext cx="12538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IN" sz="2800" b="1" dirty="0">
                <a:solidFill>
                  <a:prstClr val="black"/>
                </a:solidFill>
              </a:rPr>
              <a:t>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More About Virtual Functions</a:t>
            </a:r>
            <a:endParaRPr 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spcBef>
                <a:spcPts val="1900"/>
              </a:spcBef>
            </a:pPr>
            <a:r>
              <a:rPr lang="en-US" dirty="0" smtClean="0"/>
              <a:t>To omit the body of a virtual function in a base class, use pure virtual functions.</a:t>
            </a:r>
          </a:p>
          <a:p>
            <a:pPr lvl="1">
              <a:spcBef>
                <a:spcPts val="1900"/>
              </a:spcBef>
            </a:pPr>
            <a:r>
              <a:rPr lang="en-US" sz="3200" dirty="0" smtClean="0"/>
              <a:t>virtual </a:t>
            </a:r>
            <a:r>
              <a:rPr lang="en-US" sz="3200" dirty="0" err="1" smtClean="0"/>
              <a:t>returnType</a:t>
            </a:r>
            <a:r>
              <a:rPr lang="en-US" sz="3200" dirty="0" smtClean="0"/>
              <a:t> </a:t>
            </a:r>
            <a:r>
              <a:rPr lang="en-US" sz="3200" dirty="0" err="1" smtClean="0"/>
              <a:t>functionName</a:t>
            </a:r>
            <a:r>
              <a:rPr lang="en-US" sz="3200" dirty="0" smtClean="0"/>
              <a:t>(</a:t>
            </a:r>
            <a:r>
              <a:rPr lang="en-US" sz="3200" dirty="0" err="1" smtClean="0"/>
              <a:t>paramList</a:t>
            </a:r>
            <a:r>
              <a:rPr lang="en-US" sz="3200" dirty="0" smtClean="0"/>
              <a:t>) = 0;</a:t>
            </a:r>
          </a:p>
          <a:p>
            <a:pPr>
              <a:spcBef>
                <a:spcPts val="1900"/>
              </a:spcBef>
            </a:pPr>
            <a:r>
              <a:rPr lang="en-US" dirty="0" smtClean="0"/>
              <a:t>This makes a class an abstract class, i.e. cannot create any objects of such classes.</a:t>
            </a:r>
          </a:p>
          <a:p>
            <a:pPr>
              <a:spcBef>
                <a:spcPts val="1900"/>
              </a:spcBef>
            </a:pPr>
            <a:r>
              <a:rPr lang="en-US" dirty="0" smtClean="0"/>
              <a:t>Derived classes should override such functions , otherwise they become abstract too.</a:t>
            </a:r>
          </a:p>
          <a:p>
            <a:pPr>
              <a:spcBef>
                <a:spcPts val="1900"/>
              </a:spcBef>
            </a:pPr>
            <a:r>
              <a:rPr lang="en-US" dirty="0" smtClean="0"/>
              <a:t>Pointer to an abstract class can be still be created.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 Class &amp;Pure Virtual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class A                 \\ Abstract Class</a:t>
            </a:r>
          </a:p>
          <a:p>
            <a:pPr>
              <a:buNone/>
            </a:pPr>
            <a:r>
              <a:rPr lang="en-US" dirty="0" smtClean="0"/>
              <a:t>{  virtual void </a:t>
            </a:r>
            <a:r>
              <a:rPr lang="en-US" dirty="0" err="1" smtClean="0"/>
              <a:t>disp</a:t>
            </a:r>
            <a:r>
              <a:rPr lang="en-US" dirty="0" smtClean="0"/>
              <a:t>() = 0;           \\Pure virtual function</a:t>
            </a:r>
          </a:p>
          <a:p>
            <a:pPr>
              <a:buNone/>
            </a:pPr>
            <a:r>
              <a:rPr lang="en-US" dirty="0" smtClean="0"/>
              <a:t> };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Not possible-    A </a:t>
            </a:r>
            <a:r>
              <a:rPr lang="en-US" dirty="0" err="1" smtClean="0"/>
              <a:t>obj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428604"/>
            <a:ext cx="9000000" cy="58807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Derived class should contain definition of the pure virtual function, else it would also become an abstract class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class A</a:t>
            </a:r>
          </a:p>
          <a:p>
            <a:pPr>
              <a:buNone/>
            </a:pPr>
            <a:r>
              <a:rPr lang="en-US" dirty="0" smtClean="0"/>
              <a:t>{ virtual void </a:t>
            </a:r>
            <a:r>
              <a:rPr lang="en-US" dirty="0" err="1" smtClean="0"/>
              <a:t>disp</a:t>
            </a:r>
            <a:r>
              <a:rPr lang="en-US" dirty="0" smtClean="0"/>
              <a:t>()= 0;</a:t>
            </a:r>
          </a:p>
          <a:p>
            <a:pPr>
              <a:buNone/>
            </a:pPr>
            <a:r>
              <a:rPr lang="en-US" dirty="0" smtClean="0"/>
              <a:t>};</a:t>
            </a:r>
          </a:p>
          <a:p>
            <a:pPr>
              <a:buNone/>
            </a:pPr>
            <a:r>
              <a:rPr lang="en-US" dirty="0" smtClean="0"/>
              <a:t> class B: public class A</a:t>
            </a:r>
          </a:p>
          <a:p>
            <a:pPr>
              <a:buNone/>
            </a:pPr>
            <a:r>
              <a:rPr lang="en-US" dirty="0" smtClean="0"/>
              <a:t>{ virtual void </a:t>
            </a:r>
            <a:r>
              <a:rPr lang="en-US" dirty="0" err="1" smtClean="0"/>
              <a:t>disp</a:t>
            </a:r>
            <a:r>
              <a:rPr lang="en-US" dirty="0" smtClean="0"/>
              <a:t>() = 0;</a:t>
            </a:r>
          </a:p>
          <a:p>
            <a:pPr>
              <a:buNone/>
            </a:pPr>
            <a:r>
              <a:rPr lang="en-US" dirty="0" smtClean="0"/>
              <a:t>};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381000"/>
            <a:ext cx="4038600" cy="57451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smtClean="0"/>
              <a:t>using namespace std;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class A</a:t>
            </a:r>
          </a:p>
          <a:p>
            <a:pPr>
              <a:buNone/>
            </a:pPr>
            <a:r>
              <a:rPr lang="en-US" dirty="0" smtClean="0"/>
              <a:t>{ public:</a:t>
            </a:r>
          </a:p>
          <a:p>
            <a:pPr>
              <a:buNone/>
            </a:pPr>
            <a:r>
              <a:rPr lang="en-US" dirty="0" smtClean="0"/>
              <a:t>  virtual void </a:t>
            </a:r>
            <a:r>
              <a:rPr lang="en-US" dirty="0" err="1" smtClean="0"/>
              <a:t>disp</a:t>
            </a:r>
            <a:r>
              <a:rPr lang="en-US" dirty="0" smtClean="0"/>
              <a:t>()= 0;</a:t>
            </a:r>
          </a:p>
          <a:p>
            <a:pPr>
              <a:buNone/>
            </a:pPr>
            <a:r>
              <a:rPr lang="en-US" dirty="0" smtClean="0"/>
              <a:t>};</a:t>
            </a:r>
          </a:p>
          <a:p>
            <a:pPr>
              <a:buNone/>
            </a:pPr>
            <a:r>
              <a:rPr lang="en-US" dirty="0" smtClean="0"/>
              <a:t> class B: public A</a:t>
            </a:r>
          </a:p>
          <a:p>
            <a:pPr>
              <a:buNone/>
            </a:pPr>
            <a:r>
              <a:rPr lang="en-US" dirty="0" smtClean="0"/>
              <a:t>{ public:</a:t>
            </a:r>
          </a:p>
          <a:p>
            <a:pPr>
              <a:buNone/>
            </a:pPr>
            <a:r>
              <a:rPr lang="en-US" dirty="0" smtClean="0"/>
              <a:t>  virtual void </a:t>
            </a:r>
            <a:r>
              <a:rPr lang="en-US" dirty="0" err="1" smtClean="0"/>
              <a:t>disp</a:t>
            </a:r>
            <a:r>
              <a:rPr lang="en-US" dirty="0" smtClean="0"/>
              <a:t>() = 0;</a:t>
            </a:r>
          </a:p>
          <a:p>
            <a:pPr>
              <a:buNone/>
            </a:pPr>
            <a:r>
              <a:rPr lang="en-US" dirty="0" smtClean="0"/>
              <a:t>};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381000"/>
            <a:ext cx="4038600" cy="57451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class C: public B</a:t>
            </a:r>
          </a:p>
          <a:p>
            <a:pPr>
              <a:buNone/>
            </a:pPr>
            <a:r>
              <a:rPr lang="en-US" dirty="0" smtClean="0"/>
              <a:t>{ public:</a:t>
            </a:r>
          </a:p>
          <a:p>
            <a:pPr>
              <a:buNone/>
            </a:pPr>
            <a:r>
              <a:rPr lang="en-US" dirty="0" smtClean="0"/>
              <a:t>  void </a:t>
            </a:r>
            <a:r>
              <a:rPr lang="en-US" dirty="0" err="1" smtClean="0"/>
              <a:t>disp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smtClean="0"/>
              <a:t>{</a:t>
            </a:r>
            <a:r>
              <a:rPr lang="en-US" dirty="0" err="1" smtClean="0"/>
              <a:t>cout</a:t>
            </a:r>
            <a:r>
              <a:rPr lang="en-US" dirty="0" smtClean="0"/>
              <a:t>&lt;&lt;"Welcome";}</a:t>
            </a:r>
          </a:p>
          <a:p>
            <a:pPr>
              <a:buNone/>
            </a:pPr>
            <a:r>
              <a:rPr lang="en-US" dirty="0" smtClean="0"/>
              <a:t>};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>
              <a:buNone/>
            </a:pPr>
            <a:r>
              <a:rPr lang="en-US" dirty="0" smtClean="0"/>
              <a:t>{   C </a:t>
            </a:r>
            <a:r>
              <a:rPr lang="en-US" dirty="0" err="1" smtClean="0"/>
              <a:t>obj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obj.disp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 smtClean="0"/>
              <a:t>  return 0;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to Abstract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4422"/>
            <a:ext cx="4038600" cy="491174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smtClean="0"/>
              <a:t>using namespace std;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class A</a:t>
            </a:r>
          </a:p>
          <a:p>
            <a:pPr>
              <a:buNone/>
            </a:pPr>
            <a:r>
              <a:rPr lang="en-US" dirty="0" smtClean="0"/>
              <a:t>{ public:</a:t>
            </a:r>
          </a:p>
          <a:p>
            <a:pPr>
              <a:buNone/>
            </a:pPr>
            <a:r>
              <a:rPr lang="en-US" dirty="0" smtClean="0"/>
              <a:t>  virtual void </a:t>
            </a:r>
            <a:r>
              <a:rPr lang="en-US" dirty="0" err="1" smtClean="0"/>
              <a:t>disp</a:t>
            </a:r>
            <a:r>
              <a:rPr lang="en-US" dirty="0" smtClean="0"/>
              <a:t>()= 0;</a:t>
            </a:r>
          </a:p>
          <a:p>
            <a:pPr>
              <a:buNone/>
            </a:pPr>
            <a:r>
              <a:rPr lang="en-US" dirty="0" smtClean="0"/>
              <a:t>};</a:t>
            </a:r>
          </a:p>
          <a:p>
            <a:pPr>
              <a:buNone/>
            </a:pPr>
            <a:r>
              <a:rPr lang="en-US" dirty="0" smtClean="0"/>
              <a:t>class C: public A</a:t>
            </a:r>
          </a:p>
          <a:p>
            <a:pPr>
              <a:buNone/>
            </a:pPr>
            <a:r>
              <a:rPr lang="en-US" dirty="0" smtClean="0"/>
              <a:t>{ public:</a:t>
            </a:r>
          </a:p>
          <a:p>
            <a:pPr>
              <a:buNone/>
            </a:pPr>
            <a:r>
              <a:rPr lang="en-US" dirty="0" smtClean="0"/>
              <a:t>  void </a:t>
            </a:r>
            <a:r>
              <a:rPr lang="en-US" dirty="0" err="1" smtClean="0"/>
              <a:t>disp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smtClean="0"/>
              <a:t>{</a:t>
            </a:r>
            <a:r>
              <a:rPr lang="en-US" dirty="0" err="1" smtClean="0"/>
              <a:t>cout</a:t>
            </a:r>
            <a:r>
              <a:rPr lang="en-US" dirty="0" smtClean="0"/>
              <a:t>&lt;&lt;"Welcome";}</a:t>
            </a:r>
          </a:p>
          <a:p>
            <a:pPr>
              <a:buNone/>
            </a:pPr>
            <a:r>
              <a:rPr lang="en-US" dirty="0" smtClean="0"/>
              <a:t>};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85860"/>
            <a:ext cx="4038600" cy="484030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>
              <a:buNone/>
            </a:pPr>
            <a:r>
              <a:rPr lang="en-US" dirty="0" smtClean="0"/>
              <a:t>{   A *p;</a:t>
            </a:r>
          </a:p>
          <a:p>
            <a:pPr>
              <a:buNone/>
            </a:pPr>
            <a:r>
              <a:rPr lang="en-US" dirty="0" smtClean="0"/>
              <a:t>    C </a:t>
            </a:r>
            <a:r>
              <a:rPr lang="en-US" dirty="0" err="1" smtClean="0"/>
              <a:t>obj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  p= &amp;</a:t>
            </a:r>
            <a:r>
              <a:rPr lang="en-US" dirty="0" err="1" smtClean="0"/>
              <a:t>obj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  p-&gt;</a:t>
            </a:r>
            <a:r>
              <a:rPr lang="en-US" dirty="0" err="1" smtClean="0"/>
              <a:t>disp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 smtClean="0"/>
              <a:t>  return 0;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OUTPUT</a:t>
            </a:r>
          </a:p>
          <a:p>
            <a:pPr>
              <a:buNone/>
            </a:pPr>
            <a:r>
              <a:rPr lang="en-US" smtClean="0"/>
              <a:t>Welcome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Applying Polymorphism</a:t>
            </a: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 smtClean="0"/>
              <a:t>Early binding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Normal functions, overloaded functions.</a:t>
            </a:r>
          </a:p>
          <a:p>
            <a:pPr lvl="1">
              <a:spcBef>
                <a:spcPts val="0"/>
              </a:spcBef>
            </a:pPr>
            <a:r>
              <a:rPr lang="en-US" dirty="0" err="1" smtClean="0"/>
              <a:t>Nonvirtual</a:t>
            </a:r>
            <a:r>
              <a:rPr lang="en-US" dirty="0" smtClean="0"/>
              <a:t> member and friend functions.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Resolved at compile time.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Very efficient.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But lacks flexibility.</a:t>
            </a:r>
            <a:endParaRPr lang="en-US" sz="3200" dirty="0" smtClean="0"/>
          </a:p>
          <a:p>
            <a:pPr>
              <a:spcBef>
                <a:spcPts val="0"/>
              </a:spcBef>
            </a:pPr>
            <a:r>
              <a:rPr lang="en-US" dirty="0" smtClean="0"/>
              <a:t>Late binding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Virtual functions accessed via a base class pointer.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Resolved at run-time.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Quite flexible during run-time.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But has run-time overhead; slows down </a:t>
            </a:r>
            <a:r>
              <a:rPr lang="en-US" smtClean="0"/>
              <a:t>program execution.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1009</TotalTime>
  <Words>863</Words>
  <Application>Microsoft Office PowerPoint</Application>
  <PresentationFormat>On-screen Show (4:3)</PresentationFormat>
  <Paragraphs>231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Polymorphism</vt:lpstr>
      <vt:lpstr>Types of Polymorphism</vt:lpstr>
      <vt:lpstr>Run-time Polymorphism</vt:lpstr>
      <vt:lpstr>Pointers to Derived Classes</vt:lpstr>
      <vt:lpstr>Contd…</vt:lpstr>
      <vt:lpstr>Example</vt:lpstr>
      <vt:lpstr>Virtual Functions</vt:lpstr>
      <vt:lpstr>Contd…</vt:lpstr>
      <vt:lpstr>Example – 1</vt:lpstr>
      <vt:lpstr>Example – 2</vt:lpstr>
      <vt:lpstr>Virtual Destructors</vt:lpstr>
      <vt:lpstr>Example (Non-virtual Destructor)</vt:lpstr>
      <vt:lpstr>Example (Virtual Destructor)</vt:lpstr>
      <vt:lpstr>More About Virtual Functions</vt:lpstr>
      <vt:lpstr>Abstract Class &amp;Pure Virtual Function</vt:lpstr>
      <vt:lpstr>Slide 16</vt:lpstr>
      <vt:lpstr>Slide 17</vt:lpstr>
      <vt:lpstr>Pointer to Abstract Class</vt:lpstr>
      <vt:lpstr>Applying Polymorphism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</dc:title>
  <dc:creator>hp</dc:creator>
  <cp:lastModifiedBy>raman</cp:lastModifiedBy>
  <cp:revision>66</cp:revision>
  <dcterms:created xsi:type="dcterms:W3CDTF">2016-10-04T09:33:42Z</dcterms:created>
  <dcterms:modified xsi:type="dcterms:W3CDTF">2018-03-19T09:30:27Z</dcterms:modified>
</cp:coreProperties>
</file>