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96E6A-B5D9-4A35-833C-E5229FF9E001}" type="datetimeFigureOut">
              <a:rPr lang="en-GB" smtClean="0"/>
              <a:pPr/>
              <a:t>29/01/2018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386E1-A5BA-4585-8F45-44FA464500B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A280-0E08-4E04-8269-83A1D4B48612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49B6-B200-4BD2-88D0-46101A865963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A673-A471-4DE5-9186-B6D3D09A4FFD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36044-4EF8-469F-ABCA-A950367BC9AB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B2690-2A4E-4120-8F59-1B83D31BBAD7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2520-3F12-4880-8E73-468D1F910C0C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C46F-ACCC-4994-B77A-4943C78AF458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D7F05-4877-4341-BF26-0FEE5989A9FA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4D38-F504-431F-A1C0-506AD8DF2AD4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16982-6B48-46E5-A808-2B6BDED7C815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7627B-EFE3-4E0C-BC46-E748B42FD1BC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96752"/>
            <a:ext cx="9144000" cy="511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D02FB-B400-42E0-B6CA-0DD7EB429183}" type="datetime1">
              <a:rPr lang="en-GB" smtClean="0"/>
              <a:pPr/>
              <a:t>29/01/2018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0A95D-210C-4BAE-AE9A-6CCBC85840D8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6"/>
            <a:ext cx="7772400" cy="1470025"/>
          </a:xfrm>
        </p:spPr>
        <p:txBody>
          <a:bodyPr/>
          <a:lstStyle/>
          <a:p>
            <a:r>
              <a:rPr lang="en-GB" dirty="0" smtClean="0"/>
              <a:t>Lecture 8 – 9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2000" y="3168550"/>
            <a:ext cx="7020000" cy="2492697"/>
          </a:xfrm>
        </p:spPr>
        <p:txBody>
          <a:bodyPr>
            <a:noAutofit/>
          </a:bodyPr>
          <a:lstStyle/>
          <a:p>
            <a:pPr marL="269875" indent="-269875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Arrays with in a </a:t>
            </a:r>
            <a:r>
              <a:rPr lang="en-US" dirty="0" smtClean="0">
                <a:solidFill>
                  <a:schemeClr val="tx1"/>
                </a:solidFill>
              </a:rPr>
              <a:t>class</a:t>
            </a:r>
          </a:p>
          <a:p>
            <a:pPr marL="269875" indent="-269875" algn="l">
              <a:buFont typeface="Arial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Memory allocation for objects of class</a:t>
            </a:r>
            <a:endParaRPr lang="en-US" dirty="0" smtClean="0">
              <a:solidFill>
                <a:schemeClr val="tx1"/>
              </a:solidFill>
            </a:endParaRPr>
          </a:p>
          <a:p>
            <a:pPr marL="269875" indent="-269875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Array </a:t>
            </a:r>
            <a:r>
              <a:rPr lang="en-US" dirty="0">
                <a:solidFill>
                  <a:schemeClr val="tx1"/>
                </a:solidFill>
              </a:rPr>
              <a:t>of </a:t>
            </a:r>
            <a:r>
              <a:rPr lang="en-US" dirty="0" smtClean="0">
                <a:solidFill>
                  <a:schemeClr val="tx1"/>
                </a:solidFill>
              </a:rPr>
              <a:t>objects</a:t>
            </a:r>
          </a:p>
          <a:p>
            <a:pPr marL="269875" indent="-269875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Object </a:t>
            </a:r>
            <a:r>
              <a:rPr lang="en-US" dirty="0">
                <a:solidFill>
                  <a:schemeClr val="tx1"/>
                </a:solidFill>
              </a:rPr>
              <a:t>as </a:t>
            </a:r>
            <a:r>
              <a:rPr lang="en-US" dirty="0" smtClean="0">
                <a:solidFill>
                  <a:schemeClr val="tx1"/>
                </a:solidFill>
              </a:rPr>
              <a:t>function arguments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Arrays within a class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Arrays can be used as class member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3888" y="2026583"/>
            <a:ext cx="5364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68288" indent="-268288">
              <a:buFont typeface="Arial" pitchFamily="34" charset="0"/>
              <a:buChar char="•"/>
            </a:pPr>
            <a:r>
              <a:rPr lang="en-GB" sz="32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GB" sz="3200" dirty="0" smtClean="0"/>
              <a:t> is an integer array.</a:t>
            </a:r>
          </a:p>
          <a:p>
            <a:pPr marL="268288" indent="-268288">
              <a:buFont typeface="Arial" pitchFamily="34" charset="0"/>
              <a:buChar char="•"/>
            </a:pPr>
            <a:r>
              <a:rPr lang="en-GB" sz="3200" dirty="0" smtClean="0"/>
              <a:t>It is declared as a private data member of the class </a:t>
            </a:r>
            <a:r>
              <a:rPr lang="en-GB" sz="3200" b="1" i="1" dirty="0"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GB" sz="3200" dirty="0" smtClean="0"/>
              <a:t>.</a:t>
            </a:r>
          </a:p>
          <a:p>
            <a:pPr marL="268288" indent="-268288">
              <a:buFont typeface="Arial" pitchFamily="34" charset="0"/>
              <a:buChar char="•"/>
            </a:pPr>
            <a:r>
              <a:rPr lang="en-GB" sz="3200" dirty="0" smtClean="0"/>
              <a:t>Can be used in class member functions.</a:t>
            </a:r>
            <a:endParaRPr lang="en-GB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79512" y="2466991"/>
            <a:ext cx="4603701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GB" sz="3200" dirty="0">
                <a:solidFill>
                  <a:prstClr val="black"/>
                </a:solidFill>
              </a:rPr>
              <a:t>class array</a:t>
            </a:r>
          </a:p>
          <a:p>
            <a:pPr marL="342900" lvl="0" indent="-342900">
              <a:spcBef>
                <a:spcPct val="20000"/>
              </a:spcBef>
            </a:pPr>
            <a:r>
              <a:rPr lang="en-GB" sz="3200" dirty="0" smtClean="0">
                <a:solidFill>
                  <a:prstClr val="black"/>
                </a:solidFill>
              </a:rPr>
              <a:t>{</a:t>
            </a:r>
            <a:r>
              <a:rPr lang="en-GB" sz="3200" dirty="0">
                <a:solidFill>
                  <a:prstClr val="black"/>
                </a:solidFill>
              </a:rPr>
              <a:t>		</a:t>
            </a:r>
            <a:r>
              <a:rPr lang="en-GB" sz="3200" dirty="0" err="1">
                <a:solidFill>
                  <a:prstClr val="black"/>
                </a:solidFill>
              </a:rPr>
              <a:t>int</a:t>
            </a:r>
            <a:r>
              <a:rPr lang="en-GB" sz="3200" dirty="0">
                <a:solidFill>
                  <a:prstClr val="black"/>
                </a:solidFill>
              </a:rPr>
              <a:t> a[10];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GB" sz="3200" dirty="0">
                <a:solidFill>
                  <a:prstClr val="black"/>
                </a:solidFill>
              </a:rPr>
              <a:t>	public:</a:t>
            </a:r>
          </a:p>
          <a:p>
            <a:pPr marL="342900" lvl="0" indent="-342900">
              <a:spcBef>
                <a:spcPct val="20000"/>
              </a:spcBef>
            </a:pPr>
            <a:r>
              <a:rPr lang="en-GB" sz="3200" dirty="0">
                <a:solidFill>
                  <a:prstClr val="black"/>
                </a:solidFill>
              </a:rPr>
              <a:t>		void </a:t>
            </a:r>
            <a:r>
              <a:rPr lang="en-GB" sz="3200" dirty="0" err="1" smtClean="0">
                <a:solidFill>
                  <a:prstClr val="black"/>
                </a:solidFill>
              </a:rPr>
              <a:t>setVal</a:t>
            </a:r>
            <a:r>
              <a:rPr lang="en-GB" sz="3200" dirty="0" smtClean="0">
                <a:solidFill>
                  <a:prstClr val="black"/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GB" sz="3200" dirty="0">
                <a:solidFill>
                  <a:prstClr val="black"/>
                </a:solidFill>
              </a:rPr>
              <a:t>	</a:t>
            </a:r>
            <a:r>
              <a:rPr lang="en-GB" sz="3200" dirty="0" smtClean="0">
                <a:solidFill>
                  <a:prstClr val="black"/>
                </a:solidFill>
              </a:rPr>
              <a:t>	void sort();</a:t>
            </a:r>
            <a:endParaRPr lang="en-GB" sz="3200" dirty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GB" sz="3200" dirty="0">
                <a:solidFill>
                  <a:prstClr val="black"/>
                </a:solidFill>
              </a:rPr>
              <a:t>		void </a:t>
            </a:r>
            <a:r>
              <a:rPr lang="en-GB" sz="3200" dirty="0" smtClean="0">
                <a:solidFill>
                  <a:prstClr val="black"/>
                </a:solidFill>
              </a:rPr>
              <a:t>display();</a:t>
            </a:r>
            <a:endParaRPr lang="en-GB" sz="3200" dirty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GB" sz="3200" dirty="0">
                <a:solidFill>
                  <a:prstClr val="black"/>
                </a:solidFill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#include&lt;</a:t>
            </a:r>
            <a:r>
              <a:rPr lang="en-GB" sz="2400" b="1" dirty="0" err="1" smtClean="0"/>
              <a:t>iostream</a:t>
            </a:r>
            <a:r>
              <a:rPr lang="en-GB" sz="2400" b="1" dirty="0" smtClean="0"/>
              <a:t>&gt;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using namespace std;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class array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</a:t>
            </a:r>
            <a:r>
              <a:rPr lang="en-GB" sz="2400" b="1" dirty="0"/>
              <a:t> </a:t>
            </a:r>
            <a:r>
              <a:rPr lang="en-GB" sz="2400" b="1" dirty="0" smtClean="0"/>
              <a:t>       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a[10];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    public: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/>
              <a:t> </a:t>
            </a:r>
            <a:r>
              <a:rPr lang="en-GB" sz="2400" b="1" dirty="0" smtClean="0"/>
              <a:t>        void </a:t>
            </a:r>
            <a:r>
              <a:rPr lang="en-GB" sz="2400" b="1" dirty="0" err="1" smtClean="0"/>
              <a:t>setVal</a:t>
            </a:r>
            <a:r>
              <a:rPr lang="en-GB" sz="2400" b="1" dirty="0" smtClean="0"/>
              <a:t>()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        {    for (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= 0;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&lt; 10;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++)	</a:t>
            </a:r>
            <a:r>
              <a:rPr lang="en-GB" sz="2400" b="1" dirty="0" err="1" smtClean="0"/>
              <a:t>cin</a:t>
            </a:r>
            <a:r>
              <a:rPr lang="en-GB" sz="2400" b="1" dirty="0" smtClean="0"/>
              <a:t> &gt;&gt; a[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];	}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        void sort()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        {    for (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= 0;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&lt; 9;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++)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/>
              <a:t> </a:t>
            </a:r>
            <a:r>
              <a:rPr lang="en-GB" sz="2400" b="1" dirty="0" smtClean="0"/>
              <a:t>                  for (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j = 0; j &lt; 10 -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- 1; j++)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/>
              <a:t> </a:t>
            </a:r>
            <a:r>
              <a:rPr lang="en-GB" sz="2400" b="1" dirty="0" smtClean="0"/>
              <a:t>                  {    if (a[j] &gt; a[j + 1])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  		{    a[j] = a[j] + a[j + 1];</a:t>
            </a:r>
            <a:endParaRPr lang="en-GB" sz="2400" b="1" dirty="0"/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			     a[j + 1] = a[j] - a[j + 1];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/>
              <a:t> </a:t>
            </a:r>
            <a:r>
              <a:rPr lang="en-GB" sz="2400" b="1" dirty="0" smtClean="0"/>
              <a:t>			     a[j] = a[j] - a[j + 1];	  }	}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      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 smtClean="0"/>
              <a:t> </a:t>
            </a:r>
            <a:r>
              <a:rPr lang="en-GB" sz="2400" b="1" dirty="0"/>
              <a:t>void display()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         {    for (</a:t>
            </a:r>
            <a:r>
              <a:rPr lang="en-GB" sz="2400" b="1" dirty="0" err="1"/>
              <a:t>int</a:t>
            </a:r>
            <a:r>
              <a:rPr lang="en-GB" sz="2400" b="1" dirty="0"/>
              <a:t> </a:t>
            </a:r>
            <a:r>
              <a:rPr lang="en-GB" sz="2400" b="1" dirty="0" err="1"/>
              <a:t>i</a:t>
            </a:r>
            <a:r>
              <a:rPr lang="en-GB" sz="2400" b="1" dirty="0"/>
              <a:t> = 0; </a:t>
            </a:r>
            <a:r>
              <a:rPr lang="en-GB" sz="2400" b="1" dirty="0" err="1"/>
              <a:t>i</a:t>
            </a:r>
            <a:r>
              <a:rPr lang="en-GB" sz="2400" b="1" dirty="0"/>
              <a:t> &lt; 10; </a:t>
            </a:r>
            <a:r>
              <a:rPr lang="en-GB" sz="2400" b="1" dirty="0" err="1"/>
              <a:t>i</a:t>
            </a:r>
            <a:r>
              <a:rPr lang="en-GB" sz="2400" b="1" dirty="0"/>
              <a:t>++)                   </a:t>
            </a:r>
            <a:r>
              <a:rPr lang="en-GB" sz="2400" b="1" dirty="0" err="1"/>
              <a:t>cout</a:t>
            </a:r>
            <a:r>
              <a:rPr lang="en-GB" sz="2400" b="1" dirty="0"/>
              <a:t> &lt;&lt; a[</a:t>
            </a:r>
            <a:r>
              <a:rPr lang="en-GB" sz="2400" b="1" dirty="0" err="1"/>
              <a:t>i</a:t>
            </a:r>
            <a:r>
              <a:rPr lang="en-GB" sz="2400" b="1" dirty="0"/>
              <a:t>] &lt;&lt; '\t';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         }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};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 err="1"/>
              <a:t>int</a:t>
            </a:r>
            <a:r>
              <a:rPr lang="en-GB" sz="2400" b="1" dirty="0"/>
              <a:t> main()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{	array </a:t>
            </a:r>
            <a:r>
              <a:rPr lang="en-GB" sz="2400" b="1" dirty="0" err="1" smtClean="0"/>
              <a:t>Arr</a:t>
            </a:r>
            <a:r>
              <a:rPr lang="en-GB" sz="2400" b="1" dirty="0" smtClean="0"/>
              <a:t>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 </a:t>
            </a:r>
            <a:r>
              <a:rPr lang="en-GB" sz="2400" b="1" dirty="0" smtClean="0"/>
              <a:t>  </a:t>
            </a:r>
            <a:r>
              <a:rPr lang="en-GB" sz="2400" b="1" dirty="0" err="1" smtClean="0"/>
              <a:t>Arr.setVal</a:t>
            </a:r>
            <a:r>
              <a:rPr lang="en-GB" sz="2400" b="1" dirty="0" smtClean="0"/>
              <a:t>();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 </a:t>
            </a:r>
            <a:r>
              <a:rPr lang="en-GB" sz="2400" b="1" dirty="0" smtClean="0"/>
              <a:t>  </a:t>
            </a:r>
            <a:r>
              <a:rPr lang="en-GB" sz="2400" b="1" dirty="0" err="1" smtClean="0"/>
              <a:t>Arr.sort</a:t>
            </a:r>
            <a:r>
              <a:rPr lang="en-GB" sz="2400" b="1" dirty="0"/>
              <a:t>();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	</a:t>
            </a:r>
            <a:r>
              <a:rPr lang="en-GB" sz="2400" b="1" dirty="0" err="1"/>
              <a:t>cout</a:t>
            </a:r>
            <a:r>
              <a:rPr lang="en-GB" sz="2400" b="1" dirty="0"/>
              <a:t> &lt;&lt; "Sorted sequence is:\</a:t>
            </a:r>
            <a:r>
              <a:rPr lang="en-GB" sz="2400" b="1" dirty="0" smtClean="0"/>
              <a:t>n";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 </a:t>
            </a:r>
            <a:r>
              <a:rPr lang="en-GB" sz="2400" b="1" dirty="0" smtClean="0"/>
              <a:t>  </a:t>
            </a:r>
            <a:r>
              <a:rPr lang="en-GB" sz="2400" b="1" dirty="0" err="1" smtClean="0"/>
              <a:t>Arr.display</a:t>
            </a:r>
            <a:r>
              <a:rPr lang="en-GB" sz="2400" b="1" dirty="0"/>
              <a:t>();</a:t>
            </a:r>
          </a:p>
          <a:p>
            <a:pPr marL="725488" indent="-725488">
              <a:spcBef>
                <a:spcPts val="0"/>
              </a:spcBef>
              <a:buFont typeface="+mj-lt"/>
              <a:buAutoNum type="arabicPeriod" startAt="16"/>
            </a:pPr>
            <a:r>
              <a:rPr lang="en-GB" sz="2400" b="1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476000" y="5013176"/>
            <a:ext cx="6192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Output:</a:t>
            </a:r>
          </a:p>
          <a:p>
            <a:r>
              <a:rPr lang="en-GB" sz="2400" b="1" dirty="0" smtClean="0">
                <a:solidFill>
                  <a:schemeClr val="bg1"/>
                </a:solidFill>
              </a:rPr>
              <a:t>10 9 8 7 6 5 4 3 2 1</a:t>
            </a:r>
            <a:endParaRPr lang="en-GB" sz="2400" b="1" dirty="0">
              <a:solidFill>
                <a:schemeClr val="bg1"/>
              </a:solidFill>
            </a:endParaRPr>
          </a:p>
          <a:p>
            <a:r>
              <a:rPr lang="en-GB" sz="2400" b="1" dirty="0">
                <a:solidFill>
                  <a:schemeClr val="bg1"/>
                </a:solidFill>
              </a:rPr>
              <a:t>Sorted sequence is: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1       2       3       4       5       6       7       8       9       10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Memory allocation for objects of class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1028" name="Picture 4" descr="Memory Allocation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31540" y="909288"/>
            <a:ext cx="8280920" cy="540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dirty="0" smtClean="0"/>
              <a:t>During class specification</a:t>
            </a:r>
          </a:p>
          <a:p>
            <a:pPr lvl="1">
              <a:spcBef>
                <a:spcPts val="0"/>
              </a:spcBef>
            </a:pPr>
            <a:r>
              <a:rPr lang="en-GB" sz="3000" dirty="0" smtClean="0"/>
              <a:t>No  memory </a:t>
            </a:r>
            <a:r>
              <a:rPr lang="en-GB" sz="3000" dirty="0"/>
              <a:t>space </a:t>
            </a:r>
            <a:r>
              <a:rPr lang="en-GB" sz="3000" dirty="0" smtClean="0"/>
              <a:t>is allocated for </a:t>
            </a:r>
            <a:r>
              <a:rPr lang="en-GB" sz="3000" dirty="0"/>
              <a:t>the </a:t>
            </a:r>
            <a:r>
              <a:rPr lang="en-GB" sz="3000" dirty="0" smtClean="0"/>
              <a:t>class data members.</a:t>
            </a:r>
          </a:p>
          <a:p>
            <a:pPr lvl="1">
              <a:spcBef>
                <a:spcPts val="0"/>
              </a:spcBef>
            </a:pPr>
            <a:r>
              <a:rPr lang="en-GB" sz="3000" dirty="0" smtClean="0"/>
              <a:t>Memory is allocated to class member functions once they  are defined as a part of  class specification.</a:t>
            </a:r>
          </a:p>
          <a:p>
            <a:pPr>
              <a:spcBef>
                <a:spcPts val="600"/>
              </a:spcBef>
            </a:pPr>
            <a:r>
              <a:rPr lang="en-GB" dirty="0" smtClean="0"/>
              <a:t>During object creation</a:t>
            </a:r>
          </a:p>
          <a:p>
            <a:pPr lvl="1">
              <a:spcBef>
                <a:spcPts val="0"/>
              </a:spcBef>
            </a:pPr>
            <a:r>
              <a:rPr lang="en-GB" sz="3000" dirty="0" smtClean="0"/>
              <a:t>No separate space is allocated for class member functions, they remain same for all objects.</a:t>
            </a:r>
          </a:p>
          <a:p>
            <a:pPr lvl="1">
              <a:spcBef>
                <a:spcPts val="0"/>
              </a:spcBef>
            </a:pPr>
            <a:r>
              <a:rPr lang="en-GB" sz="3000" dirty="0" smtClean="0"/>
              <a:t>Memory is allocated for class data members separately for each object as they hold different data values for different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objects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GB" dirty="0" smtClean="0"/>
              <a:t>It is possible to have arrays of objects.</a:t>
            </a:r>
          </a:p>
          <a:p>
            <a:pPr lvl="1">
              <a:spcBef>
                <a:spcPts val="1200"/>
              </a:spcBef>
            </a:pPr>
            <a:r>
              <a:rPr lang="en-GB" sz="3200" dirty="0" smtClean="0"/>
              <a:t>Means array of variables of type class.</a:t>
            </a:r>
          </a:p>
          <a:p>
            <a:pPr>
              <a:spcBef>
                <a:spcPts val="1200"/>
              </a:spcBef>
            </a:pPr>
            <a:r>
              <a:rPr lang="en-GB" dirty="0" smtClean="0"/>
              <a:t>The syntax for declaring and using an object array is exactly the same as it is for any other type of array.</a:t>
            </a:r>
          </a:p>
          <a:p>
            <a:pPr lvl="1">
              <a:spcBef>
                <a:spcPts val="1200"/>
              </a:spcBef>
            </a:pPr>
            <a:r>
              <a:rPr lang="en-GB" sz="3200" dirty="0" smtClean="0"/>
              <a:t>Use usual array-accessing methods to access individual elements, and then the dot member operator to access the member functions.</a:t>
            </a:r>
          </a:p>
          <a:p>
            <a:pPr>
              <a:spcBef>
                <a:spcPts val="1200"/>
              </a:spcBef>
            </a:pPr>
            <a:r>
              <a:rPr lang="en-GB" dirty="0" smtClean="0"/>
              <a:t>An array of objects is stored inside the memory in the same way as a multi-dimensional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8</a:t>
            </a:fld>
            <a:endParaRPr lang="en-GB"/>
          </a:p>
        </p:txBody>
      </p:sp>
      <p:grpSp>
        <p:nvGrpSpPr>
          <p:cNvPr id="9" name="Group 8"/>
          <p:cNvGrpSpPr/>
          <p:nvPr/>
        </p:nvGrpSpPr>
        <p:grpSpPr>
          <a:xfrm>
            <a:off x="179512" y="1700808"/>
            <a:ext cx="8784976" cy="4176464"/>
            <a:chOff x="179512" y="2060848"/>
            <a:chExt cx="8784976" cy="4176464"/>
          </a:xfrm>
        </p:grpSpPr>
        <p:sp>
          <p:nvSpPr>
            <p:cNvPr id="5" name="Rectangle 4"/>
            <p:cNvSpPr/>
            <p:nvPr/>
          </p:nvSpPr>
          <p:spPr>
            <a:xfrm>
              <a:off x="179512" y="2060848"/>
              <a:ext cx="3924000" cy="41303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spcBef>
                  <a:spcPct val="20000"/>
                </a:spcBef>
              </a:pPr>
              <a:r>
                <a:rPr lang="en-GB" sz="3200" dirty="0">
                  <a:solidFill>
                    <a:prstClr val="black"/>
                  </a:solidFill>
                </a:rPr>
                <a:t>class 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emp</a:t>
              </a:r>
              <a:endParaRPr lang="en-GB" sz="3200" dirty="0">
                <a:solidFill>
                  <a:prstClr val="black"/>
                </a:solidFill>
              </a:endParaRP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 smtClean="0">
                  <a:solidFill>
                    <a:prstClr val="black"/>
                  </a:solidFill>
                </a:rPr>
                <a:t>{</a:t>
              </a:r>
              <a:r>
                <a:rPr lang="en-GB" sz="3200" dirty="0">
                  <a:solidFill>
                    <a:prstClr val="black"/>
                  </a:solidFill>
                </a:rPr>
                <a:t>		</a:t>
              </a:r>
              <a:r>
                <a:rPr lang="en-GB" sz="3200" dirty="0" smtClean="0">
                  <a:solidFill>
                    <a:prstClr val="black"/>
                  </a:solidFill>
                </a:rPr>
                <a:t>char name[10];</a:t>
              </a: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 smtClean="0">
                  <a:solidFill>
                    <a:prstClr val="black"/>
                  </a:solidFill>
                </a:rPr>
                <a:t>		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int</a:t>
              </a:r>
              <a:r>
                <a:rPr lang="en-GB" sz="3200" dirty="0" smtClean="0">
                  <a:solidFill>
                    <a:prstClr val="black"/>
                  </a:solidFill>
                </a:rPr>
                <a:t> age;</a:t>
              </a:r>
              <a:endParaRPr lang="en-GB" sz="3200" dirty="0">
                <a:solidFill>
                  <a:prstClr val="black"/>
                </a:solidFill>
              </a:endParaRP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>
                  <a:solidFill>
                    <a:prstClr val="black"/>
                  </a:solidFill>
                </a:rPr>
                <a:t>	public:</a:t>
              </a: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>
                  <a:solidFill>
                    <a:prstClr val="black"/>
                  </a:solidFill>
                </a:rPr>
                <a:t>		void 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getData</a:t>
              </a:r>
              <a:r>
                <a:rPr lang="en-GB" sz="3200" dirty="0" smtClean="0">
                  <a:solidFill>
                    <a:prstClr val="black"/>
                  </a:solidFill>
                </a:rPr>
                <a:t>();</a:t>
              </a: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>
                  <a:solidFill>
                    <a:prstClr val="black"/>
                  </a:solidFill>
                </a:rPr>
                <a:t>	</a:t>
              </a:r>
              <a:r>
                <a:rPr lang="en-GB" sz="3200" dirty="0" smtClean="0">
                  <a:solidFill>
                    <a:prstClr val="black"/>
                  </a:solidFill>
                </a:rPr>
                <a:t>	void 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putData</a:t>
              </a:r>
              <a:r>
                <a:rPr lang="en-GB" sz="3200" dirty="0" smtClean="0">
                  <a:solidFill>
                    <a:prstClr val="black"/>
                  </a:solidFill>
                </a:rPr>
                <a:t>();</a:t>
              </a:r>
              <a:endParaRPr lang="en-GB" sz="3200" dirty="0">
                <a:solidFill>
                  <a:prstClr val="black"/>
                </a:solidFill>
              </a:endParaRP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 smtClean="0">
                  <a:solidFill>
                    <a:prstClr val="black"/>
                  </a:solidFill>
                </a:rPr>
                <a:t>};</a:t>
              </a:r>
              <a:endParaRPr lang="en-GB" sz="3200" dirty="0">
                <a:solidFill>
                  <a:prstClr val="black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508488" y="2060848"/>
              <a:ext cx="3456000" cy="23575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342900" lvl="0" indent="-342900">
                <a:spcBef>
                  <a:spcPct val="20000"/>
                </a:spcBef>
                <a:buFont typeface="Arial" pitchFamily="34" charset="0"/>
                <a:buChar char="•"/>
              </a:pPr>
              <a:r>
                <a:rPr lang="en-GB" sz="3200" dirty="0" err="1" smtClean="0">
                  <a:solidFill>
                    <a:prstClr val="black"/>
                  </a:solidFill>
                </a:rPr>
                <a:t>emp</a:t>
              </a:r>
              <a:r>
                <a:rPr lang="en-GB" sz="3200" dirty="0" smtClean="0">
                  <a:solidFill>
                    <a:prstClr val="black"/>
                  </a:solidFill>
                </a:rPr>
                <a:t> manager[3];</a:t>
              </a: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 smtClean="0">
                  <a:solidFill>
                    <a:prstClr val="black"/>
                  </a:solidFill>
                </a:rPr>
                <a:t>// Array of manager</a:t>
              </a:r>
            </a:p>
            <a:p>
              <a:pPr marL="342900" lvl="0" indent="-342900">
                <a:spcBef>
                  <a:spcPct val="20000"/>
                </a:spcBef>
                <a:buFont typeface="Arial" pitchFamily="34" charset="0"/>
                <a:buChar char="•"/>
              </a:pPr>
              <a:r>
                <a:rPr lang="en-GB" sz="3200" dirty="0" err="1" smtClean="0">
                  <a:solidFill>
                    <a:prstClr val="black"/>
                  </a:solidFill>
                </a:rPr>
                <a:t>emp</a:t>
              </a:r>
              <a:r>
                <a:rPr lang="en-GB" sz="3200" dirty="0" smtClean="0">
                  <a:solidFill>
                    <a:prstClr val="black"/>
                  </a:solidFill>
                </a:rPr>
                <a:t> worker[10];</a:t>
              </a:r>
            </a:p>
            <a:p>
              <a:pPr marL="342900" lvl="0" indent="-342900">
                <a:spcBef>
                  <a:spcPct val="20000"/>
                </a:spcBef>
              </a:pPr>
              <a:r>
                <a:rPr lang="en-GB" sz="3200" dirty="0" smtClean="0">
                  <a:solidFill>
                    <a:prstClr val="black"/>
                  </a:solidFill>
                </a:rPr>
                <a:t>// Array of worker</a:t>
              </a:r>
              <a:endParaRPr lang="en-GB" sz="3200" dirty="0">
                <a:solidFill>
                  <a:prstClr val="black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924488" y="4470675"/>
              <a:ext cx="5040000" cy="17666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342900" indent="-342900">
                <a:spcBef>
                  <a:spcPct val="20000"/>
                </a:spcBef>
              </a:pPr>
              <a:r>
                <a:rPr lang="en-GB" sz="3200" dirty="0" smtClean="0">
                  <a:solidFill>
                    <a:prstClr val="black"/>
                  </a:solidFill>
                </a:rPr>
                <a:t>Accessing member functions.</a:t>
              </a:r>
            </a:p>
            <a:p>
              <a:pPr marL="342900" indent="-342900">
                <a:spcBef>
                  <a:spcPct val="20000"/>
                </a:spcBef>
                <a:buFont typeface="Arial" pitchFamily="34" charset="0"/>
                <a:buChar char="•"/>
              </a:pPr>
              <a:r>
                <a:rPr lang="en-GB" sz="3200" dirty="0" smtClean="0">
                  <a:solidFill>
                    <a:prstClr val="black"/>
                  </a:solidFill>
                </a:rPr>
                <a:t>manager[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i</a:t>
              </a:r>
              <a:r>
                <a:rPr lang="en-GB" sz="3200" dirty="0" smtClean="0">
                  <a:solidFill>
                    <a:prstClr val="black"/>
                  </a:solidFill>
                </a:rPr>
                <a:t>].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getData</a:t>
              </a:r>
              <a:r>
                <a:rPr lang="en-GB" sz="3200" dirty="0" smtClean="0">
                  <a:solidFill>
                    <a:prstClr val="black"/>
                  </a:solidFill>
                </a:rPr>
                <a:t>();</a:t>
              </a:r>
            </a:p>
            <a:p>
              <a:pPr marL="342900" indent="-342900">
                <a:spcBef>
                  <a:spcPct val="20000"/>
                </a:spcBef>
                <a:buFont typeface="Arial" pitchFamily="34" charset="0"/>
                <a:buChar char="•"/>
              </a:pPr>
              <a:r>
                <a:rPr lang="en-GB" sz="3200" dirty="0" smtClean="0">
                  <a:solidFill>
                    <a:prstClr val="black"/>
                  </a:solidFill>
                </a:rPr>
                <a:t>manager[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i</a:t>
              </a:r>
              <a:r>
                <a:rPr lang="en-GB" sz="3200" dirty="0" smtClean="0">
                  <a:solidFill>
                    <a:prstClr val="black"/>
                  </a:solidFill>
                </a:rPr>
                <a:t>].</a:t>
              </a:r>
              <a:r>
                <a:rPr lang="en-GB" sz="3200" dirty="0" err="1" smtClean="0">
                  <a:solidFill>
                    <a:prstClr val="black"/>
                  </a:solidFill>
                </a:rPr>
                <a:t>putData</a:t>
              </a:r>
              <a:r>
                <a:rPr lang="en-GB" sz="3200" dirty="0" smtClean="0">
                  <a:solidFill>
                    <a:prstClr val="black"/>
                  </a:solidFill>
                </a:rPr>
                <a:t>();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 array of objects is stored similar to multi-dimensional array.</a:t>
            </a:r>
          </a:p>
          <a:p>
            <a:pPr lvl="0" algn="ctr">
              <a:buNone/>
            </a:pPr>
            <a:r>
              <a:rPr lang="en-GB" dirty="0" err="1" smtClean="0">
                <a:solidFill>
                  <a:prstClr val="black"/>
                </a:solidFill>
              </a:rPr>
              <a:t>emp</a:t>
            </a:r>
            <a:r>
              <a:rPr lang="en-GB" dirty="0" smtClean="0">
                <a:solidFill>
                  <a:prstClr val="black"/>
                </a:solidFill>
              </a:rPr>
              <a:t> manager[3];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44376" y="2978616"/>
          <a:ext cx="58120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000"/>
                <a:gridCol w="2032000"/>
                <a:gridCol w="2628000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3200" dirty="0" smtClean="0"/>
                        <a:t>name</a:t>
                      </a:r>
                      <a:endParaRPr lang="en-GB" sz="32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manager[0]</a:t>
                      </a:r>
                      <a:endParaRPr lang="en-GB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3200" dirty="0" smtClean="0"/>
                        <a:t>age</a:t>
                      </a:r>
                      <a:endParaRPr lang="en-GB" sz="32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3200" dirty="0" smtClean="0"/>
                        <a:t>name</a:t>
                      </a:r>
                      <a:endParaRPr lang="en-GB" sz="32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manager[1]</a:t>
                      </a:r>
                      <a:endParaRPr lang="en-GB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3200" dirty="0" smtClean="0"/>
                        <a:t>age</a:t>
                      </a:r>
                      <a:endParaRPr lang="en-GB" sz="32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3200" dirty="0" smtClean="0"/>
                        <a:t>name</a:t>
                      </a:r>
                      <a:endParaRPr lang="en-GB" sz="32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manager[2]</a:t>
                      </a:r>
                      <a:endParaRPr lang="en-GB" sz="3200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3200" dirty="0" smtClean="0"/>
                        <a:t>age</a:t>
                      </a:r>
                      <a:endParaRPr lang="en-GB" sz="32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6" name="Right Brace 5"/>
          <p:cNvSpPr/>
          <p:nvPr/>
        </p:nvSpPr>
        <p:spPr>
          <a:xfrm>
            <a:off x="5364088" y="4211920"/>
            <a:ext cx="216024" cy="100811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Brace 6"/>
          <p:cNvSpPr/>
          <p:nvPr/>
        </p:nvSpPr>
        <p:spPr>
          <a:xfrm>
            <a:off x="5364088" y="3068960"/>
            <a:ext cx="216024" cy="100811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>
            <a:off x="5364088" y="5373216"/>
            <a:ext cx="216024" cy="100811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#include&lt;</a:t>
            </a:r>
            <a:r>
              <a:rPr lang="en-GB" sz="2400" b="1" dirty="0" err="1" smtClean="0"/>
              <a:t>iostream</a:t>
            </a:r>
            <a:r>
              <a:rPr lang="en-GB" sz="24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class </a:t>
            </a:r>
            <a:r>
              <a:rPr lang="en-GB" sz="2400" b="1" dirty="0" err="1" smtClean="0"/>
              <a:t>emp</a:t>
            </a:r>
            <a:endParaRPr lang="en-GB" sz="2400" b="1" dirty="0" smtClean="0"/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	char name[10];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age;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void </a:t>
            </a:r>
            <a:r>
              <a:rPr lang="en-GB" sz="2400" b="1" dirty="0" err="1" smtClean="0"/>
              <a:t>getData</a:t>
            </a:r>
            <a:r>
              <a:rPr lang="en-GB" sz="2400" b="1" dirty="0" smtClean="0"/>
              <a:t>();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void </a:t>
            </a:r>
            <a:r>
              <a:rPr lang="en-GB" sz="2400" b="1" dirty="0" err="1" smtClean="0"/>
              <a:t>putData</a:t>
            </a:r>
            <a:r>
              <a:rPr lang="en-GB" sz="2400" b="1" dirty="0" smtClean="0"/>
              <a:t>();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void </a:t>
            </a:r>
            <a:r>
              <a:rPr lang="en-GB" sz="2400" b="1" dirty="0" err="1" smtClean="0"/>
              <a:t>emp</a:t>
            </a:r>
            <a:r>
              <a:rPr lang="en-GB" sz="2400" b="1" dirty="0" smtClean="0"/>
              <a:t> :: </a:t>
            </a:r>
            <a:r>
              <a:rPr lang="en-GB" sz="2400" b="1" dirty="0" err="1" smtClean="0"/>
              <a:t>getData</a:t>
            </a:r>
            <a:r>
              <a:rPr lang="en-GB" sz="2400" b="1" dirty="0" smtClean="0"/>
              <a:t>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"Enter Name: ";	</a:t>
            </a:r>
            <a:r>
              <a:rPr lang="en-GB" sz="2400" b="1" dirty="0" err="1" smtClean="0"/>
              <a:t>cin</a:t>
            </a:r>
            <a:r>
              <a:rPr lang="en-GB" sz="2400" b="1" dirty="0" smtClean="0"/>
              <a:t> &gt;&gt; name;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"Enter Age: ";		</a:t>
            </a:r>
            <a:r>
              <a:rPr lang="en-GB" sz="2400" b="1" dirty="0" err="1" smtClean="0"/>
              <a:t>cin</a:t>
            </a:r>
            <a:r>
              <a:rPr lang="en-GB" sz="2400" b="1" dirty="0" smtClean="0"/>
              <a:t> &gt;&gt; age;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void </a:t>
            </a:r>
            <a:r>
              <a:rPr lang="en-GB" sz="2400" b="1" dirty="0" err="1" smtClean="0"/>
              <a:t>emp</a:t>
            </a:r>
            <a:r>
              <a:rPr lang="en-GB" sz="2400" b="1" dirty="0" smtClean="0"/>
              <a:t> :: </a:t>
            </a:r>
            <a:r>
              <a:rPr lang="en-GB" sz="2400" b="1" dirty="0" err="1" smtClean="0"/>
              <a:t>putData</a:t>
            </a:r>
            <a:r>
              <a:rPr lang="en-GB" sz="2400" b="1" dirty="0" smtClean="0"/>
              <a:t>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"\</a:t>
            </a:r>
            <a:r>
              <a:rPr lang="en-GB" sz="2400" b="1" dirty="0" err="1" smtClean="0"/>
              <a:t>tName</a:t>
            </a:r>
            <a:r>
              <a:rPr lang="en-GB" sz="2400" b="1" dirty="0" smtClean="0"/>
              <a:t>: " &lt;&lt; name &lt;&lt; "\</a:t>
            </a:r>
            <a:r>
              <a:rPr lang="en-GB" sz="2400" b="1" dirty="0" err="1" smtClean="0"/>
              <a:t>tAge</a:t>
            </a:r>
            <a:r>
              <a:rPr lang="en-GB" sz="2400" b="1" dirty="0" smtClean="0"/>
              <a:t>: " &lt;&lt; age &lt;&lt; </a:t>
            </a:r>
            <a:r>
              <a:rPr lang="en-GB" sz="2400" b="1" dirty="0" err="1" smtClean="0"/>
              <a:t>endl</a:t>
            </a:r>
            <a:r>
              <a:rPr lang="en-GB" sz="2400" b="1" dirty="0" smtClean="0"/>
              <a:t>;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1196751"/>
            <a:ext cx="9144000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err="1" smtClean="0"/>
              <a:t>int</a:t>
            </a:r>
            <a:r>
              <a:rPr lang="en-GB" sz="2400" b="1" dirty="0" smtClean="0"/>
              <a:t> main()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{	</a:t>
            </a:r>
            <a:r>
              <a:rPr lang="en-GB" sz="2400" b="1" dirty="0" err="1" smtClean="0"/>
              <a:t>emp</a:t>
            </a:r>
            <a:r>
              <a:rPr lang="en-GB" sz="2400" b="1" dirty="0" smtClean="0"/>
              <a:t> manager[3];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for (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= 0;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&lt; 3;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++)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{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"\</a:t>
            </a:r>
            <a:r>
              <a:rPr lang="en-GB" sz="2400" b="1" dirty="0" err="1" smtClean="0"/>
              <a:t>nEnter</a:t>
            </a:r>
            <a:r>
              <a:rPr lang="en-GB" sz="2400" b="1" dirty="0" smtClean="0"/>
              <a:t> details of manager " &lt;&lt;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+ 1 &lt;&lt; </a:t>
            </a:r>
            <a:r>
              <a:rPr lang="en-GB" sz="2400" b="1" dirty="0" err="1" smtClean="0"/>
              <a:t>endl</a:t>
            </a:r>
            <a:r>
              <a:rPr lang="en-GB" sz="2400" b="1" dirty="0" smtClean="0"/>
              <a:t>;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	manager[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].</a:t>
            </a:r>
            <a:r>
              <a:rPr lang="en-GB" sz="2400" b="1" dirty="0" err="1" smtClean="0"/>
              <a:t>getData</a:t>
            </a:r>
            <a:r>
              <a:rPr lang="en-GB" sz="2400" b="1" dirty="0" smtClean="0"/>
              <a:t>();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}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for (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= 0;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&lt; 3;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++)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{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"\</a:t>
            </a:r>
            <a:r>
              <a:rPr lang="en-GB" sz="2400" b="1" dirty="0" err="1" smtClean="0"/>
              <a:t>nManager</a:t>
            </a:r>
            <a:r>
              <a:rPr lang="en-GB" sz="2400" b="1" dirty="0" smtClean="0"/>
              <a:t> " &lt;&lt;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+ 1;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	manager[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].</a:t>
            </a:r>
            <a:r>
              <a:rPr lang="en-GB" sz="2400" b="1" dirty="0" err="1" smtClean="0"/>
              <a:t>putData</a:t>
            </a:r>
            <a:r>
              <a:rPr lang="en-GB" sz="2400" b="1" dirty="0" smtClean="0"/>
              <a:t>();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}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	return 0;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 startAt="15"/>
            </a:pPr>
            <a:r>
              <a:rPr lang="en-GB" sz="2400" b="1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000" y="1196752"/>
            <a:ext cx="4248000" cy="5324535"/>
          </a:xfrm>
          <a:solidFill>
            <a:schemeClr val="tx1"/>
          </a:solidFill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details of manager 1</a:t>
            </a: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Name: </a:t>
            </a:r>
            <a:r>
              <a:rPr lang="en-GB" sz="2000" b="1" dirty="0" err="1" smtClean="0">
                <a:solidFill>
                  <a:schemeClr val="bg1"/>
                </a:solidFill>
              </a:rPr>
              <a:t>Arun</a:t>
            </a: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Age: 50</a:t>
            </a:r>
          </a:p>
          <a:p>
            <a:pPr marL="0">
              <a:spcBef>
                <a:spcPts val="0"/>
              </a:spcBef>
              <a:buNone/>
            </a:pP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details of manager 2</a:t>
            </a: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Name: </a:t>
            </a:r>
            <a:r>
              <a:rPr lang="en-GB" sz="2000" b="1" dirty="0" err="1" smtClean="0">
                <a:solidFill>
                  <a:schemeClr val="bg1"/>
                </a:solidFill>
              </a:rPr>
              <a:t>Amita</a:t>
            </a: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Age: 35</a:t>
            </a:r>
          </a:p>
          <a:p>
            <a:pPr marL="0">
              <a:spcBef>
                <a:spcPts val="0"/>
              </a:spcBef>
              <a:buNone/>
            </a:pP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details of manager 3</a:t>
            </a: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Name: </a:t>
            </a:r>
            <a:r>
              <a:rPr lang="en-GB" sz="2000" b="1" dirty="0" err="1" smtClean="0">
                <a:solidFill>
                  <a:schemeClr val="bg1"/>
                </a:solidFill>
              </a:rPr>
              <a:t>Yashika</a:t>
            </a: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Enter Age: 45</a:t>
            </a:r>
          </a:p>
          <a:p>
            <a:pPr marL="0">
              <a:spcBef>
                <a:spcPts val="0"/>
              </a:spcBef>
              <a:buNone/>
            </a:pP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Manager 1       Name: </a:t>
            </a:r>
            <a:r>
              <a:rPr lang="en-GB" sz="2000" b="1" dirty="0" err="1" smtClean="0">
                <a:solidFill>
                  <a:schemeClr val="bg1"/>
                </a:solidFill>
              </a:rPr>
              <a:t>Arun</a:t>
            </a:r>
            <a:r>
              <a:rPr lang="en-GB" sz="2000" b="1" dirty="0" smtClean="0">
                <a:solidFill>
                  <a:schemeClr val="bg1"/>
                </a:solidFill>
              </a:rPr>
              <a:t>      Age: 50</a:t>
            </a:r>
          </a:p>
          <a:p>
            <a:pPr marL="0">
              <a:spcBef>
                <a:spcPts val="0"/>
              </a:spcBef>
              <a:buNone/>
            </a:pP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Manager 2       Name: </a:t>
            </a:r>
            <a:r>
              <a:rPr lang="en-GB" sz="2000" b="1" dirty="0" err="1" smtClean="0">
                <a:solidFill>
                  <a:schemeClr val="bg1"/>
                </a:solidFill>
              </a:rPr>
              <a:t>Amita</a:t>
            </a:r>
            <a:r>
              <a:rPr lang="en-GB" sz="2000" b="1" dirty="0" smtClean="0">
                <a:solidFill>
                  <a:schemeClr val="bg1"/>
                </a:solidFill>
              </a:rPr>
              <a:t>     Age: 35</a:t>
            </a:r>
          </a:p>
          <a:p>
            <a:pPr marL="0">
              <a:spcBef>
                <a:spcPts val="0"/>
              </a:spcBef>
              <a:buNone/>
            </a:pPr>
            <a:endParaRPr lang="en-GB" sz="2000" b="1" dirty="0" smtClean="0">
              <a:solidFill>
                <a:schemeClr val="bg1"/>
              </a:solidFill>
            </a:endParaRPr>
          </a:p>
          <a:p>
            <a:pPr marL="0">
              <a:spcBef>
                <a:spcPts val="0"/>
              </a:spcBef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Manager 3       Name: </a:t>
            </a:r>
            <a:r>
              <a:rPr lang="en-GB" sz="2000" b="1" dirty="0" err="1" smtClean="0">
                <a:solidFill>
                  <a:schemeClr val="bg1"/>
                </a:solidFill>
              </a:rPr>
              <a:t>Yashika</a:t>
            </a:r>
            <a:r>
              <a:rPr lang="en-GB" sz="2000" b="1" dirty="0" smtClean="0">
                <a:solidFill>
                  <a:schemeClr val="bg1"/>
                </a:solidFill>
              </a:rPr>
              <a:t>   Age: 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 as function arguments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400"/>
              </a:spcBef>
            </a:pPr>
            <a:r>
              <a:rPr lang="en-GB" sz="3500" dirty="0" smtClean="0"/>
              <a:t>Object can be passed as a function argument, like any other data type to member functions as well as non-member functions.</a:t>
            </a:r>
          </a:p>
          <a:p>
            <a:pPr>
              <a:spcBef>
                <a:spcPts val="400"/>
              </a:spcBef>
            </a:pPr>
            <a:r>
              <a:rPr lang="en-GB" sz="3500" dirty="0" smtClean="0"/>
              <a:t>Pass-by-value</a:t>
            </a:r>
          </a:p>
          <a:p>
            <a:pPr lvl="1">
              <a:spcBef>
                <a:spcPts val="400"/>
              </a:spcBef>
            </a:pPr>
            <a:r>
              <a:rPr lang="en-GB" sz="3000" dirty="0" smtClean="0"/>
              <a:t>Pass a copy of the entire object, which destroys when the function terminates.</a:t>
            </a:r>
          </a:p>
          <a:p>
            <a:pPr lvl="1">
              <a:spcBef>
                <a:spcPts val="400"/>
              </a:spcBef>
            </a:pPr>
            <a:r>
              <a:rPr lang="en-GB" sz="3000" dirty="0" smtClean="0"/>
              <a:t>Changes made to the copy of an object within function are not reflected in the actual object.</a:t>
            </a:r>
          </a:p>
          <a:p>
            <a:pPr>
              <a:spcBef>
                <a:spcPts val="400"/>
              </a:spcBef>
            </a:pPr>
            <a:r>
              <a:rPr lang="en-GB" sz="3500" dirty="0" smtClean="0"/>
              <a:t>Pass-by-reference</a:t>
            </a:r>
          </a:p>
          <a:p>
            <a:pPr lvl="1">
              <a:spcBef>
                <a:spcPts val="400"/>
              </a:spcBef>
            </a:pPr>
            <a:r>
              <a:rPr lang="en-GB" sz="3000" dirty="0" smtClean="0"/>
              <a:t>Pass only the address of the object, not the entire object.</a:t>
            </a:r>
          </a:p>
          <a:p>
            <a:pPr lvl="1">
              <a:spcBef>
                <a:spcPts val="400"/>
              </a:spcBef>
            </a:pPr>
            <a:r>
              <a:rPr lang="en-GB" sz="3000" dirty="0" smtClean="0"/>
              <a:t>Changes made to an object within the function are also reflected in the actual object.</a:t>
            </a:r>
            <a:endParaRPr lang="en-GB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GB" dirty="0" smtClean="0"/>
              <a:t>When a class object is passed to a member function of the same class.</a:t>
            </a:r>
          </a:p>
          <a:p>
            <a:pPr lvl="1">
              <a:spcBef>
                <a:spcPts val="0"/>
              </a:spcBef>
            </a:pPr>
            <a:r>
              <a:rPr lang="en-GB" dirty="0" smtClean="0"/>
              <a:t>Its data members can be accessed inside the function using the object name and the dot operator.</a:t>
            </a:r>
          </a:p>
          <a:p>
            <a:pPr lvl="1">
              <a:spcBef>
                <a:spcPts val="0"/>
              </a:spcBef>
            </a:pPr>
            <a:r>
              <a:rPr lang="en-GB" dirty="0" smtClean="0"/>
              <a:t>However, data members of the calling object can be accessed directly inside the function without using the object name and the dot operator.</a:t>
            </a:r>
          </a:p>
          <a:p>
            <a:pPr>
              <a:spcBef>
                <a:spcPts val="0"/>
              </a:spcBef>
            </a:pPr>
            <a:r>
              <a:rPr lang="en-GB" dirty="0" smtClean="0"/>
              <a:t>When a class object is passed to a non-member function.</a:t>
            </a:r>
          </a:p>
          <a:p>
            <a:pPr lvl="1">
              <a:spcBef>
                <a:spcPts val="0"/>
              </a:spcBef>
            </a:pPr>
            <a:r>
              <a:rPr lang="en-GB" dirty="0" smtClean="0"/>
              <a:t>Its public members can only be accessed inside the function using the object name and the dot operator.</a:t>
            </a:r>
          </a:p>
          <a:p>
            <a:pPr lvl="1">
              <a:spcBef>
                <a:spcPts val="0"/>
              </a:spcBef>
            </a:pPr>
            <a:r>
              <a:rPr lang="en-GB" dirty="0" smtClean="0"/>
              <a:t>No access to private members.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(Pass-by-value)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#include &lt;</a:t>
            </a:r>
            <a:r>
              <a:rPr lang="en-GB" sz="2400" b="1" dirty="0" err="1" smtClean="0"/>
              <a:t>iostream</a:t>
            </a:r>
            <a:r>
              <a:rPr lang="en-GB" sz="24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class Convert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public 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void increment(Convert </a:t>
            </a:r>
            <a:r>
              <a:rPr lang="en-GB" sz="2400" b="1" dirty="0" err="1" smtClean="0"/>
              <a:t>obj</a:t>
            </a:r>
            <a:r>
              <a:rPr lang="en-GB" sz="2400" b="1" dirty="0" smtClean="0"/>
              <a:t>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{    </a:t>
            </a:r>
            <a:r>
              <a:rPr lang="en-GB" sz="2400" b="1" dirty="0" err="1" smtClean="0"/>
              <a:t>obj.i</a:t>
            </a:r>
            <a:r>
              <a:rPr lang="en-GB" sz="2400" b="1" dirty="0" smtClean="0"/>
              <a:t>=</a:t>
            </a:r>
            <a:r>
              <a:rPr lang="en-GB" sz="2400" b="1" dirty="0" err="1" smtClean="0"/>
              <a:t>obj.i</a:t>
            </a:r>
            <a:r>
              <a:rPr lang="en-GB" sz="2400" b="1" dirty="0" smtClean="0"/>
              <a:t>*2;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      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"Value of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in member function : " &lt;&lt; </a:t>
            </a:r>
            <a:r>
              <a:rPr lang="en-GB" sz="2400" b="1" dirty="0" err="1" smtClean="0"/>
              <a:t>obj.i</a:t>
            </a:r>
            <a:r>
              <a:rPr lang="en-GB" sz="2400" b="1" dirty="0" smtClean="0"/>
              <a:t>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err="1" smtClean="0"/>
              <a:t>int</a:t>
            </a:r>
            <a:r>
              <a:rPr lang="en-GB" sz="2400" b="1" dirty="0" smtClean="0"/>
              <a:t> main 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Convert obj1;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obj1.i=3;	obj1.increment(obj1);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"\</a:t>
            </a:r>
            <a:r>
              <a:rPr lang="en-GB" sz="2400" b="1" dirty="0" err="1" smtClean="0"/>
              <a:t>nValue</a:t>
            </a:r>
            <a:r>
              <a:rPr lang="en-GB" sz="2400" b="1" dirty="0" smtClean="0"/>
              <a:t> of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in main : " &lt;&lt; obj1.i &lt;&lt; "\n";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return 0;	}</a:t>
            </a:r>
            <a:endParaRPr lang="en-GB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55976" y="1268760"/>
            <a:ext cx="4320008" cy="156966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rtlCol="0">
            <a:spAutoFit/>
          </a:bodyPr>
          <a:lstStyle/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Output:</a:t>
            </a:r>
          </a:p>
          <a:p>
            <a:pPr lvl="0" indent="-342900"/>
            <a:endParaRPr lang="en-GB" sz="2400" b="1" dirty="0" smtClean="0">
              <a:solidFill>
                <a:schemeClr val="bg1"/>
              </a:solidFill>
            </a:endParaRP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Value of </a:t>
            </a:r>
            <a:r>
              <a:rPr lang="en-GB" sz="2400" b="1" dirty="0" err="1" smtClean="0">
                <a:solidFill>
                  <a:schemeClr val="bg1"/>
                </a:solidFill>
              </a:rPr>
              <a:t>i</a:t>
            </a:r>
            <a:r>
              <a:rPr lang="en-GB" sz="2400" b="1" dirty="0" smtClean="0">
                <a:solidFill>
                  <a:schemeClr val="bg1"/>
                </a:solidFill>
              </a:rPr>
              <a:t> in member function : 6</a:t>
            </a: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Value of </a:t>
            </a:r>
            <a:r>
              <a:rPr lang="en-GB" sz="2400" b="1" dirty="0" err="1" smtClean="0">
                <a:solidFill>
                  <a:schemeClr val="bg1"/>
                </a:solidFill>
              </a:rPr>
              <a:t>i</a:t>
            </a:r>
            <a:r>
              <a:rPr lang="en-GB" sz="2400" b="1" dirty="0" smtClean="0">
                <a:solidFill>
                  <a:schemeClr val="bg1"/>
                </a:solidFill>
              </a:rPr>
              <a:t> in main :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(Pass-by-reference)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#include &lt;</a:t>
            </a:r>
            <a:r>
              <a:rPr lang="en-GB" sz="2400" b="1" dirty="0" err="1" smtClean="0"/>
              <a:t>iostream</a:t>
            </a:r>
            <a:r>
              <a:rPr lang="en-GB" sz="24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class Convert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public 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</a:t>
            </a:r>
            <a:r>
              <a:rPr lang="en-GB" sz="2400" b="1" dirty="0" err="1" smtClean="0"/>
              <a:t>int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void increment(Convert &amp;</a:t>
            </a:r>
            <a:r>
              <a:rPr lang="en-GB" sz="2400" b="1" dirty="0" err="1" smtClean="0"/>
              <a:t>obj</a:t>
            </a:r>
            <a:r>
              <a:rPr lang="en-GB" sz="2400" b="1" dirty="0" smtClean="0"/>
              <a:t>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{    </a:t>
            </a:r>
            <a:r>
              <a:rPr lang="en-GB" sz="2400" b="1" dirty="0" err="1" smtClean="0"/>
              <a:t>obj.i</a:t>
            </a:r>
            <a:r>
              <a:rPr lang="en-GB" sz="2400" b="1" dirty="0" smtClean="0"/>
              <a:t>=</a:t>
            </a:r>
            <a:r>
              <a:rPr lang="en-GB" sz="2400" b="1" dirty="0" err="1" smtClean="0"/>
              <a:t>obj.i</a:t>
            </a:r>
            <a:r>
              <a:rPr lang="en-GB" sz="2400" b="1" dirty="0" smtClean="0"/>
              <a:t>*2;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      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"Value of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in member function : " &lt;&lt; </a:t>
            </a:r>
            <a:r>
              <a:rPr lang="en-GB" sz="2400" b="1" dirty="0" err="1" smtClean="0"/>
              <a:t>obj.i</a:t>
            </a:r>
            <a:r>
              <a:rPr lang="en-GB" sz="2400" b="1" dirty="0" smtClean="0"/>
              <a:t>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err="1" smtClean="0"/>
              <a:t>int</a:t>
            </a:r>
            <a:r>
              <a:rPr lang="en-GB" sz="2400" b="1" dirty="0" smtClean="0"/>
              <a:t> main 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Convert obj1;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obj1.i=3;	obj1.increment(obj1);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"\</a:t>
            </a:r>
            <a:r>
              <a:rPr lang="en-GB" sz="2400" b="1" dirty="0" err="1" smtClean="0"/>
              <a:t>nValue</a:t>
            </a:r>
            <a:r>
              <a:rPr lang="en-GB" sz="2400" b="1" dirty="0" smtClean="0"/>
              <a:t> of </a:t>
            </a:r>
            <a:r>
              <a:rPr lang="en-GB" sz="2400" b="1" dirty="0" err="1" smtClean="0"/>
              <a:t>i</a:t>
            </a:r>
            <a:r>
              <a:rPr lang="en-GB" sz="2400" b="1" dirty="0" smtClean="0"/>
              <a:t> in main : " &lt;&lt; obj1.i &lt;&lt; "\n";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	return 0;	}</a:t>
            </a:r>
            <a:endParaRPr lang="en-GB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55976" y="1268760"/>
            <a:ext cx="4320008" cy="156966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rtlCol="0">
            <a:spAutoFit/>
          </a:bodyPr>
          <a:lstStyle/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Output:</a:t>
            </a:r>
          </a:p>
          <a:p>
            <a:pPr lvl="0" indent="-342900"/>
            <a:endParaRPr lang="en-GB" sz="2400" b="1" dirty="0" smtClean="0">
              <a:solidFill>
                <a:schemeClr val="bg1"/>
              </a:solidFill>
            </a:endParaRP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Value of </a:t>
            </a:r>
            <a:r>
              <a:rPr lang="en-GB" sz="2400" b="1" dirty="0" err="1" smtClean="0">
                <a:solidFill>
                  <a:schemeClr val="bg1"/>
                </a:solidFill>
              </a:rPr>
              <a:t>i</a:t>
            </a:r>
            <a:r>
              <a:rPr lang="en-GB" sz="2400" b="1" dirty="0" smtClean="0">
                <a:solidFill>
                  <a:schemeClr val="bg1"/>
                </a:solidFill>
              </a:rPr>
              <a:t> in member function : 6</a:t>
            </a: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Value of </a:t>
            </a:r>
            <a:r>
              <a:rPr lang="en-GB" sz="2400" b="1" dirty="0" err="1" smtClean="0">
                <a:solidFill>
                  <a:schemeClr val="bg1"/>
                </a:solidFill>
              </a:rPr>
              <a:t>i</a:t>
            </a:r>
            <a:r>
              <a:rPr lang="en-GB" sz="2400" b="1" dirty="0" smtClean="0">
                <a:solidFill>
                  <a:schemeClr val="bg1"/>
                </a:solidFill>
              </a:rPr>
              <a:t> in main :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#include&lt;</a:t>
            </a:r>
            <a:r>
              <a:rPr lang="en-GB" sz="2200" b="1" dirty="0" err="1" smtClean="0"/>
              <a:t>iostream</a:t>
            </a:r>
            <a:r>
              <a:rPr lang="en-GB" sz="22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class Time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{		</a:t>
            </a:r>
            <a:r>
              <a:rPr lang="en-GB" sz="2200" b="1" dirty="0" err="1" smtClean="0"/>
              <a:t>int</a:t>
            </a:r>
            <a:r>
              <a:rPr lang="en-GB" sz="2200" b="1" dirty="0" smtClean="0"/>
              <a:t> h, m, s;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void </a:t>
            </a:r>
            <a:r>
              <a:rPr lang="en-GB" sz="2200" b="1" dirty="0" err="1" smtClean="0"/>
              <a:t>getTime</a:t>
            </a:r>
            <a:r>
              <a:rPr lang="en-GB" sz="2200" b="1" dirty="0" smtClean="0"/>
              <a:t>(</a:t>
            </a:r>
            <a:r>
              <a:rPr lang="en-GB" sz="2200" b="1" dirty="0" err="1" smtClean="0"/>
              <a:t>int</a:t>
            </a:r>
            <a:r>
              <a:rPr lang="en-GB" sz="2200" b="1" dirty="0" smtClean="0"/>
              <a:t> p, </a:t>
            </a:r>
            <a:r>
              <a:rPr lang="en-GB" sz="2200" b="1" dirty="0" err="1" smtClean="0"/>
              <a:t>int</a:t>
            </a:r>
            <a:r>
              <a:rPr lang="en-GB" sz="2200" b="1" dirty="0" smtClean="0"/>
              <a:t> q, </a:t>
            </a:r>
            <a:r>
              <a:rPr lang="en-GB" sz="2200" b="1" dirty="0" err="1" smtClean="0"/>
              <a:t>int</a:t>
            </a:r>
            <a:r>
              <a:rPr lang="en-GB" sz="2200" b="1" dirty="0" smtClean="0"/>
              <a:t> r)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{	h = p; m = q; s = r;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void </a:t>
            </a:r>
            <a:r>
              <a:rPr lang="en-GB" sz="2200" b="1" dirty="0" err="1" smtClean="0"/>
              <a:t>putTime</a:t>
            </a:r>
            <a:r>
              <a:rPr lang="en-GB" sz="2200" b="1" dirty="0" smtClean="0"/>
              <a:t>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{	</a:t>
            </a:r>
            <a:r>
              <a:rPr lang="en-GB" sz="2200" b="1" dirty="0" err="1" smtClean="0"/>
              <a:t>cout</a:t>
            </a:r>
            <a:r>
              <a:rPr lang="en-GB" sz="2200" b="1" dirty="0" smtClean="0"/>
              <a:t> &lt;&lt; h &lt;&lt; ":" &lt;&lt; m &lt;&lt; ":" &lt;&lt; s &lt;&lt; </a:t>
            </a:r>
            <a:r>
              <a:rPr lang="en-GB" sz="2200" b="1" dirty="0" err="1" smtClean="0"/>
              <a:t>endl</a:t>
            </a:r>
            <a:r>
              <a:rPr lang="en-GB" sz="2200" b="1" dirty="0" smtClean="0"/>
              <a:t>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void </a:t>
            </a:r>
            <a:r>
              <a:rPr lang="en-GB" sz="2200" b="1" dirty="0" err="1" smtClean="0"/>
              <a:t>sumTime</a:t>
            </a:r>
            <a:r>
              <a:rPr lang="en-GB" sz="2200" b="1" dirty="0" smtClean="0"/>
              <a:t>(Time t1, Time t2)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{	s = t1.s + t2.s;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	m = s / 60;			s = s % 60;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	m = m + t1.m + t2.m;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	h = </a:t>
            </a:r>
            <a:r>
              <a:rPr lang="en-GB" sz="2200" b="1" smtClean="0"/>
              <a:t>m </a:t>
            </a:r>
            <a:r>
              <a:rPr lang="en-GB" sz="2200" b="1" smtClean="0"/>
              <a:t>/ </a:t>
            </a:r>
            <a:r>
              <a:rPr lang="en-GB" sz="2200" b="1" dirty="0" smtClean="0"/>
              <a:t>60;			m = </a:t>
            </a:r>
            <a:r>
              <a:rPr lang="en-GB" sz="2200" b="1" smtClean="0"/>
              <a:t>m </a:t>
            </a:r>
            <a:r>
              <a:rPr lang="en-GB" sz="2200" b="1" smtClean="0"/>
              <a:t>% </a:t>
            </a:r>
            <a:r>
              <a:rPr lang="en-GB" sz="2200" b="1" dirty="0" smtClean="0"/>
              <a:t>60;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	h = h + t1.h + t2.h;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0A95D-210C-4BAE-AE9A-6CCBC85840D8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1196752"/>
            <a:ext cx="9144000" cy="38702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err="1" smtClean="0"/>
              <a:t>int</a:t>
            </a:r>
            <a:r>
              <a:rPr lang="en-GB" sz="2500" b="1" dirty="0" smtClean="0"/>
              <a:t> main()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{	Time t1, t2, t3;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t1.getTime(1,30,15);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t2.getTime(4,30,55);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t3.sumTime(t1,t2);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</a:t>
            </a:r>
            <a:r>
              <a:rPr lang="en-GB" sz="2500" b="1" dirty="0" err="1" smtClean="0"/>
              <a:t>cout</a:t>
            </a:r>
            <a:r>
              <a:rPr lang="en-GB" sz="2500" b="1" dirty="0" smtClean="0"/>
              <a:t> &lt;&lt; "T1: "; t1.putTime();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</a:t>
            </a:r>
            <a:r>
              <a:rPr lang="en-GB" sz="2500" b="1" dirty="0" err="1" smtClean="0"/>
              <a:t>cout</a:t>
            </a:r>
            <a:r>
              <a:rPr lang="en-GB" sz="2500" b="1" dirty="0" smtClean="0"/>
              <a:t> &lt;&lt; "T2: "; t2.putTime();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</a:t>
            </a:r>
            <a:r>
              <a:rPr lang="en-GB" sz="2500" b="1" dirty="0" err="1" smtClean="0"/>
              <a:t>cout</a:t>
            </a:r>
            <a:r>
              <a:rPr lang="en-GB" sz="2500" b="1" dirty="0" smtClean="0"/>
              <a:t> &lt;&lt; "T3: "; t3.putTime();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	return 0;</a:t>
            </a:r>
          </a:p>
          <a:p>
            <a:pPr marL="514350" indent="-514350">
              <a:lnSpc>
                <a:spcPct val="8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GB" sz="2500" b="1" dirty="0" smtClean="0"/>
              <a:t>}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580112" y="4005064"/>
            <a:ext cx="1620000" cy="1938992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rtlCol="0">
            <a:spAutoFit/>
          </a:bodyPr>
          <a:lstStyle/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Output:</a:t>
            </a:r>
          </a:p>
          <a:p>
            <a:pPr lvl="0" indent="-342900"/>
            <a:endParaRPr lang="en-GB" sz="2400" b="1" dirty="0" smtClean="0">
              <a:solidFill>
                <a:schemeClr val="bg1"/>
              </a:solidFill>
            </a:endParaRP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T1: 1:30:15</a:t>
            </a: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T2: 4:30:55</a:t>
            </a:r>
          </a:p>
          <a:p>
            <a:pPr lvl="0" indent="-342900"/>
            <a:r>
              <a:rPr lang="en-GB" sz="2400" b="1" dirty="0" smtClean="0">
                <a:solidFill>
                  <a:schemeClr val="bg1"/>
                </a:solidFill>
              </a:rPr>
              <a:t>T3: 6:1:10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765</Words>
  <Application>Microsoft Office PowerPoint</Application>
  <PresentationFormat>On-screen Show (4:3)</PresentationFormat>
  <Paragraphs>241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Lecture 8 – 9</vt:lpstr>
      <vt:lpstr>Arrays within a class</vt:lpstr>
      <vt:lpstr>Example</vt:lpstr>
      <vt:lpstr>Contd…</vt:lpstr>
      <vt:lpstr>Memory allocation for objects of class</vt:lpstr>
      <vt:lpstr>Contd…</vt:lpstr>
      <vt:lpstr>Array of objects</vt:lpstr>
      <vt:lpstr>Contd…</vt:lpstr>
      <vt:lpstr>Contd…</vt:lpstr>
      <vt:lpstr>Example</vt:lpstr>
      <vt:lpstr>Contd…</vt:lpstr>
      <vt:lpstr>Contd…</vt:lpstr>
      <vt:lpstr>Objects as function arguments</vt:lpstr>
      <vt:lpstr>Contd…</vt:lpstr>
      <vt:lpstr>Example (Pass-by-value)</vt:lpstr>
      <vt:lpstr>Example (Pass-by-reference)</vt:lpstr>
      <vt:lpstr>Example</vt:lpstr>
      <vt:lpstr>Contd…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 – 9</dc:title>
  <dc:creator>Shreelekha</dc:creator>
  <cp:lastModifiedBy>Shreelekha</cp:lastModifiedBy>
  <cp:revision>17</cp:revision>
  <dcterms:created xsi:type="dcterms:W3CDTF">2018-01-15T14:02:40Z</dcterms:created>
  <dcterms:modified xsi:type="dcterms:W3CDTF">2018-01-29T08:19:15Z</dcterms:modified>
</cp:coreProperties>
</file>