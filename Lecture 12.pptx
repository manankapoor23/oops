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73" r:id="rId4"/>
    <p:sldId id="268" r:id="rId5"/>
    <p:sldId id="272" r:id="rId6"/>
    <p:sldId id="274" r:id="rId7"/>
    <p:sldId id="275" r:id="rId8"/>
    <p:sldId id="270" r:id="rId9"/>
    <p:sldId id="257" r:id="rId10"/>
    <p:sldId id="277" r:id="rId11"/>
    <p:sldId id="276" r:id="rId12"/>
    <p:sldId id="263" r:id="rId13"/>
    <p:sldId id="278" r:id="rId14"/>
    <p:sldId id="264" r:id="rId15"/>
    <p:sldId id="279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1656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ABEF2-F5AE-4179-904E-8EE3C23C578C}" type="datetimeFigureOut">
              <a:rPr lang="en-GB" smtClean="0"/>
              <a:pPr/>
              <a:t>09/02/2018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4E35B-2CEC-4717-BF1F-57203B89FF71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4A39D-237C-498C-AC5E-F23361E3673F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DEFC-31D3-412A-851F-315222646856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72C80-88E8-4D0B-ADA3-5649BAB0143D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BE83-8999-4436-B4DE-ECA5F4BCBE04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B0962-445C-4336-8B9B-090E74871DEE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7D39-3934-4BF9-9DA4-A9926E596CBB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C6298-9D37-4129-A51A-BBFD049DC91E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98FBC-8594-43CA-9213-13E87ED89FA6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011E6-196E-49C1-AABF-156BDDFC0779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95538-566C-4A33-BD09-4CB0A2B1B6F6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96752"/>
            <a:ext cx="91440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67082-57FA-45BC-8166-43D7D7FAB04F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D847C-D076-4F9B-910F-B2BFADEA433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Lecture 12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60363" indent="-360363" algn="l">
              <a:buFont typeface="Arial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this Pointer</a:t>
            </a:r>
          </a:p>
          <a:p>
            <a:pPr marL="360363" indent="-360363" algn="l">
              <a:buFont typeface="Arial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Scope Resolution Operator</a:t>
            </a:r>
          </a:p>
          <a:p>
            <a:pPr marL="360363" indent="-360363" algn="l">
              <a:buFont typeface="Arial" pitchFamily="34" charset="0"/>
              <a:buChar char="•"/>
            </a:pPr>
            <a:r>
              <a:rPr lang="en-GB" dirty="0" smtClean="0">
                <a:solidFill>
                  <a:schemeClr val="tx1"/>
                </a:solidFill>
              </a:rPr>
              <a:t>Friend Function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256F-B2F2-4282-B313-17C0DB93045B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this pointer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Member functions of every object have access to a special constant pointer named this.</a:t>
            </a:r>
          </a:p>
          <a:p>
            <a:r>
              <a:rPr lang="en-GB" dirty="0" smtClean="0"/>
              <a:t>It points to the object itself.</a:t>
            </a:r>
          </a:p>
          <a:p>
            <a:r>
              <a:rPr lang="en-GB" dirty="0" smtClean="0"/>
              <a:t>It is passed automatically as an implicit argument to the invoking member function.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2</a:t>
            </a:fld>
            <a:endParaRPr lang="en-GB"/>
          </a:p>
        </p:txBody>
      </p:sp>
      <p:grpSp>
        <p:nvGrpSpPr>
          <p:cNvPr id="9" name="Group 8"/>
          <p:cNvGrpSpPr/>
          <p:nvPr/>
        </p:nvGrpSpPr>
        <p:grpSpPr>
          <a:xfrm>
            <a:off x="1466076" y="3991704"/>
            <a:ext cx="6850340" cy="2677656"/>
            <a:chOff x="1538084" y="3991704"/>
            <a:chExt cx="6850340" cy="2677656"/>
          </a:xfrm>
        </p:grpSpPr>
        <p:sp>
          <p:nvSpPr>
            <p:cNvPr id="7" name="TextBox 6"/>
            <p:cNvSpPr txBox="1"/>
            <p:nvPr/>
          </p:nvSpPr>
          <p:spPr>
            <a:xfrm>
              <a:off x="1538084" y="3991704"/>
              <a:ext cx="2529860" cy="2677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800" dirty="0" smtClean="0"/>
                <a:t>class ABC</a:t>
              </a:r>
            </a:p>
            <a:p>
              <a:r>
                <a:rPr lang="en-GB" sz="2800" dirty="0" smtClean="0"/>
                <a:t>{    </a:t>
              </a:r>
              <a:r>
                <a:rPr lang="en-GB" sz="2800" dirty="0" err="1" smtClean="0"/>
                <a:t>int</a:t>
              </a:r>
              <a:r>
                <a:rPr lang="en-GB" sz="2800" dirty="0" smtClean="0"/>
                <a:t> a;</a:t>
              </a:r>
            </a:p>
            <a:p>
              <a:r>
                <a:rPr lang="en-GB" sz="2800" dirty="0" smtClean="0"/>
                <a:t>   public:</a:t>
              </a:r>
            </a:p>
            <a:p>
              <a:r>
                <a:rPr lang="en-GB" sz="2800" dirty="0" smtClean="0"/>
                <a:t>     void set()</a:t>
              </a:r>
            </a:p>
            <a:p>
              <a:r>
                <a:rPr lang="en-GB" sz="2800" dirty="0" smtClean="0"/>
                <a:t>      {    a = 10;    }</a:t>
              </a:r>
            </a:p>
            <a:p>
              <a:r>
                <a:rPr lang="en-GB" sz="2800" dirty="0" smtClean="0"/>
                <a:t>};</a:t>
              </a:r>
              <a:endParaRPr lang="en-GB" sz="28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36224" y="3991704"/>
              <a:ext cx="3352200" cy="2677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800" dirty="0" smtClean="0"/>
                <a:t>class ABC</a:t>
              </a:r>
            </a:p>
            <a:p>
              <a:r>
                <a:rPr lang="en-GB" sz="2800" dirty="0" smtClean="0"/>
                <a:t>{    </a:t>
              </a:r>
              <a:r>
                <a:rPr lang="en-GB" sz="2800" dirty="0" err="1" smtClean="0"/>
                <a:t>int</a:t>
              </a:r>
              <a:r>
                <a:rPr lang="en-GB" sz="2800" dirty="0" smtClean="0"/>
                <a:t> a;</a:t>
              </a:r>
            </a:p>
            <a:p>
              <a:r>
                <a:rPr lang="en-GB" sz="2800" dirty="0" smtClean="0"/>
                <a:t>   public:</a:t>
              </a:r>
            </a:p>
            <a:p>
              <a:r>
                <a:rPr lang="en-GB" sz="2800" dirty="0" smtClean="0"/>
                <a:t>     void set()</a:t>
              </a:r>
            </a:p>
            <a:p>
              <a:r>
                <a:rPr lang="en-GB" sz="2800" dirty="0" smtClean="0"/>
                <a:t>      {    this-&gt;a = 10;    }</a:t>
              </a:r>
            </a:p>
            <a:p>
              <a:r>
                <a:rPr lang="en-GB" sz="2800" dirty="0" smtClean="0"/>
                <a:t>};</a:t>
              </a:r>
              <a:endParaRPr lang="en-GB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#include &lt;</a:t>
            </a:r>
            <a:r>
              <a:rPr lang="en-GB" sz="2400" b="1" dirty="0" err="1" smtClean="0"/>
              <a:t>iostream</a:t>
            </a:r>
            <a:r>
              <a:rPr lang="en-GB" sz="2400" b="1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class ABC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{    private:	char </a:t>
            </a:r>
            <a:r>
              <a:rPr lang="en-GB" sz="2400" b="1" dirty="0" err="1" smtClean="0"/>
              <a:t>charray</a:t>
            </a:r>
            <a:r>
              <a:rPr lang="en-GB" sz="2400" b="1" dirty="0" smtClean="0"/>
              <a:t>[10];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    public:	void reveal()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		{ 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"\</a:t>
            </a:r>
            <a:r>
              <a:rPr lang="en-GB" sz="2400" b="1" dirty="0" err="1" smtClean="0"/>
              <a:t>nMy</a:t>
            </a:r>
            <a:r>
              <a:rPr lang="en-GB" sz="2400" b="1" dirty="0" smtClean="0"/>
              <a:t> object's address is " &lt;&lt; this; 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err="1" smtClean="0"/>
              <a:t>int</a:t>
            </a:r>
            <a:r>
              <a:rPr lang="en-GB" sz="2400" b="1" dirty="0" smtClean="0"/>
              <a:t> main()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{	ABC w1, w2;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	w1.reveal();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	w2.reveal();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	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</a:t>
            </a:r>
            <a:r>
              <a:rPr lang="en-GB" sz="2400" b="1" dirty="0" err="1" smtClean="0"/>
              <a:t>endl</a:t>
            </a:r>
            <a:r>
              <a:rPr lang="en-GB" sz="2400" b="1" dirty="0" smtClean="0"/>
              <a:t>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 	return 0;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400" b="1" dirty="0" smtClean="0"/>
              <a:t>}</a:t>
            </a:r>
            <a:endParaRPr lang="en-GB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Static member functions do not have 'this' pointer </a:t>
            </a:r>
            <a:r>
              <a:rPr lang="en-IN" dirty="0" smtClean="0"/>
              <a:t>as they can be called without any object using the class name.</a:t>
            </a:r>
          </a:p>
          <a:p>
            <a:r>
              <a:rPr lang="en-US" dirty="0" smtClean="0"/>
              <a:t>Not passed to friend functions as they are not member functions of a class.</a:t>
            </a:r>
          </a:p>
          <a:p>
            <a:r>
              <a:rPr lang="en-US" dirty="0" smtClean="0"/>
              <a:t>Used when a binary operator is overloaded using a member function.</a:t>
            </a:r>
          </a:p>
          <a:p>
            <a:r>
              <a:rPr lang="en-US" dirty="0" smtClean="0"/>
              <a:t>Used to return the object it points to.</a:t>
            </a:r>
          </a:p>
          <a:p>
            <a:pPr algn="ctr">
              <a:buNone/>
            </a:pPr>
            <a:r>
              <a:rPr lang="en-US" dirty="0" smtClean="0"/>
              <a:t>return 0;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UTA007 - Computer Programming 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4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Example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#include&lt;</a:t>
            </a:r>
            <a:r>
              <a:rPr lang="en-GB" sz="2200" b="1" dirty="0" err="1" smtClean="0"/>
              <a:t>iostream</a:t>
            </a:r>
            <a:r>
              <a:rPr lang="en-GB" sz="2200" b="1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#include&lt;</a:t>
            </a:r>
            <a:r>
              <a:rPr lang="en-GB" sz="2200" b="1" dirty="0" err="1" smtClean="0"/>
              <a:t>cstring</a:t>
            </a:r>
            <a:r>
              <a:rPr lang="en-GB" sz="2200" b="1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class person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{	char name[20];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</a:t>
            </a:r>
            <a:r>
              <a:rPr lang="en-GB" sz="2200" b="1" dirty="0" err="1" smtClean="0"/>
              <a:t>int</a:t>
            </a:r>
            <a:r>
              <a:rPr lang="en-GB" sz="2200" b="1" dirty="0" smtClean="0"/>
              <a:t> age;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    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void </a:t>
            </a:r>
            <a:r>
              <a:rPr lang="en-GB" sz="2200" b="1" dirty="0" err="1" smtClean="0"/>
              <a:t>setData</a:t>
            </a:r>
            <a:r>
              <a:rPr lang="en-GB" sz="2200" b="1" dirty="0" smtClean="0"/>
              <a:t>(const char *s, </a:t>
            </a:r>
            <a:r>
              <a:rPr lang="en-GB" sz="2200" b="1" dirty="0" err="1" smtClean="0"/>
              <a:t>int</a:t>
            </a:r>
            <a:r>
              <a:rPr lang="en-GB" sz="2200" b="1" dirty="0" smtClean="0"/>
              <a:t> a)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{	</a:t>
            </a:r>
            <a:r>
              <a:rPr lang="en-GB" sz="2200" b="1" dirty="0" err="1" smtClean="0"/>
              <a:t>strcpy</a:t>
            </a:r>
            <a:r>
              <a:rPr lang="en-GB" sz="2200" b="1" dirty="0" smtClean="0"/>
              <a:t>(name, s);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age = a;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person&amp; greater(person &amp;x)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{	if(</a:t>
            </a:r>
            <a:r>
              <a:rPr lang="en-GB" sz="2200" b="1" dirty="0" err="1" smtClean="0"/>
              <a:t>x.age</a:t>
            </a:r>
            <a:r>
              <a:rPr lang="en-GB" sz="2200" b="1" dirty="0" smtClean="0"/>
              <a:t> &gt;= age)	return x;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	else	return *this;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void display()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	{	</a:t>
            </a:r>
            <a:r>
              <a:rPr lang="en-GB" sz="2200" b="1" dirty="0" err="1" smtClean="0"/>
              <a:t>cout</a:t>
            </a:r>
            <a:r>
              <a:rPr lang="en-GB" sz="2200" b="1" dirty="0" smtClean="0"/>
              <a:t> &lt;&lt; name &lt;&lt; " with age " &lt;&lt; age;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GB" sz="2200" b="1" dirty="0" smtClean="0"/>
              <a:t>};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Contd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err="1" smtClean="0"/>
              <a:t>int</a:t>
            </a:r>
            <a:r>
              <a:rPr lang="en-GB" sz="2400" b="1" dirty="0" smtClean="0"/>
              <a:t> main()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{	person p1,p2,p3;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	p1.setData("</a:t>
            </a:r>
            <a:r>
              <a:rPr lang="en-GB" sz="2400" b="1" dirty="0" err="1" smtClean="0"/>
              <a:t>Abha</a:t>
            </a:r>
            <a:r>
              <a:rPr lang="en-GB" sz="2400" b="1" dirty="0" smtClean="0"/>
              <a:t>", 21);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	p2.setData("</a:t>
            </a:r>
            <a:r>
              <a:rPr lang="en-GB" sz="2400" b="1" dirty="0" err="1" smtClean="0"/>
              <a:t>Akhil</a:t>
            </a:r>
            <a:r>
              <a:rPr lang="en-GB" sz="2400" b="1" dirty="0" smtClean="0"/>
              <a:t>", 29);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	p3.setData("</a:t>
            </a:r>
            <a:r>
              <a:rPr lang="en-GB" sz="2400" b="1" dirty="0" err="1" smtClean="0"/>
              <a:t>Mitali</a:t>
            </a:r>
            <a:r>
              <a:rPr lang="en-GB" sz="2400" b="1" dirty="0" smtClean="0"/>
              <a:t>", 31);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	person p = p1.greater(p2);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	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"Elder person is: ";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	</a:t>
            </a:r>
            <a:r>
              <a:rPr lang="en-GB" sz="2400" b="1" dirty="0" err="1" smtClean="0"/>
              <a:t>p.display</a:t>
            </a:r>
            <a:r>
              <a:rPr lang="en-GB" sz="2400" b="1" dirty="0" smtClean="0"/>
              <a:t>();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	p = p2.greater(p3);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	</a:t>
            </a:r>
            <a:r>
              <a:rPr lang="en-GB" sz="2400" b="1" dirty="0" err="1" smtClean="0"/>
              <a:t>cout</a:t>
            </a:r>
            <a:r>
              <a:rPr lang="en-GB" sz="2400" b="1" dirty="0" smtClean="0"/>
              <a:t> &lt;&lt; </a:t>
            </a:r>
            <a:r>
              <a:rPr lang="en-GB" sz="2400" b="1" dirty="0" err="1" smtClean="0"/>
              <a:t>endl</a:t>
            </a:r>
            <a:r>
              <a:rPr lang="en-GB" sz="2400" b="1" dirty="0" smtClean="0"/>
              <a:t> &lt;&lt; "Elder person is: ";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	</a:t>
            </a:r>
            <a:r>
              <a:rPr lang="en-GB" sz="2400" b="1" dirty="0" err="1" smtClean="0"/>
              <a:t>p.display</a:t>
            </a:r>
            <a:r>
              <a:rPr lang="en-GB" sz="2400" b="1" dirty="0" smtClean="0"/>
              <a:t>();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	return 0;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 startAt="17"/>
            </a:pPr>
            <a:r>
              <a:rPr lang="en-GB" sz="2400" b="1" dirty="0" smtClean="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3779912" y="5085184"/>
            <a:ext cx="5112568" cy="9541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dirty="0" smtClean="0">
                <a:solidFill>
                  <a:schemeClr val="bg1"/>
                </a:solidFill>
              </a:rPr>
              <a:t>Elder person is: </a:t>
            </a:r>
            <a:r>
              <a:rPr lang="en-GB" sz="2800" dirty="0" err="1" smtClean="0">
                <a:solidFill>
                  <a:schemeClr val="bg1"/>
                </a:solidFill>
              </a:rPr>
              <a:t>Akhil</a:t>
            </a:r>
            <a:r>
              <a:rPr lang="en-GB" sz="2800" dirty="0" smtClean="0">
                <a:solidFill>
                  <a:schemeClr val="bg1"/>
                </a:solidFill>
              </a:rPr>
              <a:t> with age 29</a:t>
            </a:r>
          </a:p>
          <a:p>
            <a:r>
              <a:rPr lang="en-GB" sz="2800" dirty="0" smtClean="0">
                <a:solidFill>
                  <a:schemeClr val="bg1"/>
                </a:solidFill>
              </a:rPr>
              <a:t>Elder person is: </a:t>
            </a:r>
            <a:r>
              <a:rPr lang="en-GB" sz="2800" dirty="0" err="1" smtClean="0">
                <a:solidFill>
                  <a:schemeClr val="bg1"/>
                </a:solidFill>
              </a:rPr>
              <a:t>Mitali</a:t>
            </a:r>
            <a:r>
              <a:rPr lang="en-GB" sz="2800" dirty="0" smtClean="0">
                <a:solidFill>
                  <a:schemeClr val="bg1"/>
                </a:solidFill>
              </a:rPr>
              <a:t> with age 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56" y="4509120"/>
            <a:ext cx="122982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smtClean="0"/>
              <a:t>Output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Scope resolution operator (::)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It links class name with member name and tells compiler what class the member belongs to.</a:t>
            </a:r>
          </a:p>
          <a:p>
            <a:r>
              <a:rPr lang="en-GB" dirty="0" smtClean="0"/>
              <a:t>It allows access to a name in an enclosing scope that is "hidden" by a local declaration of the same name.</a:t>
            </a:r>
          </a:p>
          <a:p>
            <a:r>
              <a:rPr lang="en-GB" dirty="0" smtClean="0"/>
              <a:t>Example: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555776" y="3754775"/>
            <a:ext cx="4931158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 err="1" smtClean="0"/>
              <a:t>int</a:t>
            </a:r>
            <a:r>
              <a:rPr lang="en-GB" sz="3200" dirty="0" smtClean="0"/>
              <a:t> I;			//Global</a:t>
            </a:r>
          </a:p>
          <a:p>
            <a:r>
              <a:rPr lang="en-GB" sz="3200" dirty="0" smtClean="0"/>
              <a:t>void f()</a:t>
            </a:r>
          </a:p>
          <a:p>
            <a:r>
              <a:rPr lang="en-GB" sz="3200" dirty="0" smtClean="0"/>
              <a:t>{	</a:t>
            </a:r>
            <a:r>
              <a:rPr lang="en-GB" sz="3200" dirty="0" err="1" smtClean="0"/>
              <a:t>int</a:t>
            </a:r>
            <a:r>
              <a:rPr lang="en-GB" sz="3200" dirty="0" smtClean="0"/>
              <a:t> I;		//Local</a:t>
            </a:r>
          </a:p>
          <a:p>
            <a:r>
              <a:rPr lang="en-GB" sz="3200" dirty="0" smtClean="0"/>
              <a:t>	I = 10;	//Local</a:t>
            </a:r>
          </a:p>
          <a:p>
            <a:r>
              <a:rPr lang="en-GB" sz="3200" dirty="0" smtClean="0"/>
              <a:t>	::I = 20;	//Global	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#include&lt;</a:t>
            </a:r>
            <a:r>
              <a:rPr lang="en-US" sz="2400" b="1" dirty="0" err="1" smtClean="0"/>
              <a:t>iostream</a:t>
            </a:r>
            <a:r>
              <a:rPr lang="en-US" sz="2400" b="1" dirty="0" smtClean="0"/>
              <a:t>&gt;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using namespace std;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err="1" smtClean="0"/>
              <a:t>int</a:t>
            </a:r>
            <a:r>
              <a:rPr lang="en-US" sz="2400" b="1" dirty="0" smtClean="0"/>
              <a:t> m = 10;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err="1" smtClean="0"/>
              <a:t>int</a:t>
            </a:r>
            <a:r>
              <a:rPr lang="en-US" sz="2400" b="1" dirty="0" smtClean="0"/>
              <a:t> main()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{	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m = 20;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	{	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k = m;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		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m = 30;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		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 &lt;&lt; "Inner block: k = " &lt;&lt; k &lt;&lt; ", m = ";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		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 &lt;&lt; m &lt;&lt; ", ::m = " &lt;&lt; ::m;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	}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	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 &lt;&lt; </a:t>
            </a:r>
            <a:r>
              <a:rPr lang="en-US" sz="2400" b="1" dirty="0" err="1" smtClean="0"/>
              <a:t>endl</a:t>
            </a:r>
            <a:r>
              <a:rPr lang="en-US" sz="2400" b="1" dirty="0" smtClean="0"/>
              <a:t> &lt;&lt; "Outer block: m = " &lt;&lt; m &lt;&lt; ", ::m = " &lt;&lt; ::m;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	return 0;	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UTA007 - Computer Programming 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3528480" y="2186861"/>
            <a:ext cx="5364000" cy="9541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sv-SE" sz="2800" dirty="0" smtClean="0">
                <a:solidFill>
                  <a:schemeClr val="bg1"/>
                </a:solidFill>
              </a:rPr>
              <a:t>Inner block: k = 20, m = 30, ::m = 10</a:t>
            </a:r>
          </a:p>
          <a:p>
            <a:r>
              <a:rPr lang="sv-SE" sz="2800" dirty="0" smtClean="0">
                <a:solidFill>
                  <a:schemeClr val="bg1"/>
                </a:solidFill>
              </a:rPr>
              <a:t>Outer block: m = 20, ::m = 10</a:t>
            </a:r>
            <a:endParaRPr lang="en-GB" sz="2800" dirty="0" smtClean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62656" y="1610797"/>
            <a:ext cx="122982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smtClean="0"/>
              <a:t>Output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Friend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spcBef>
                <a:spcPts val="600"/>
              </a:spcBef>
            </a:pPr>
            <a:r>
              <a:rPr lang="en-US" dirty="0" smtClean="0"/>
              <a:t>A function that can access the private and protected members of a class to which it is a friend.</a:t>
            </a:r>
          </a:p>
          <a:p>
            <a:pPr algn="just">
              <a:spcBef>
                <a:spcPts val="600"/>
              </a:spcBef>
            </a:pPr>
            <a:r>
              <a:rPr lang="en-US" dirty="0" smtClean="0"/>
              <a:t>It is not in the scope of a class to which it is a friend.</a:t>
            </a:r>
          </a:p>
          <a:p>
            <a:pPr algn="just">
              <a:spcBef>
                <a:spcPts val="600"/>
              </a:spcBef>
            </a:pPr>
            <a:r>
              <a:rPr lang="en-US" dirty="0" smtClean="0"/>
              <a:t>It cannot be called using the object of a class to which it is a friend.</a:t>
            </a:r>
          </a:p>
          <a:p>
            <a:pPr lvl="1" algn="just">
              <a:spcBef>
                <a:spcPts val="600"/>
              </a:spcBef>
            </a:pPr>
            <a:r>
              <a:rPr lang="en-US" dirty="0" smtClean="0"/>
              <a:t>Invoked like a normal function.</a:t>
            </a:r>
          </a:p>
          <a:p>
            <a:pPr algn="just">
              <a:spcBef>
                <a:spcPts val="600"/>
              </a:spcBef>
            </a:pPr>
            <a:r>
              <a:rPr lang="en-US" dirty="0" smtClean="0"/>
              <a:t>Has to be declared either in the public or the private section within a class (to which it is a friend) preceded with a keyword </a:t>
            </a:r>
            <a:r>
              <a:rPr lang="en-US" b="1" i="1" dirty="0" smtClean="0"/>
              <a:t>friend</a:t>
            </a:r>
            <a:r>
              <a:rPr lang="en-US" dirty="0" smtClean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UTA007 - Computer Programming 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9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spcBef>
                <a:spcPts val="600"/>
              </a:spcBef>
            </a:pPr>
            <a:r>
              <a:rPr lang="en-US" dirty="0" smtClean="0"/>
              <a:t>Defined elsewhere in the program like a normal C++ function.</a:t>
            </a:r>
          </a:p>
          <a:p>
            <a:pPr algn="just">
              <a:spcBef>
                <a:spcPts val="600"/>
              </a:spcBef>
            </a:pPr>
            <a:r>
              <a:rPr lang="en-US" dirty="0" smtClean="0"/>
              <a:t>Can be a simple function or a member function of some other class.</a:t>
            </a:r>
          </a:p>
          <a:p>
            <a:pPr algn="just">
              <a:spcBef>
                <a:spcPts val="600"/>
              </a:spcBef>
            </a:pPr>
            <a:r>
              <a:rPr lang="en-US" dirty="0" smtClean="0"/>
              <a:t>Unlike member functions, it cannot access the member names directly and has to use an object name and dot membership operator with each member name.</a:t>
            </a:r>
          </a:p>
          <a:p>
            <a:pPr algn="just">
              <a:spcBef>
                <a:spcPts val="600"/>
              </a:spcBef>
            </a:pPr>
            <a:r>
              <a:rPr lang="en-US" dirty="0" smtClean="0"/>
              <a:t>Usually, it has the objects as arguments.</a:t>
            </a:r>
          </a:p>
          <a:p>
            <a:pPr algn="just">
              <a:spcBef>
                <a:spcPts val="600"/>
              </a:spcBef>
            </a:pPr>
            <a:r>
              <a:rPr lang="en-US" dirty="0" smtClean="0"/>
              <a:t>Best suited in operator overloading.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UTA007 - Computer Programming 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10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4929411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#include &lt;</a:t>
            </a:r>
            <a:r>
              <a:rPr lang="en-GB" b="1" dirty="0" err="1" smtClean="0"/>
              <a:t>iostream</a:t>
            </a:r>
            <a:r>
              <a:rPr lang="en-GB" b="1" dirty="0" smtClean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using namespace std;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class </a:t>
            </a:r>
            <a:r>
              <a:rPr lang="en-GB" b="1" dirty="0" err="1" smtClean="0"/>
              <a:t>myclass</a:t>
            </a:r>
            <a:endParaRPr lang="en-GB" b="1" dirty="0" smtClean="0"/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{	</a:t>
            </a:r>
            <a:r>
              <a:rPr lang="en-GB" b="1" dirty="0" err="1" smtClean="0"/>
              <a:t>int</a:t>
            </a:r>
            <a:r>
              <a:rPr lang="en-GB" b="1" dirty="0" smtClean="0"/>
              <a:t> a, b;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    public: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	friend </a:t>
            </a:r>
            <a:r>
              <a:rPr lang="en-GB" b="1" dirty="0" err="1" smtClean="0"/>
              <a:t>int</a:t>
            </a:r>
            <a:r>
              <a:rPr lang="en-GB" b="1" dirty="0" smtClean="0"/>
              <a:t> sum(</a:t>
            </a:r>
            <a:r>
              <a:rPr lang="en-GB" b="1" dirty="0" err="1" smtClean="0"/>
              <a:t>myclass</a:t>
            </a:r>
            <a:r>
              <a:rPr lang="en-GB" b="1" dirty="0" smtClean="0"/>
              <a:t> x);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	void </a:t>
            </a:r>
            <a:r>
              <a:rPr lang="en-GB" b="1" dirty="0" err="1" smtClean="0"/>
              <a:t>set_ab</a:t>
            </a:r>
            <a:r>
              <a:rPr lang="en-GB" b="1" dirty="0" smtClean="0"/>
              <a:t>(</a:t>
            </a:r>
            <a:r>
              <a:rPr lang="en-GB" b="1" dirty="0" err="1" smtClean="0"/>
              <a:t>int</a:t>
            </a:r>
            <a:r>
              <a:rPr lang="en-GB" b="1" dirty="0" smtClean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, </a:t>
            </a:r>
            <a:r>
              <a:rPr lang="en-GB" b="1" dirty="0" err="1" smtClean="0"/>
              <a:t>int</a:t>
            </a:r>
            <a:r>
              <a:rPr lang="en-GB" b="1" dirty="0" smtClean="0"/>
              <a:t> j);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};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void </a:t>
            </a:r>
            <a:r>
              <a:rPr lang="en-GB" b="1" dirty="0" err="1" smtClean="0"/>
              <a:t>myclass</a:t>
            </a:r>
            <a:r>
              <a:rPr lang="en-GB" b="1" dirty="0" smtClean="0"/>
              <a:t>::</a:t>
            </a:r>
            <a:r>
              <a:rPr lang="en-GB" b="1" dirty="0" err="1" smtClean="0"/>
              <a:t>set_ab</a:t>
            </a:r>
            <a:r>
              <a:rPr lang="en-GB" b="1" dirty="0" smtClean="0"/>
              <a:t>(</a:t>
            </a:r>
            <a:r>
              <a:rPr lang="en-GB" b="1" dirty="0" err="1" smtClean="0"/>
              <a:t>int</a:t>
            </a:r>
            <a:r>
              <a:rPr lang="en-GB" b="1" dirty="0" smtClean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, </a:t>
            </a:r>
            <a:r>
              <a:rPr lang="en-GB" b="1" dirty="0" err="1" smtClean="0"/>
              <a:t>int</a:t>
            </a:r>
            <a:r>
              <a:rPr lang="en-GB" b="1" dirty="0" smtClean="0"/>
              <a:t> j)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{	a = </a:t>
            </a:r>
            <a:r>
              <a:rPr lang="en-GB" b="1" dirty="0" err="1" smtClean="0"/>
              <a:t>i</a:t>
            </a:r>
            <a:r>
              <a:rPr lang="en-GB" b="1" dirty="0" smtClean="0"/>
              <a:t>;	b = j;	}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err="1" smtClean="0"/>
              <a:t>int</a:t>
            </a:r>
            <a:r>
              <a:rPr lang="en-GB" b="1" dirty="0" smtClean="0"/>
              <a:t> sum(</a:t>
            </a:r>
            <a:r>
              <a:rPr lang="en-GB" b="1" dirty="0" err="1" smtClean="0"/>
              <a:t>myclass</a:t>
            </a:r>
            <a:r>
              <a:rPr lang="en-GB" b="1" dirty="0" smtClean="0"/>
              <a:t> x)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 smtClean="0"/>
              <a:t>{	return </a:t>
            </a:r>
            <a:r>
              <a:rPr lang="en-GB" b="1" dirty="0" err="1" smtClean="0"/>
              <a:t>x.a</a:t>
            </a:r>
            <a:r>
              <a:rPr lang="en-GB" b="1" dirty="0" smtClean="0"/>
              <a:t> + </a:t>
            </a:r>
            <a:r>
              <a:rPr lang="en-GB" b="1" dirty="0" err="1" smtClean="0"/>
              <a:t>x.b</a:t>
            </a:r>
            <a:r>
              <a:rPr lang="en-GB" b="1" dirty="0" smtClean="0"/>
              <a:t>;	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2/9/2018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5508456" y="1196752"/>
            <a:ext cx="3168000" cy="23237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>
              <a:lnSpc>
                <a:spcPct val="80000"/>
              </a:lnSpc>
              <a:spcBef>
                <a:spcPct val="20000"/>
              </a:spcBef>
              <a:buFont typeface="+mj-lt"/>
              <a:buAutoNum type="arabicPeriod" startAt="13"/>
            </a:pPr>
            <a:r>
              <a:rPr lang="en-GB" sz="2500" b="1" dirty="0" err="1" smtClean="0"/>
              <a:t>int</a:t>
            </a:r>
            <a:r>
              <a:rPr lang="en-GB" sz="2500" b="1" dirty="0" smtClean="0"/>
              <a:t> main()</a:t>
            </a:r>
          </a:p>
          <a:p>
            <a:pPr marL="514350" indent="-514350">
              <a:lnSpc>
                <a:spcPct val="80000"/>
              </a:lnSpc>
              <a:spcBef>
                <a:spcPct val="20000"/>
              </a:spcBef>
              <a:buFont typeface="+mj-lt"/>
              <a:buAutoNum type="arabicPeriod" startAt="13"/>
            </a:pPr>
            <a:r>
              <a:rPr lang="en-GB" sz="2500" b="1" dirty="0" smtClean="0"/>
              <a:t>{	</a:t>
            </a:r>
            <a:r>
              <a:rPr lang="en-GB" sz="2500" b="1" dirty="0" err="1" smtClean="0"/>
              <a:t>myclass</a:t>
            </a:r>
            <a:r>
              <a:rPr lang="en-GB" sz="2500" b="1" dirty="0" smtClean="0"/>
              <a:t> n;</a:t>
            </a:r>
          </a:p>
          <a:p>
            <a:pPr marL="514350" indent="-514350">
              <a:lnSpc>
                <a:spcPct val="80000"/>
              </a:lnSpc>
              <a:spcBef>
                <a:spcPct val="20000"/>
              </a:spcBef>
              <a:buFont typeface="+mj-lt"/>
              <a:buAutoNum type="arabicPeriod" startAt="13"/>
            </a:pPr>
            <a:r>
              <a:rPr lang="en-GB" sz="2500" b="1" dirty="0" smtClean="0"/>
              <a:t>	</a:t>
            </a:r>
            <a:r>
              <a:rPr lang="en-GB" sz="2500" b="1" dirty="0" err="1" smtClean="0"/>
              <a:t>n.set_ab</a:t>
            </a:r>
            <a:r>
              <a:rPr lang="en-GB" sz="2500" b="1" dirty="0" smtClean="0"/>
              <a:t>(3, 4);</a:t>
            </a:r>
          </a:p>
          <a:p>
            <a:pPr marL="514350" indent="-514350">
              <a:lnSpc>
                <a:spcPct val="80000"/>
              </a:lnSpc>
              <a:spcBef>
                <a:spcPct val="20000"/>
              </a:spcBef>
              <a:buFont typeface="+mj-lt"/>
              <a:buAutoNum type="arabicPeriod" startAt="13"/>
            </a:pPr>
            <a:r>
              <a:rPr lang="en-GB" sz="2500" b="1" dirty="0" smtClean="0"/>
              <a:t>	</a:t>
            </a:r>
            <a:r>
              <a:rPr lang="en-GB" sz="2500" b="1" dirty="0" err="1" smtClean="0"/>
              <a:t>cout</a:t>
            </a:r>
            <a:r>
              <a:rPr lang="en-GB" sz="2500" b="1" dirty="0" smtClean="0"/>
              <a:t> &lt;&lt; sum(n);</a:t>
            </a:r>
          </a:p>
          <a:p>
            <a:pPr marL="514350" indent="-514350">
              <a:lnSpc>
                <a:spcPct val="80000"/>
              </a:lnSpc>
              <a:spcBef>
                <a:spcPct val="20000"/>
              </a:spcBef>
              <a:buFont typeface="+mj-lt"/>
              <a:buAutoNum type="arabicPeriod" startAt="13"/>
            </a:pPr>
            <a:r>
              <a:rPr lang="en-GB" sz="2500" b="1" dirty="0" smtClean="0"/>
              <a:t>	return 0;</a:t>
            </a:r>
          </a:p>
          <a:p>
            <a:pPr marL="514350" indent="-514350">
              <a:lnSpc>
                <a:spcPct val="80000"/>
              </a:lnSpc>
              <a:spcBef>
                <a:spcPct val="20000"/>
              </a:spcBef>
              <a:buFont typeface="+mj-lt"/>
              <a:buAutoNum type="arabicPeriod" startAt="13"/>
            </a:pPr>
            <a:r>
              <a:rPr lang="en-GB" sz="2500" b="1" dirty="0" smtClean="0"/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12160" y="4849996"/>
            <a:ext cx="1584000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2800" dirty="0" smtClean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9248" y="4279478"/>
            <a:ext cx="122982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smtClean="0"/>
              <a:t>Output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Friend of more than one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4929411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#include &lt;</a:t>
            </a:r>
            <a:r>
              <a:rPr lang="en-US" sz="2100" b="1" dirty="0" err="1" smtClean="0"/>
              <a:t>iostream</a:t>
            </a:r>
            <a:r>
              <a:rPr lang="en-US" sz="2100" b="1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const 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IDLE = 0;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const 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INUSE = 1;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class C2; // forward declaration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class C1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status;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    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void </a:t>
            </a:r>
            <a:r>
              <a:rPr lang="en-US" sz="2100" b="1" dirty="0" err="1" smtClean="0"/>
              <a:t>set_status</a:t>
            </a:r>
            <a:r>
              <a:rPr lang="en-US" sz="2100" b="1" dirty="0" smtClean="0"/>
              <a:t>(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state);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friend 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idle(C1 a, C2 b);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class C2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status; 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    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void </a:t>
            </a:r>
            <a:r>
              <a:rPr lang="en-US" sz="2100" b="1" dirty="0" err="1" smtClean="0"/>
              <a:t>set_status</a:t>
            </a:r>
            <a:r>
              <a:rPr lang="en-US" sz="2100" b="1" dirty="0" smtClean="0"/>
              <a:t>(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state);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friend 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idle(C1 a, C2 b);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};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UTA007 - Computer Programming 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4860032" y="1196752"/>
            <a:ext cx="39600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void C1::</a:t>
            </a:r>
            <a:r>
              <a:rPr lang="en-US" sz="2100" b="1" dirty="0" err="1" smtClean="0"/>
              <a:t>set_status</a:t>
            </a:r>
            <a:r>
              <a:rPr lang="en-US" sz="2100" b="1" dirty="0" smtClean="0"/>
              <a:t>(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state)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{	status = state;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void C2::</a:t>
            </a:r>
            <a:r>
              <a:rPr lang="en-US" sz="2100" b="1" dirty="0" err="1" smtClean="0"/>
              <a:t>set_status</a:t>
            </a:r>
            <a:r>
              <a:rPr lang="en-US" sz="2100" b="1" dirty="0" smtClean="0"/>
              <a:t>(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state)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{	status = state;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err="1" smtClean="0"/>
              <a:t>int</a:t>
            </a:r>
            <a:r>
              <a:rPr lang="en-US" sz="2100" b="1" dirty="0" smtClean="0"/>
              <a:t> idle(C1 a, C2 b)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{	if(</a:t>
            </a:r>
            <a:r>
              <a:rPr lang="en-US" sz="2100" b="1" dirty="0" err="1" smtClean="0"/>
              <a:t>a.status</a:t>
            </a:r>
            <a:r>
              <a:rPr lang="en-US" sz="2100" b="1" dirty="0" smtClean="0"/>
              <a:t> || </a:t>
            </a:r>
            <a:r>
              <a:rPr lang="en-US" sz="2100" b="1" dirty="0" err="1" smtClean="0"/>
              <a:t>b.status</a:t>
            </a:r>
            <a:r>
              <a:rPr lang="en-US" sz="2100" b="1" dirty="0" smtClean="0"/>
              <a:t>) 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 		return 0;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	else 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 		return 1;	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Contd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err="1" smtClean="0"/>
              <a:t>int</a:t>
            </a:r>
            <a:r>
              <a:rPr lang="en-US" sz="2200" b="1" dirty="0" smtClean="0"/>
              <a:t> main()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{	C1 x;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	C2 y;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	</a:t>
            </a:r>
            <a:r>
              <a:rPr lang="en-US" sz="2200" b="1" dirty="0" err="1" smtClean="0"/>
              <a:t>x.set_status</a:t>
            </a:r>
            <a:r>
              <a:rPr lang="en-US" sz="2200" b="1" dirty="0" smtClean="0"/>
              <a:t>(IDLE);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	</a:t>
            </a:r>
            <a:r>
              <a:rPr lang="en-US" sz="2200" b="1" dirty="0" err="1" smtClean="0"/>
              <a:t>y.set_status</a:t>
            </a:r>
            <a:r>
              <a:rPr lang="en-US" sz="2200" b="1" dirty="0" smtClean="0"/>
              <a:t>(IDLE);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	if(idle(x, y))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 		</a:t>
            </a:r>
            <a:r>
              <a:rPr lang="en-US" sz="2200" b="1" dirty="0" err="1" smtClean="0"/>
              <a:t>cout</a:t>
            </a:r>
            <a:r>
              <a:rPr lang="en-US" sz="2200" b="1" dirty="0" smtClean="0"/>
              <a:t> &lt;&lt; "Screen can be used.\n";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	else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 		</a:t>
            </a:r>
            <a:r>
              <a:rPr lang="en-US" sz="2200" b="1" dirty="0" err="1" smtClean="0"/>
              <a:t>cout</a:t>
            </a:r>
            <a:r>
              <a:rPr lang="en-US" sz="2200" b="1" dirty="0" smtClean="0"/>
              <a:t> &lt;&lt; "In use.\n";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	</a:t>
            </a:r>
            <a:r>
              <a:rPr lang="en-US" sz="2200" b="1" dirty="0" err="1" smtClean="0"/>
              <a:t>x.set_status</a:t>
            </a:r>
            <a:r>
              <a:rPr lang="en-US" sz="2200" b="1" dirty="0" smtClean="0"/>
              <a:t>(INUSE);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	if(idle(x, y))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 		</a:t>
            </a:r>
            <a:r>
              <a:rPr lang="en-US" sz="2200" b="1" dirty="0" err="1" smtClean="0"/>
              <a:t>cout</a:t>
            </a:r>
            <a:r>
              <a:rPr lang="en-US" sz="2200" b="1" dirty="0" smtClean="0"/>
              <a:t> &lt;&lt; "Screen can be used.\n";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	else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 		</a:t>
            </a:r>
            <a:r>
              <a:rPr lang="en-US" sz="2200" b="1" dirty="0" err="1" smtClean="0"/>
              <a:t>cout</a:t>
            </a:r>
            <a:r>
              <a:rPr lang="en-US" sz="2200" b="1" dirty="0" smtClean="0"/>
              <a:t> &lt;&lt; "In use.\n";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	return 0;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27"/>
            </a:pPr>
            <a:r>
              <a:rPr lang="en-US" sz="2200" b="1" dirty="0" smtClean="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5688464" y="1897668"/>
            <a:ext cx="3060000" cy="9541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dirty="0" smtClean="0">
                <a:solidFill>
                  <a:schemeClr val="bg1"/>
                </a:solidFill>
              </a:rPr>
              <a:t>Screen can be used.</a:t>
            </a:r>
          </a:p>
          <a:p>
            <a:r>
              <a:rPr lang="en-GB" sz="2800" dirty="0" smtClean="0">
                <a:solidFill>
                  <a:schemeClr val="bg1"/>
                </a:solidFill>
              </a:rPr>
              <a:t>In use.</a:t>
            </a:r>
            <a:endParaRPr lang="en-IN" sz="2800" dirty="0" smtClean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88464" y="1327150"/>
            <a:ext cx="122982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smtClean="0"/>
              <a:t>Output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>Class member as a friend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4929411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#include &lt;</a:t>
            </a:r>
            <a:r>
              <a:rPr lang="en-US" sz="2100" b="1" dirty="0" err="1" smtClean="0"/>
              <a:t>iostream</a:t>
            </a:r>
            <a:r>
              <a:rPr lang="en-US" sz="2100" b="1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const 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IDLE = 0;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const 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INUSE = 1;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class C2; // forward declaration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class C1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status;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    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void </a:t>
            </a:r>
            <a:r>
              <a:rPr lang="en-US" sz="2100" b="1" dirty="0" err="1" smtClean="0"/>
              <a:t>set_status</a:t>
            </a:r>
            <a:r>
              <a:rPr lang="en-US" sz="2100" b="1" dirty="0" smtClean="0"/>
              <a:t>(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state);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idle(C2 b);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class C2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status;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    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void </a:t>
            </a:r>
            <a:r>
              <a:rPr lang="en-US" sz="2100" b="1" dirty="0" err="1" smtClean="0"/>
              <a:t>set_status</a:t>
            </a:r>
            <a:r>
              <a:rPr lang="en-US" sz="2100" b="1" dirty="0" smtClean="0"/>
              <a:t>(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state);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	friend 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C1::idle(C2 b);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100" b="1" dirty="0" smtClean="0"/>
              <a:t>};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UTA007 - Computer Programming 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4860032" y="1196752"/>
            <a:ext cx="3960000" cy="30008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void C1::</a:t>
            </a:r>
            <a:r>
              <a:rPr lang="en-US" sz="2100" b="1" dirty="0" err="1" smtClean="0"/>
              <a:t>set_status</a:t>
            </a:r>
            <a:r>
              <a:rPr lang="en-US" sz="2100" b="1" dirty="0" smtClean="0"/>
              <a:t>(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state)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{	status = state;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void C2::</a:t>
            </a:r>
            <a:r>
              <a:rPr lang="en-US" sz="2100" b="1" dirty="0" err="1" smtClean="0"/>
              <a:t>set_status</a:t>
            </a:r>
            <a:r>
              <a:rPr lang="en-US" sz="2100" b="1" dirty="0" smtClean="0"/>
              <a:t>(</a:t>
            </a:r>
            <a:r>
              <a:rPr lang="en-US" sz="2100" b="1" dirty="0" err="1" smtClean="0"/>
              <a:t>int</a:t>
            </a:r>
            <a:r>
              <a:rPr lang="en-US" sz="2100" b="1" dirty="0" smtClean="0"/>
              <a:t> state)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{	status = state;	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err="1" smtClean="0"/>
              <a:t>int</a:t>
            </a:r>
            <a:r>
              <a:rPr lang="en-US" sz="2100" b="1" dirty="0" smtClean="0"/>
              <a:t> C1::idle(C2 b)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{	if(status || </a:t>
            </a:r>
            <a:r>
              <a:rPr lang="en-US" sz="2100" b="1" dirty="0" err="1" smtClean="0"/>
              <a:t>b.status</a:t>
            </a:r>
            <a:r>
              <a:rPr lang="en-US" sz="2100" b="1" dirty="0" smtClean="0"/>
              <a:t>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 		return 0;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	else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 startAt="18"/>
            </a:pPr>
            <a:r>
              <a:rPr lang="en-US" sz="2100" b="1" dirty="0" smtClean="0"/>
              <a:t> 		return 1;	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Contd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err="1" smtClean="0"/>
              <a:t>int</a:t>
            </a:r>
            <a:r>
              <a:rPr lang="en-GB" sz="2000" b="1" dirty="0" smtClean="0"/>
              <a:t> main()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{	C1 x;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	C2 y;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	</a:t>
            </a:r>
            <a:r>
              <a:rPr lang="en-GB" sz="2000" b="1" dirty="0" err="1" smtClean="0"/>
              <a:t>x.set_status</a:t>
            </a:r>
            <a:r>
              <a:rPr lang="en-GB" sz="2000" b="1" dirty="0" smtClean="0"/>
              <a:t>(IDLE);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	</a:t>
            </a:r>
            <a:r>
              <a:rPr lang="en-GB" sz="2000" b="1" dirty="0" err="1" smtClean="0"/>
              <a:t>y.set_status</a:t>
            </a:r>
            <a:r>
              <a:rPr lang="en-GB" sz="2000" b="1" dirty="0" smtClean="0"/>
              <a:t>(IDLE);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	if(</a:t>
            </a:r>
            <a:r>
              <a:rPr lang="en-GB" sz="2000" b="1" dirty="0" err="1" smtClean="0"/>
              <a:t>x.idle</a:t>
            </a:r>
            <a:r>
              <a:rPr lang="en-GB" sz="2000" b="1" dirty="0" smtClean="0"/>
              <a:t>(y))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 		</a:t>
            </a:r>
            <a:r>
              <a:rPr lang="en-GB" sz="2000" b="1" dirty="0" err="1" smtClean="0"/>
              <a:t>cout</a:t>
            </a:r>
            <a:r>
              <a:rPr lang="en-GB" sz="2000" b="1" dirty="0" smtClean="0"/>
              <a:t> &lt;&lt; "Screen can be used.\n";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	else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 		</a:t>
            </a:r>
            <a:r>
              <a:rPr lang="en-GB" sz="2000" b="1" dirty="0" err="1" smtClean="0"/>
              <a:t>cout</a:t>
            </a:r>
            <a:r>
              <a:rPr lang="en-GB" sz="2000" b="1" dirty="0" smtClean="0"/>
              <a:t> &lt;&lt; "In use.\n";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	</a:t>
            </a:r>
            <a:r>
              <a:rPr lang="en-GB" sz="2000" b="1" dirty="0" err="1" smtClean="0"/>
              <a:t>x.set_status</a:t>
            </a:r>
            <a:r>
              <a:rPr lang="en-GB" sz="2000" b="1" dirty="0" smtClean="0"/>
              <a:t>(INUSE);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	if(</a:t>
            </a:r>
            <a:r>
              <a:rPr lang="en-GB" sz="2000" b="1" dirty="0" err="1" smtClean="0"/>
              <a:t>x.idle</a:t>
            </a:r>
            <a:r>
              <a:rPr lang="en-GB" sz="2000" b="1" dirty="0" smtClean="0"/>
              <a:t>(y))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 		</a:t>
            </a:r>
            <a:r>
              <a:rPr lang="en-GB" sz="2000" b="1" dirty="0" err="1" smtClean="0"/>
              <a:t>cout</a:t>
            </a:r>
            <a:r>
              <a:rPr lang="en-GB" sz="2000" b="1" dirty="0" smtClean="0"/>
              <a:t> &lt;&lt; "Screen can be used.\n";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	else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 		</a:t>
            </a:r>
            <a:r>
              <a:rPr lang="en-GB" sz="2000" b="1" dirty="0" err="1" smtClean="0"/>
              <a:t>cout</a:t>
            </a:r>
            <a:r>
              <a:rPr lang="en-GB" sz="2000" b="1" dirty="0" smtClean="0"/>
              <a:t> &lt;&lt; "In use.\n";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	return 0;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 startAt="27"/>
            </a:pPr>
            <a:r>
              <a:rPr lang="en-GB" sz="2000" b="1" dirty="0" smtClean="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0126-4DCA-46A1-B358-A6CC677DCBC1}" type="datetime1">
              <a:rPr lang="en-US" smtClean="0"/>
              <a:pPr/>
              <a:t>2/9/2018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UTA009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847C-D076-4F9B-910F-B2BFADEA433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5688464" y="1897668"/>
            <a:ext cx="3060000" cy="9541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800" dirty="0" smtClean="0">
                <a:solidFill>
                  <a:schemeClr val="bg1"/>
                </a:solidFill>
              </a:rPr>
              <a:t>Screen can be used.</a:t>
            </a:r>
          </a:p>
          <a:p>
            <a:r>
              <a:rPr lang="en-GB" sz="2800" dirty="0" smtClean="0">
                <a:solidFill>
                  <a:schemeClr val="bg1"/>
                </a:solidFill>
              </a:rPr>
              <a:t>In use.</a:t>
            </a:r>
            <a:endParaRPr lang="en-IN" sz="2800" dirty="0" smtClean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88464" y="1327150"/>
            <a:ext cx="122982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smtClean="0"/>
              <a:t>Output</a:t>
            </a: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300" dirty="0" smtClean="0"/>
              <a:t>Friend Class</a:t>
            </a:r>
            <a:endParaRPr lang="en-IN" sz="4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spcBef>
                <a:spcPts val="700"/>
              </a:spcBef>
            </a:pPr>
            <a:r>
              <a:rPr lang="en-IN" sz="2800" dirty="0" smtClean="0"/>
              <a:t>A class can also be made a friend of another class.</a:t>
            </a:r>
          </a:p>
          <a:p>
            <a:pPr algn="just">
              <a:spcBef>
                <a:spcPts val="700"/>
              </a:spcBef>
            </a:pPr>
            <a:r>
              <a:rPr lang="en-IN" sz="2800" dirty="0" smtClean="0"/>
              <a:t>Example:</a:t>
            </a:r>
          </a:p>
          <a:p>
            <a:pPr algn="just">
              <a:spcBef>
                <a:spcPts val="700"/>
              </a:spcBef>
            </a:pPr>
            <a:endParaRPr lang="en-US" sz="2800" dirty="0" smtClean="0"/>
          </a:p>
          <a:p>
            <a:pPr algn="just">
              <a:spcBef>
                <a:spcPts val="700"/>
              </a:spcBef>
            </a:pPr>
            <a:endParaRPr lang="en-US" sz="2800" dirty="0" smtClean="0"/>
          </a:p>
          <a:p>
            <a:pPr algn="just">
              <a:spcBef>
                <a:spcPts val="700"/>
              </a:spcBef>
            </a:pPr>
            <a:endParaRPr lang="en-IN" sz="2800" dirty="0" smtClean="0"/>
          </a:p>
          <a:p>
            <a:pPr algn="just">
              <a:spcBef>
                <a:spcPts val="2400"/>
              </a:spcBef>
            </a:pPr>
            <a:r>
              <a:rPr lang="en-IN" sz="2800" dirty="0" smtClean="0"/>
              <a:t>All the member functions of a friend </a:t>
            </a:r>
            <a:r>
              <a:rPr lang="en-IN" sz="2800" b="1" dirty="0" smtClean="0"/>
              <a:t>class A</a:t>
            </a:r>
            <a:r>
              <a:rPr lang="en-IN" sz="2800" dirty="0" smtClean="0"/>
              <a:t> become friend of </a:t>
            </a:r>
            <a:r>
              <a:rPr lang="en-IN" sz="2800" b="1" dirty="0" smtClean="0"/>
              <a:t>class B</a:t>
            </a:r>
            <a:r>
              <a:rPr lang="en-IN" sz="2800" dirty="0" smtClean="0"/>
              <a:t>.</a:t>
            </a:r>
          </a:p>
          <a:p>
            <a:pPr algn="just">
              <a:spcBef>
                <a:spcPts val="700"/>
              </a:spcBef>
            </a:pPr>
            <a:r>
              <a:rPr lang="en-IN" sz="2800" dirty="0" smtClean="0"/>
              <a:t>Any member function of </a:t>
            </a:r>
            <a:r>
              <a:rPr lang="en-IN" sz="2800" b="1" dirty="0" smtClean="0"/>
              <a:t>class A</a:t>
            </a:r>
            <a:r>
              <a:rPr lang="en-IN" sz="2800" dirty="0" smtClean="0"/>
              <a:t> can access the private data of </a:t>
            </a:r>
            <a:r>
              <a:rPr lang="en-IN" sz="2800" b="1" dirty="0" smtClean="0"/>
              <a:t>class B</a:t>
            </a:r>
            <a:r>
              <a:rPr lang="en-IN" sz="2800" dirty="0" smtClean="0"/>
              <a:t>.</a:t>
            </a:r>
          </a:p>
          <a:p>
            <a:pPr algn="just">
              <a:spcBef>
                <a:spcPts val="700"/>
              </a:spcBef>
            </a:pPr>
            <a:r>
              <a:rPr lang="en-IN" sz="2800" dirty="0" smtClean="0"/>
              <a:t>But, member functions of </a:t>
            </a:r>
            <a:r>
              <a:rPr lang="en-IN" sz="2800" b="1" dirty="0" smtClean="0"/>
              <a:t>class B</a:t>
            </a:r>
            <a:r>
              <a:rPr lang="en-IN" sz="2800" dirty="0" smtClean="0"/>
              <a:t> cannot access the private data of </a:t>
            </a:r>
            <a:r>
              <a:rPr lang="en-IN" sz="2800" b="1" dirty="0" smtClean="0"/>
              <a:t>class A</a:t>
            </a:r>
            <a:r>
              <a:rPr lang="en-IN" sz="2800" dirty="0" smtClean="0"/>
              <a:t>.</a:t>
            </a:r>
            <a:endParaRPr lang="en-IN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UTA007 - Computer Programming 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4355976" y="1813292"/>
            <a:ext cx="28083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/>
            <a:r>
              <a:rPr lang="en-IN" sz="2800" b="1" dirty="0" smtClean="0"/>
              <a:t>class B</a:t>
            </a:r>
          </a:p>
          <a:p>
            <a:pPr marL="342900" lvl="0" indent="-342900"/>
            <a:r>
              <a:rPr lang="en-IN" sz="2800" b="1" dirty="0" smtClean="0"/>
              <a:t>{ .....</a:t>
            </a:r>
          </a:p>
          <a:p>
            <a:pPr marL="342900" lvl="0" indent="-342900"/>
            <a:r>
              <a:rPr lang="en-IN" sz="2800" b="1" dirty="0" smtClean="0"/>
              <a:t>  friend class A;</a:t>
            </a:r>
          </a:p>
          <a:p>
            <a:pPr marL="342900" lvl="0" indent="-342900"/>
            <a:r>
              <a:rPr lang="en-IN" sz="2800" b="1" dirty="0" smtClean="0"/>
              <a:t>  .....  };</a:t>
            </a:r>
            <a:endParaRPr lang="en-IN" sz="1600" b="1" dirty="0"/>
          </a:p>
        </p:txBody>
      </p:sp>
      <p:sp>
        <p:nvSpPr>
          <p:cNvPr id="8" name="Rectangle 7"/>
          <p:cNvSpPr/>
          <p:nvPr/>
        </p:nvSpPr>
        <p:spPr>
          <a:xfrm>
            <a:off x="2411760" y="1813292"/>
            <a:ext cx="2286000" cy="155734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IN" sz="2800" b="1" dirty="0" smtClean="0"/>
              <a:t>class A</a:t>
            </a:r>
          </a:p>
          <a:p>
            <a:pPr marL="342900" indent="-342900">
              <a:spcBef>
                <a:spcPct val="20000"/>
              </a:spcBef>
            </a:pPr>
            <a:r>
              <a:rPr lang="en-IN" sz="2800" b="1" dirty="0" smtClean="0"/>
              <a:t>{   ......</a:t>
            </a:r>
          </a:p>
          <a:p>
            <a:pPr marL="342900" indent="-342900">
              <a:spcBef>
                <a:spcPct val="20000"/>
              </a:spcBef>
            </a:pPr>
            <a:r>
              <a:rPr lang="en-IN" sz="2800" b="1" dirty="0" smtClean="0"/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4929411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#include &lt;</a:t>
            </a:r>
            <a:r>
              <a:rPr lang="en-US" sz="2400" b="1" dirty="0" err="1" smtClean="0"/>
              <a:t>iostream</a:t>
            </a:r>
            <a:r>
              <a:rPr lang="en-US" sz="2400" b="1" dirty="0" smtClean="0"/>
              <a:t>&gt;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using namespace std;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class </a:t>
            </a:r>
            <a:r>
              <a:rPr lang="en-US" sz="2400" b="1" dirty="0" err="1" smtClean="0"/>
              <a:t>TwoValues</a:t>
            </a:r>
            <a:r>
              <a:rPr lang="en-US" sz="2400" b="1" dirty="0" smtClean="0"/>
              <a:t>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	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a, b;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    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	</a:t>
            </a:r>
            <a:r>
              <a:rPr lang="en-US" sz="2400" b="1" dirty="0" err="1" smtClean="0"/>
              <a:t>TwoValues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j) { a =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; b = j; }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	friend class Min;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class Min {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    public: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	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min(</a:t>
            </a:r>
            <a:r>
              <a:rPr lang="en-US" sz="2400" b="1" dirty="0" err="1" smtClean="0"/>
              <a:t>TwoValues</a:t>
            </a:r>
            <a:r>
              <a:rPr lang="en-US" sz="2400" b="1" dirty="0" smtClean="0"/>
              <a:t> x);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};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err="1" smtClean="0"/>
              <a:t>int</a:t>
            </a:r>
            <a:r>
              <a:rPr lang="en-US" sz="2400" b="1" dirty="0" smtClean="0"/>
              <a:t> Min::min(</a:t>
            </a:r>
            <a:r>
              <a:rPr lang="en-US" sz="2400" b="1" dirty="0" err="1" smtClean="0"/>
              <a:t>TwoValues</a:t>
            </a:r>
            <a:r>
              <a:rPr lang="en-US" sz="2400" b="1" dirty="0" smtClean="0"/>
              <a:t> x)</a:t>
            </a:r>
          </a:p>
          <a:p>
            <a:pPr marL="514350" indent="-514350">
              <a:spcBef>
                <a:spcPts val="0"/>
              </a:spcBef>
              <a:buFont typeface="+mj-lt"/>
              <a:buAutoNum type="arabicPeriod"/>
            </a:pPr>
            <a:r>
              <a:rPr lang="en-US" sz="2400" b="1" dirty="0" smtClean="0"/>
              <a:t>{	return </a:t>
            </a:r>
            <a:r>
              <a:rPr lang="en-US" sz="2400" b="1" dirty="0" err="1" smtClean="0"/>
              <a:t>x.a</a:t>
            </a:r>
            <a:r>
              <a:rPr lang="en-US" sz="2400" b="1" dirty="0" smtClean="0"/>
              <a:t> &lt; </a:t>
            </a:r>
            <a:r>
              <a:rPr lang="en-US" sz="2400" b="1" dirty="0" err="1" smtClean="0"/>
              <a:t>x.b</a:t>
            </a:r>
            <a:r>
              <a:rPr lang="en-US" sz="2400" b="1" dirty="0" smtClean="0"/>
              <a:t> ? </a:t>
            </a:r>
            <a:r>
              <a:rPr lang="en-US" sz="2400" b="1" dirty="0" err="1" smtClean="0"/>
              <a:t>x.a</a:t>
            </a:r>
            <a:r>
              <a:rPr lang="en-US" sz="2400" b="1" dirty="0" smtClean="0"/>
              <a:t> : </a:t>
            </a:r>
            <a:r>
              <a:rPr lang="en-US" sz="2400" b="1" dirty="0" err="1" smtClean="0"/>
              <a:t>x.b</a:t>
            </a:r>
            <a:r>
              <a:rPr lang="en-US" sz="2400" b="1" dirty="0" smtClean="0"/>
              <a:t>;	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Thapar University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UTA007 - Computer Programming 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21C4-A808-4C86-9039-83A43829D9F9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750365" y="2276872"/>
            <a:ext cx="1079760" cy="4770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2500" dirty="0" smtClean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2240" y="1772816"/>
            <a:ext cx="1116011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500" dirty="0" smtClean="0"/>
              <a:t>Output</a:t>
            </a:r>
            <a:endParaRPr lang="en-IN" sz="2500" dirty="0"/>
          </a:p>
        </p:txBody>
      </p:sp>
      <p:sp>
        <p:nvSpPr>
          <p:cNvPr id="15" name="Rectangle 14"/>
          <p:cNvSpPr/>
          <p:nvPr/>
        </p:nvSpPr>
        <p:spPr>
          <a:xfrm>
            <a:off x="5004048" y="3573016"/>
            <a:ext cx="392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buFont typeface="+mj-lt"/>
              <a:buAutoNum type="arabicPeriod" startAt="15"/>
            </a:pPr>
            <a:r>
              <a:rPr lang="en-US" sz="2400" b="1" dirty="0" err="1" smtClean="0"/>
              <a:t>int</a:t>
            </a:r>
            <a:r>
              <a:rPr lang="en-US" sz="2400" b="1" dirty="0" smtClean="0"/>
              <a:t> main()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400" b="1" dirty="0" smtClean="0"/>
              <a:t>{	</a:t>
            </a:r>
            <a:r>
              <a:rPr lang="en-US" sz="2400" b="1" dirty="0" err="1" smtClean="0"/>
              <a:t>TwoValues</a:t>
            </a:r>
            <a:r>
              <a:rPr lang="en-US" sz="2400" b="1" dirty="0" smtClean="0"/>
              <a:t> ob(10, 20);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400" b="1" dirty="0" smtClean="0"/>
              <a:t>	Min m;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400" b="1" dirty="0" smtClean="0"/>
              <a:t>	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 &lt;&lt; m.min(ob);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400" b="1" dirty="0" smtClean="0"/>
              <a:t>	return 0;</a:t>
            </a:r>
          </a:p>
          <a:p>
            <a:pPr marL="514350" lvl="0" indent="-514350">
              <a:buFont typeface="+mj-lt"/>
              <a:buAutoNum type="arabicPeriod" startAt="15"/>
            </a:pPr>
            <a:r>
              <a:rPr lang="en-US" sz="2400" b="1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784</Words>
  <Application>Microsoft Office PowerPoint</Application>
  <PresentationFormat>On-screen Show (4:3)</PresentationFormat>
  <Paragraphs>317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Lecture 12</vt:lpstr>
      <vt:lpstr>this pointer</vt:lpstr>
      <vt:lpstr>Example</vt:lpstr>
      <vt:lpstr>Contd…</vt:lpstr>
      <vt:lpstr>Example</vt:lpstr>
      <vt:lpstr>Contd…</vt:lpstr>
      <vt:lpstr>Scope resolution operator (::)</vt:lpstr>
      <vt:lpstr>Example</vt:lpstr>
      <vt:lpstr>Friend Function</vt:lpstr>
      <vt:lpstr>Contd…</vt:lpstr>
      <vt:lpstr>Example</vt:lpstr>
      <vt:lpstr>Friend of more than one class</vt:lpstr>
      <vt:lpstr>Contd…</vt:lpstr>
      <vt:lpstr>Class member as a friend function</vt:lpstr>
      <vt:lpstr>Contd…</vt:lpstr>
      <vt:lpstr>Friend Class</vt:lpstr>
      <vt:lpstr>Example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Shreelekha</dc:creator>
  <cp:lastModifiedBy>raman</cp:lastModifiedBy>
  <cp:revision>17</cp:revision>
  <dcterms:created xsi:type="dcterms:W3CDTF">2018-01-17T16:26:13Z</dcterms:created>
  <dcterms:modified xsi:type="dcterms:W3CDTF">2018-02-09T01:16:30Z</dcterms:modified>
</cp:coreProperties>
</file>