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emf" ContentType="image/x-emf"/>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Default Extension="vml" ContentType="application/vnd.openxmlformats-officedocument.vmlDrawing"/>
  <Default Extension="doc" ContentType="application/msword"/>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Layouts/slideLayout7.xml" ContentType="application/vnd.openxmlformats-officedocument.presentationml.slideLayout+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61" r:id="rId6"/>
    <p:sldId id="262" r:id="rId7"/>
    <p:sldId id="263" r:id="rId8"/>
    <p:sldId id="266" r:id="rId9"/>
    <p:sldId id="267" r:id="rId10"/>
    <p:sldId id="268" r:id="rId11"/>
    <p:sldId id="264" r:id="rId12"/>
    <p:sldId id="265" r:id="rId13"/>
    <p:sldId id="269" r:id="rId14"/>
    <p:sldId id="270" r:id="rId15"/>
    <p:sldId id="271" r:id="rId16"/>
    <p:sldId id="272" r:id="rId17"/>
    <p:sldId id="273" r:id="rId18"/>
    <p:sldId id="274" r:id="rId19"/>
    <p:sldId id="275" r:id="rId20"/>
    <p:sldId id="276" r:id="rId21"/>
    <p:sldId id="277" r:id="rId22"/>
    <p:sldId id="278" r:id="rId23"/>
    <p:sldId id="279" r:id="rId24"/>
    <p:sldId id="280" r:id="rId25"/>
    <p:sldId id="281" r:id="rId26"/>
    <p:sldId id="288" r:id="rId27"/>
    <p:sldId id="282" r:id="rId28"/>
    <p:sldId id="283" r:id="rId29"/>
    <p:sldId id="284" r:id="rId30"/>
    <p:sldId id="285" r:id="rId31"/>
    <p:sldId id="286" r:id="rId32"/>
    <p:sldId id="289" r:id="rId33"/>
    <p:sldId id="290" r:id="rId34"/>
    <p:sldId id="287" r:id="rId35"/>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showOutlineIcons="0">
    <p:restoredLeft sz="15620"/>
    <p:restoredTop sz="94624" autoAdjust="0"/>
  </p:normalViewPr>
  <p:slideViewPr>
    <p:cSldViewPr>
      <p:cViewPr varScale="1">
        <p:scale>
          <a:sx n="69" d="100"/>
          <a:sy n="69" d="100"/>
        </p:scale>
        <p:origin x="-1416" y="-102"/>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6A8453C-2510-4104-AF7F-91CF8D0C6DDD}" type="datetimeFigureOut">
              <a:rPr lang="en-IN" smtClean="0"/>
              <a:pPr/>
              <a:t>11-04-2018</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5D1FC415-7BDC-4E40-A65C-2283BD1B96EB}" type="slidenum">
              <a:rPr lang="en-IN" smtClean="0"/>
              <a:pPr/>
              <a:t>‹#›</a:t>
            </a:fld>
            <a:endParaRPr lang="en-I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72000" y="116632"/>
            <a:ext cx="9000000" cy="1143000"/>
          </a:xfrm>
          <a:prstGeom prst="rect">
            <a:avLst/>
          </a:prstGeom>
        </p:spPr>
        <p:txBody>
          <a:bodyPr vert="horz" lIns="91440" tIns="45720" rIns="91440" bIns="45720" rtlCol="0" anchor="ctr">
            <a:normAutofit/>
          </a:bodyPr>
          <a:lstStyle/>
          <a:p>
            <a:r>
              <a:rPr lang="en-US" dirty="0" smtClean="0"/>
              <a:t>Click to edit Master title style</a:t>
            </a:r>
            <a:endParaRPr lang="en-IN" dirty="0"/>
          </a:p>
        </p:txBody>
      </p:sp>
      <p:sp>
        <p:nvSpPr>
          <p:cNvPr id="3" name="Text Placeholder 2"/>
          <p:cNvSpPr>
            <a:spLocks noGrp="1"/>
          </p:cNvSpPr>
          <p:nvPr>
            <p:ph type="body" idx="1"/>
          </p:nvPr>
        </p:nvSpPr>
        <p:spPr>
          <a:xfrm>
            <a:off x="72000" y="1340768"/>
            <a:ext cx="9000000" cy="4968552"/>
          </a:xfrm>
          <a:prstGeom prst="rect">
            <a:avLst/>
          </a:prstGeom>
        </p:spPr>
        <p:txBody>
          <a:bodyPr vert="horz" lIns="91440" tIns="45720" rIns="91440" bIns="45720" rtlCol="0">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IN"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6A8453C-2510-4104-AF7F-91CF8D0C6DDD}" type="datetimeFigureOut">
              <a:rPr lang="en-IN" smtClean="0"/>
              <a:pPr/>
              <a:t>11-04-2018</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5D1FC415-7BDC-4E40-A65C-2283BD1B96EB}" type="slidenum">
              <a:rPr lang="en-IN" smtClean="0"/>
              <a:pPr/>
              <a:t>‹#›</a:t>
            </a:fld>
            <a:endParaRPr lang="en-IN"/>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oleObject" Target="../embeddings/Microsoft_Word_97_-_2003_Document11.doc"/><Relationship Id="rId2" Type="http://schemas.openxmlformats.org/officeDocument/2006/relationships/slideLayout" Target="../slideLayouts/slideLayout2.xml"/><Relationship Id="rId1" Type="http://schemas.openxmlformats.org/officeDocument/2006/relationships/vmlDrawing" Target="../drawings/vmlDrawing1.v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C++ files and streams</a:t>
            </a:r>
            <a:endParaRPr lang="en-IN" dirty="0"/>
          </a:p>
        </p:txBody>
      </p:sp>
      <p:sp>
        <p:nvSpPr>
          <p:cNvPr id="3" name="Subtitle 2"/>
          <p:cNvSpPr>
            <a:spLocks noGrp="1"/>
          </p:cNvSpPr>
          <p:nvPr>
            <p:ph type="subTitle" idx="1"/>
          </p:nvPr>
        </p:nvSpPr>
        <p:spPr/>
        <p:txBody>
          <a:bodyPr/>
          <a:lstStyle/>
          <a:p>
            <a:r>
              <a:rPr lang="en-IN" dirty="0" err="1" smtClean="0"/>
              <a:t>Lec</a:t>
            </a:r>
            <a:r>
              <a:rPr lang="en-IN" dirty="0" smtClean="0"/>
              <a:t> 28-31</a:t>
            </a:r>
            <a:endParaRPr lang="en-IN"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a:t>
            </a:r>
            <a:endParaRPr lang="en-IN" dirty="0"/>
          </a:p>
        </p:txBody>
      </p:sp>
      <p:sp>
        <p:nvSpPr>
          <p:cNvPr id="3" name="Content Placeholder 2"/>
          <p:cNvSpPr>
            <a:spLocks noGrp="1"/>
          </p:cNvSpPr>
          <p:nvPr>
            <p:ph idx="1"/>
          </p:nvPr>
        </p:nvSpPr>
        <p:spPr/>
        <p:txBody>
          <a:bodyPr/>
          <a:lstStyle/>
          <a:p>
            <a:r>
              <a:rPr lang="en-US" dirty="0"/>
              <a:t>So far, we have been using the </a:t>
            </a:r>
            <a:r>
              <a:rPr lang="en-US" b="1" dirty="0" err="1"/>
              <a:t>iostream</a:t>
            </a:r>
            <a:r>
              <a:rPr lang="en-US" dirty="0"/>
              <a:t> standard library, which provides </a:t>
            </a:r>
            <a:r>
              <a:rPr lang="en-US" b="1" dirty="0" err="1" smtClean="0"/>
              <a:t>cin</a:t>
            </a:r>
            <a:r>
              <a:rPr lang="en-US" b="1" dirty="0" smtClean="0"/>
              <a:t> </a:t>
            </a:r>
            <a:r>
              <a:rPr lang="en-US" dirty="0" smtClean="0"/>
              <a:t>and</a:t>
            </a:r>
            <a:r>
              <a:rPr lang="en-US" dirty="0"/>
              <a:t> </a:t>
            </a:r>
            <a:r>
              <a:rPr lang="en-US" b="1" dirty="0" err="1"/>
              <a:t>cout</a:t>
            </a:r>
            <a:r>
              <a:rPr lang="en-US" dirty="0"/>
              <a:t> methods for reading from standard input and writing to standard output respectively</a:t>
            </a:r>
            <a:r>
              <a:rPr lang="en-US" dirty="0" smtClean="0"/>
              <a:t>.</a:t>
            </a:r>
          </a:p>
          <a:p>
            <a:r>
              <a:rPr lang="en-US" dirty="0"/>
              <a:t>To perform file processing in C++, header files &lt;</a:t>
            </a:r>
            <a:r>
              <a:rPr lang="en-US" dirty="0" err="1"/>
              <a:t>iostream</a:t>
            </a:r>
            <a:r>
              <a:rPr lang="en-US" dirty="0"/>
              <a:t>&gt; and &lt;</a:t>
            </a:r>
            <a:r>
              <a:rPr lang="en-US" dirty="0" err="1"/>
              <a:t>fstream</a:t>
            </a:r>
            <a:r>
              <a:rPr lang="en-US" dirty="0"/>
              <a:t>&gt; must be included in your C++ source file.</a:t>
            </a:r>
            <a:endParaRPr lang="en-IN" dirty="0"/>
          </a:p>
        </p:txBody>
      </p:sp>
    </p:spTree>
    <p:extLst>
      <p:ext uri="{BB962C8B-B14F-4D97-AF65-F5344CB8AC3E}">
        <p14:creationId xmlns:p14="http://schemas.microsoft.com/office/powerpoint/2010/main" xmlns="" val="1590604016"/>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Rectangle 2"/>
          <p:cNvSpPr>
            <a:spLocks noGrp="1" noChangeArrowheads="1"/>
          </p:cNvSpPr>
          <p:nvPr>
            <p:ph type="title"/>
          </p:nvPr>
        </p:nvSpPr>
        <p:spPr/>
        <p:txBody>
          <a:bodyPr/>
          <a:lstStyle/>
          <a:p>
            <a:r>
              <a:rPr lang="en-US" dirty="0" smtClean="0"/>
              <a:t>Files</a:t>
            </a:r>
            <a:endParaRPr lang="en-US" dirty="0"/>
          </a:p>
        </p:txBody>
      </p:sp>
      <p:sp>
        <p:nvSpPr>
          <p:cNvPr id="4099" name="Rectangle 3"/>
          <p:cNvSpPr>
            <a:spLocks noGrp="1" noChangeArrowheads="1"/>
          </p:cNvSpPr>
          <p:nvPr>
            <p:ph type="body" idx="1"/>
          </p:nvPr>
        </p:nvSpPr>
        <p:spPr/>
        <p:txBody>
          <a:bodyPr/>
          <a:lstStyle/>
          <a:p>
            <a:pPr algn="just">
              <a:spcBef>
                <a:spcPts val="0"/>
              </a:spcBef>
            </a:pPr>
            <a:r>
              <a:rPr lang="en-US" dirty="0" smtClean="0"/>
              <a:t>A file is a collection on information, usually stored on a computer’s disk.  Information can be saved to files and then later reused.</a:t>
            </a:r>
          </a:p>
          <a:p>
            <a:pPr algn="just">
              <a:spcBef>
                <a:spcPts val="0"/>
              </a:spcBef>
            </a:pPr>
            <a:r>
              <a:rPr lang="en-US" dirty="0" smtClean="0"/>
              <a:t>All files are assigned a name that is used for identification purposes by the operating system and the user.</a:t>
            </a:r>
          </a:p>
          <a:p>
            <a:pPr algn="just">
              <a:spcBef>
                <a:spcPts val="0"/>
              </a:spcBef>
            </a:pPr>
            <a:endParaRPr lang="en-US" dirty="0"/>
          </a:p>
        </p:txBody>
      </p:sp>
      <p:sp>
        <p:nvSpPr>
          <p:cNvPr id="4" name="Slide Number Placeholder 5"/>
          <p:cNvSpPr>
            <a:spLocks noGrp="1"/>
          </p:cNvSpPr>
          <p:nvPr>
            <p:ph type="sldNum" sz="quarter" idx="12"/>
          </p:nvPr>
        </p:nvSpPr>
        <p:spPr/>
        <p:txBody>
          <a:bodyPr/>
          <a:lstStyle/>
          <a:p>
            <a:fld id="{AF1052DE-075C-4A9C-88FB-87980F0499F9}" type="slidenum">
              <a:rPr lang="en-US" smtClean="0"/>
              <a:pPr/>
              <a:t>3</a:t>
            </a:fld>
            <a:endParaRPr lang="en-US"/>
          </a:p>
        </p:txBody>
      </p:sp>
      <p:graphicFrame>
        <p:nvGraphicFramePr>
          <p:cNvPr id="9218" name="Object 2"/>
          <p:cNvGraphicFramePr>
            <a:graphicFrameLocks noChangeAspect="1"/>
          </p:cNvGraphicFramePr>
          <p:nvPr/>
        </p:nvGraphicFramePr>
        <p:xfrm>
          <a:off x="2771800" y="3933056"/>
          <a:ext cx="5400600" cy="2924944"/>
        </p:xfrm>
        <a:graphic>
          <a:graphicData uri="http://schemas.openxmlformats.org/presentationml/2006/ole">
            <p:oleObj spid="_x0000_s1035" name="Document" r:id="rId3" imgW="4042098" imgH="2512105" progId="">
              <p:embed/>
            </p:oleObj>
          </a:graphicData>
        </a:graphic>
      </p:graphicFrame>
    </p:spTree>
    <p:extLst>
      <p:ext uri="{BB962C8B-B14F-4D97-AF65-F5344CB8AC3E}">
        <p14:creationId xmlns:p14="http://schemas.microsoft.com/office/powerpoint/2010/main" xmlns="" val="308419918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578B10DF-5E60-4A74-9ACF-091E01117755}" type="slidenum">
              <a:rPr lang="en-US"/>
              <a:pPr/>
              <a:t>4</a:t>
            </a:fld>
            <a:endParaRPr lang="en-US"/>
          </a:p>
        </p:txBody>
      </p:sp>
      <p:sp>
        <p:nvSpPr>
          <p:cNvPr id="8194" name="Rectangle 2"/>
          <p:cNvSpPr>
            <a:spLocks noGrp="1" noChangeArrowheads="1"/>
          </p:cNvSpPr>
          <p:nvPr>
            <p:ph type="title"/>
          </p:nvPr>
        </p:nvSpPr>
        <p:spPr/>
        <p:txBody>
          <a:bodyPr>
            <a:normAutofit/>
          </a:bodyPr>
          <a:lstStyle/>
          <a:p>
            <a:r>
              <a:rPr lang="en-US" dirty="0" smtClean="0"/>
              <a:t>Process </a:t>
            </a:r>
            <a:r>
              <a:rPr lang="en-US" dirty="0"/>
              <a:t>of Using a File</a:t>
            </a:r>
          </a:p>
        </p:txBody>
      </p:sp>
      <p:sp>
        <p:nvSpPr>
          <p:cNvPr id="8195" name="Rectangle 3"/>
          <p:cNvSpPr>
            <a:spLocks noGrp="1" noChangeArrowheads="1"/>
          </p:cNvSpPr>
          <p:nvPr>
            <p:ph type="body" idx="1"/>
          </p:nvPr>
        </p:nvSpPr>
        <p:spPr/>
        <p:txBody>
          <a:bodyPr>
            <a:normAutofit/>
          </a:bodyPr>
          <a:lstStyle/>
          <a:p>
            <a:pPr>
              <a:spcBef>
                <a:spcPts val="1800"/>
              </a:spcBef>
            </a:pPr>
            <a:r>
              <a:rPr lang="en-US" dirty="0"/>
              <a:t>Using a file in a program is a simple three-step process</a:t>
            </a:r>
          </a:p>
          <a:p>
            <a:pPr lvl="1">
              <a:spcBef>
                <a:spcPts val="1800"/>
              </a:spcBef>
            </a:pPr>
            <a:r>
              <a:rPr lang="en-US" sz="3200" dirty="0"/>
              <a:t>The file must be opened.  If the file does not yet exits, opening it means creating it.</a:t>
            </a:r>
          </a:p>
          <a:p>
            <a:pPr lvl="1">
              <a:spcBef>
                <a:spcPts val="1800"/>
              </a:spcBef>
            </a:pPr>
            <a:r>
              <a:rPr lang="en-US" sz="3200" dirty="0"/>
              <a:t>Information is then saved to the file, read from the file, or both.</a:t>
            </a:r>
          </a:p>
          <a:p>
            <a:pPr lvl="1">
              <a:spcBef>
                <a:spcPts val="1800"/>
              </a:spcBef>
            </a:pPr>
            <a:r>
              <a:rPr lang="en-US" sz="3200" dirty="0"/>
              <a:t>When the program is finished using the file, the file must be closed.</a:t>
            </a:r>
          </a:p>
        </p:txBody>
      </p:sp>
    </p:spTree>
    <p:extLst>
      <p:ext uri="{BB962C8B-B14F-4D97-AF65-F5344CB8AC3E}">
        <p14:creationId xmlns:p14="http://schemas.microsoft.com/office/powerpoint/2010/main" xmlns="" val="1197877022"/>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5" name="Picture 5" descr="G:\BMP files\1201.bmp"/>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07504" y="1196753"/>
            <a:ext cx="4392000" cy="3289371"/>
          </a:xfrm>
          <a:prstGeom prst="rect">
            <a:avLst/>
          </a:prstGeom>
          <a:noFill/>
          <a:ln>
            <a:solidFill>
              <a:schemeClr val="tx1"/>
            </a:solidFill>
          </a:ln>
        </p:spPr>
      </p:pic>
      <p:sp>
        <p:nvSpPr>
          <p:cNvPr id="4" name="Slide Number Placeholder 5"/>
          <p:cNvSpPr>
            <a:spLocks noGrp="1"/>
          </p:cNvSpPr>
          <p:nvPr>
            <p:ph type="sldNum" sz="quarter" idx="12"/>
          </p:nvPr>
        </p:nvSpPr>
        <p:spPr/>
        <p:txBody>
          <a:bodyPr/>
          <a:lstStyle/>
          <a:p>
            <a:fld id="{F5379E94-DCB9-4938-879D-EED28B067894}" type="slidenum">
              <a:rPr lang="en-US"/>
              <a:pPr/>
              <a:t>5</a:t>
            </a:fld>
            <a:endParaRPr lang="en-US"/>
          </a:p>
        </p:txBody>
      </p:sp>
      <p:sp>
        <p:nvSpPr>
          <p:cNvPr id="10242" name="Rectangle 2"/>
          <p:cNvSpPr>
            <a:spLocks noGrp="1" noChangeArrowheads="1"/>
          </p:cNvSpPr>
          <p:nvPr>
            <p:ph type="title"/>
          </p:nvPr>
        </p:nvSpPr>
        <p:spPr/>
        <p:txBody>
          <a:bodyPr/>
          <a:lstStyle/>
          <a:p>
            <a:r>
              <a:rPr lang="en-US" dirty="0" err="1" smtClean="0"/>
              <a:t>Contd</a:t>
            </a:r>
            <a:r>
              <a:rPr lang="en-US" dirty="0" smtClean="0"/>
              <a:t>…</a:t>
            </a:r>
            <a:endParaRPr lang="en-US" dirty="0"/>
          </a:p>
        </p:txBody>
      </p:sp>
      <p:pic>
        <p:nvPicPr>
          <p:cNvPr id="5" name="Picture 5" descr="G:\BMP files\1202.bmp"/>
          <p:cNvPicPr>
            <a:picLocks noChangeAspect="1" noChangeArrowheads="1"/>
          </p:cNvPicPr>
          <p:nvPr/>
        </p:nvPicPr>
        <p:blipFill>
          <a:blip r:embed="rId3" cstate="print">
            <a:clrChange>
              <a:clrFrom>
                <a:srgbClr val="FFFFFF"/>
              </a:clrFrom>
              <a:clrTo>
                <a:srgbClr val="FFFFFF">
                  <a:alpha val="0"/>
                </a:srgbClr>
              </a:clrTo>
            </a:clrChange>
          </a:blip>
          <a:srcRect/>
          <a:stretch>
            <a:fillRect/>
          </a:stretch>
        </p:blipFill>
        <p:spPr bwMode="auto">
          <a:xfrm>
            <a:off x="4572000" y="3241192"/>
            <a:ext cx="4392000" cy="3068128"/>
          </a:xfrm>
          <a:prstGeom prst="rect">
            <a:avLst/>
          </a:prstGeom>
          <a:noFill/>
          <a:ln>
            <a:solidFill>
              <a:schemeClr val="tx1"/>
            </a:solidFill>
          </a:ln>
        </p:spPr>
      </p:pic>
    </p:spTree>
    <p:extLst>
      <p:ext uri="{BB962C8B-B14F-4D97-AF65-F5344CB8AC3E}">
        <p14:creationId xmlns:p14="http://schemas.microsoft.com/office/powerpoint/2010/main" xmlns="" val="2910898807"/>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83A26729-8FC2-4AB4-96C4-BDAF15A297F2}" type="slidenum">
              <a:rPr lang="en-US"/>
              <a:pPr/>
              <a:t>6</a:t>
            </a:fld>
            <a:endParaRPr lang="en-US"/>
          </a:p>
        </p:txBody>
      </p:sp>
      <p:sp>
        <p:nvSpPr>
          <p:cNvPr id="14338" name="Rectangle 2"/>
          <p:cNvSpPr>
            <a:spLocks noGrp="1" noChangeArrowheads="1"/>
          </p:cNvSpPr>
          <p:nvPr>
            <p:ph type="title"/>
          </p:nvPr>
        </p:nvSpPr>
        <p:spPr/>
        <p:txBody>
          <a:bodyPr>
            <a:normAutofit/>
          </a:bodyPr>
          <a:lstStyle/>
          <a:p>
            <a:r>
              <a:rPr lang="en-US" dirty="0" smtClean="0"/>
              <a:t>File </a:t>
            </a:r>
            <a:r>
              <a:rPr lang="en-US" dirty="0" err="1"/>
              <a:t>Input/Output</a:t>
            </a:r>
            <a:endParaRPr lang="en-US" dirty="0"/>
          </a:p>
        </p:txBody>
      </p:sp>
      <p:sp>
        <p:nvSpPr>
          <p:cNvPr id="14339" name="Rectangle 3"/>
          <p:cNvSpPr>
            <a:spLocks noGrp="1" noChangeArrowheads="1"/>
          </p:cNvSpPr>
          <p:nvPr>
            <p:ph type="body" idx="1"/>
          </p:nvPr>
        </p:nvSpPr>
        <p:spPr/>
        <p:txBody>
          <a:bodyPr>
            <a:normAutofit/>
          </a:bodyPr>
          <a:lstStyle/>
          <a:p>
            <a:pPr>
              <a:spcBef>
                <a:spcPts val="2400"/>
              </a:spcBef>
            </a:pPr>
            <a:r>
              <a:rPr lang="en-US" dirty="0"/>
              <a:t>Before file I/O can be performed, a C++ program must be set up properly.</a:t>
            </a:r>
          </a:p>
          <a:p>
            <a:pPr>
              <a:spcBef>
                <a:spcPts val="2400"/>
              </a:spcBef>
            </a:pPr>
            <a:r>
              <a:rPr lang="en-US" dirty="0"/>
              <a:t>File access requires the inclusion of </a:t>
            </a:r>
            <a:r>
              <a:rPr lang="en-US" dirty="0" err="1" smtClean="0"/>
              <a:t>fstream.h</a:t>
            </a:r>
            <a:endParaRPr lang="en-US" dirty="0" smtClean="0"/>
          </a:p>
          <a:p>
            <a:pPr>
              <a:spcBef>
                <a:spcPts val="2400"/>
              </a:spcBef>
            </a:pPr>
            <a:r>
              <a:rPr lang="en-US" dirty="0" smtClean="0"/>
              <a:t>Before data can be written to or read from a file, the file must be opened.</a:t>
            </a:r>
          </a:p>
          <a:p>
            <a:pPr lvl="2">
              <a:spcBef>
                <a:spcPts val="2400"/>
              </a:spcBef>
              <a:buFontTx/>
              <a:buNone/>
            </a:pPr>
            <a:r>
              <a:rPr lang="en-US" sz="3200" dirty="0" err="1" smtClean="0"/>
              <a:t>ifstream</a:t>
            </a:r>
            <a:r>
              <a:rPr lang="en-US" sz="3200" dirty="0" smtClean="0"/>
              <a:t> </a:t>
            </a:r>
            <a:r>
              <a:rPr lang="en-US" sz="3200" dirty="0" err="1" smtClean="0"/>
              <a:t>inputFile</a:t>
            </a:r>
            <a:r>
              <a:rPr lang="en-US" sz="3200" dirty="0" smtClean="0"/>
              <a:t>;</a:t>
            </a:r>
          </a:p>
          <a:p>
            <a:pPr lvl="2">
              <a:spcBef>
                <a:spcPts val="2400"/>
              </a:spcBef>
              <a:buFontTx/>
              <a:buNone/>
            </a:pPr>
            <a:r>
              <a:rPr lang="en-US" sz="3200" dirty="0" err="1" smtClean="0"/>
              <a:t>inputFile.open</a:t>
            </a:r>
            <a:r>
              <a:rPr lang="en-US" sz="3200" dirty="0" smtClean="0"/>
              <a:t>(“customer.dat”);</a:t>
            </a:r>
            <a:endParaRPr lang="en-US" sz="3200" dirty="0"/>
          </a:p>
        </p:txBody>
      </p:sp>
    </p:spTree>
    <p:extLst>
      <p:ext uri="{BB962C8B-B14F-4D97-AF65-F5344CB8AC3E}">
        <p14:creationId xmlns:p14="http://schemas.microsoft.com/office/powerpoint/2010/main" xmlns="" val="211106980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E10F9470-067A-4DBC-932C-A8249E3C9F69}" type="slidenum">
              <a:rPr lang="en-US"/>
              <a:pPr/>
              <a:t>7</a:t>
            </a:fld>
            <a:endParaRPr lang="en-US" dirty="0"/>
          </a:p>
        </p:txBody>
      </p:sp>
      <p:sp>
        <p:nvSpPr>
          <p:cNvPr id="20482" name="Rectangle 2"/>
          <p:cNvSpPr>
            <a:spLocks noGrp="1" noChangeArrowheads="1"/>
          </p:cNvSpPr>
          <p:nvPr>
            <p:ph type="title"/>
          </p:nvPr>
        </p:nvSpPr>
        <p:spPr/>
        <p:txBody>
          <a:bodyPr/>
          <a:lstStyle/>
          <a:p>
            <a:r>
              <a:rPr lang="en-US" dirty="0" smtClean="0"/>
              <a:t>Example </a:t>
            </a:r>
            <a:endParaRPr lang="en-US" dirty="0"/>
          </a:p>
        </p:txBody>
      </p:sp>
      <p:sp>
        <p:nvSpPr>
          <p:cNvPr id="8" name="Rectangle 5"/>
          <p:cNvSpPr txBox="1">
            <a:spLocks noChangeArrowheads="1"/>
          </p:cNvSpPr>
          <p:nvPr/>
        </p:nvSpPr>
        <p:spPr>
          <a:xfrm>
            <a:off x="251520" y="1122833"/>
            <a:ext cx="9000000" cy="5733256"/>
          </a:xfrm>
          <a:prstGeom prst="rect">
            <a:avLst/>
          </a:prstGeom>
        </p:spPr>
        <p:txBody>
          <a:bodyPr vert="horz" lIns="91440" tIns="45720" rIns="91440" bIns="45720" rtlCol="0">
            <a:noAutofit/>
          </a:bodyPr>
          <a:lstStyle/>
          <a:p>
            <a:pPr marR="0" lvl="0" algn="l" defTabSz="914400" rtl="0" eaLnBrk="1" fontAlgn="auto" latinLnBrk="0" hangingPunct="1">
              <a:lnSpc>
                <a:spcPct val="80000"/>
              </a:lnSpc>
              <a:spcBef>
                <a:spcPts val="475"/>
              </a:spcBef>
              <a:spcAft>
                <a:spcPts val="0"/>
              </a:spcAft>
              <a:buClrTx/>
              <a:buSzTx/>
              <a:tabLst/>
              <a:defRPr/>
            </a:pPr>
            <a:r>
              <a:rPr kumimoji="0" lang="en-IN" sz="2000" b="0" i="0" u="none" strike="noStrike" kern="1200" cap="none" spc="0" normalizeH="0" baseline="0" noProof="1" smtClean="0">
                <a:ln>
                  <a:noFill/>
                </a:ln>
                <a:solidFill>
                  <a:schemeClr val="accent1"/>
                </a:solidFill>
                <a:effectLst/>
                <a:uLnTx/>
                <a:uFillTx/>
                <a:latin typeface="Prestige Elite"/>
                <a:ea typeface="+mn-ea"/>
                <a:cs typeface="+mn-cs"/>
              </a:rPr>
              <a:t>This program demonstrates the declaration of an fstream</a:t>
            </a:r>
          </a:p>
          <a:p>
            <a:pPr marR="0" lvl="0" algn="l" defTabSz="914400" rtl="0" eaLnBrk="1" fontAlgn="auto" latinLnBrk="0" hangingPunct="1">
              <a:lnSpc>
                <a:spcPct val="80000"/>
              </a:lnSpc>
              <a:spcBef>
                <a:spcPts val="475"/>
              </a:spcBef>
              <a:spcAft>
                <a:spcPts val="0"/>
              </a:spcAft>
              <a:buClrTx/>
              <a:buSzTx/>
              <a:tabLst/>
              <a:defRPr/>
            </a:pPr>
            <a:r>
              <a:rPr kumimoji="0" lang="en-IN" sz="2000" b="0" i="0" u="none" strike="noStrike" kern="1200" cap="none" spc="0" normalizeH="0" baseline="0" noProof="1" smtClean="0">
                <a:ln>
                  <a:noFill/>
                </a:ln>
                <a:solidFill>
                  <a:schemeClr val="accent1"/>
                </a:solidFill>
                <a:effectLst/>
                <a:uLnTx/>
                <a:uFillTx/>
                <a:latin typeface="Prestige Elite"/>
                <a:ea typeface="+mn-ea"/>
                <a:cs typeface="+mn-cs"/>
              </a:rPr>
              <a:t>object and the opening of a file.</a:t>
            </a:r>
          </a:p>
          <a:p>
            <a:pPr marR="0" lvl="0" algn="l" defTabSz="914400" rtl="0" eaLnBrk="1" fontAlgn="auto" latinLnBrk="0" hangingPunct="1">
              <a:lnSpc>
                <a:spcPct val="80000"/>
              </a:lnSpc>
              <a:spcBef>
                <a:spcPts val="475"/>
              </a:spcBef>
              <a:spcAft>
                <a:spcPts val="0"/>
              </a:spcAft>
              <a:buClrTx/>
              <a:buSzTx/>
              <a:tabLst/>
              <a:defRPr/>
            </a:pPr>
            <a:endParaRPr kumimoji="0" lang="en-IN" sz="2000" b="0" i="0" u="none" strike="noStrike" kern="1200" cap="none" spc="0" normalizeH="0" baseline="0" noProof="1" smtClean="0">
              <a:ln>
                <a:noFill/>
              </a:ln>
              <a:solidFill>
                <a:srgbClr val="000000"/>
              </a:solidFill>
              <a:effectLst/>
              <a:uLnTx/>
              <a:uFillTx/>
              <a:latin typeface="Prestige Elite"/>
              <a:ea typeface="+mn-ea"/>
              <a:cs typeface="+mn-cs"/>
            </a:endParaRP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#include &lt;iostream&gt; </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#include &lt;fstream&gt;</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using namespace std;</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int main()</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fstream dataFile; // Declare file stream object</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char fileName[81];</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cout &lt;&lt; "Enter the name of a file you wish to open\n";</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cout &lt;&lt; "or create: ";</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cin.getline(fileName, 81);</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dataFile.open(fileName, ios::out);</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cout &lt;&lt; "The file " &lt;&lt; fileName &lt;&lt; " was opened.\n";</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  return 0;</a:t>
            </a:r>
          </a:p>
          <a:p>
            <a:pPr marL="457200" marR="0" lvl="0" indent="-457200" algn="l" defTabSz="914400" rtl="0" eaLnBrk="1" fontAlgn="auto" latinLnBrk="0" hangingPunct="1">
              <a:lnSpc>
                <a:spcPct val="80000"/>
              </a:lnSpc>
              <a:spcBef>
                <a:spcPts val="475"/>
              </a:spcBef>
              <a:spcAft>
                <a:spcPts val="0"/>
              </a:spcAft>
              <a:buClrTx/>
              <a:buSzTx/>
              <a:buFont typeface="+mj-lt"/>
              <a:buAutoNum type="arabicPeriod"/>
              <a:tabLst/>
              <a:defRPr/>
            </a:pPr>
            <a:r>
              <a:rPr kumimoji="0" lang="en-IN" sz="1700" b="0" i="0" u="none" strike="noStrike" kern="1200" cap="none" spc="0" normalizeH="0" baseline="0" noProof="1" smtClean="0">
                <a:ln>
                  <a:noFill/>
                </a:ln>
                <a:solidFill>
                  <a:srgbClr val="000000"/>
                </a:solidFill>
                <a:effectLst/>
                <a:uLnTx/>
                <a:uFillTx/>
                <a:latin typeface="Prestige Elite"/>
                <a:ea typeface="+mn-ea"/>
                <a:cs typeface="+mn-cs"/>
              </a:rPr>
              <a:t>}</a:t>
            </a:r>
          </a:p>
        </p:txBody>
      </p:sp>
      <p:sp>
        <p:nvSpPr>
          <p:cNvPr id="7" name="Rectangle 3"/>
          <p:cNvSpPr txBox="1">
            <a:spLocks noChangeArrowheads="1"/>
          </p:cNvSpPr>
          <p:nvPr/>
        </p:nvSpPr>
        <p:spPr>
          <a:xfrm>
            <a:off x="3635896" y="5373216"/>
            <a:ext cx="5256000" cy="1224136"/>
          </a:xfrm>
          <a:prstGeom prst="rect">
            <a:avLst/>
          </a:prstGeom>
          <a:solidFill>
            <a:schemeClr val="tx1">
              <a:lumMod val="75000"/>
              <a:lumOff val="25000"/>
            </a:schemeClr>
          </a:solidFill>
          <a:ln>
            <a:solidFill>
              <a:schemeClr val="tx1"/>
            </a:solidFill>
          </a:ln>
        </p:spPr>
        <p:txBody>
          <a:bodyPr vert="horz" lIns="91440" tIns="45720" rIns="91440" bIns="45720" rtlCol="0">
            <a:normAutofit fontScale="85000" lnSpcReduction="20000"/>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US" sz="2200" b="0" i="0" u="none" strike="noStrike" kern="1200" cap="none" spc="0" normalizeH="0" baseline="0" noProof="1" smtClean="0">
                <a:ln>
                  <a:noFill/>
                </a:ln>
                <a:solidFill>
                  <a:schemeClr val="bg1"/>
                </a:solidFill>
                <a:effectLst/>
                <a:uLnTx/>
                <a:uFillTx/>
                <a:latin typeface="Prestige Elite"/>
                <a:ea typeface="+mn-ea"/>
                <a:cs typeface="+mn-cs"/>
              </a:rPr>
              <a:t>Output:</a:t>
            </a:r>
          </a:p>
          <a:p>
            <a:pPr marL="342900" marR="0" lvl="0" indent="-342900" algn="l" defTabSz="914400" rtl="0" eaLnBrk="1" fontAlgn="auto" latinLnBrk="0" hangingPunct="1">
              <a:lnSpc>
                <a:spcPct val="80000"/>
              </a:lnSpc>
              <a:spcBef>
                <a:spcPct val="20000"/>
              </a:spcBef>
              <a:spcAft>
                <a:spcPts val="0"/>
              </a:spcAft>
              <a:buClrTx/>
              <a:buSzTx/>
              <a:buFontTx/>
              <a:buNone/>
              <a:tabLst/>
              <a:defRPr/>
            </a:pPr>
            <a:endParaRPr kumimoji="0" lang="en-IN" sz="2200" b="0" i="0" u="none" strike="noStrike" kern="1200" cap="none" spc="0" normalizeH="0" baseline="0" noProof="1" smtClean="0">
              <a:ln>
                <a:noFill/>
              </a:ln>
              <a:solidFill>
                <a:schemeClr val="bg1"/>
              </a:solidFill>
              <a:effectLst/>
              <a:uLnTx/>
              <a:uFillTx/>
              <a:latin typeface="Prestige Elite"/>
              <a:ea typeface="+mn-ea"/>
              <a:cs typeface="+mn-cs"/>
            </a:endParaRP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Enter the name of a file you wish to open</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or create: </a:t>
            </a:r>
            <a:r>
              <a:rPr kumimoji="0" lang="en-IN" sz="2200" b="1" i="0" u="none" strike="noStrike" kern="1200" cap="none" spc="0" normalizeH="0" baseline="0" noProof="1" smtClean="0">
                <a:ln>
                  <a:noFill/>
                </a:ln>
                <a:solidFill>
                  <a:schemeClr val="bg1"/>
                </a:solidFill>
                <a:effectLst/>
                <a:uLnTx/>
                <a:uFillTx/>
                <a:latin typeface="Officina Sans" charset="-128"/>
                <a:ea typeface="Officina Sans" charset="-128"/>
                <a:cs typeface="+mn-cs"/>
              </a:rPr>
              <a:t>mystuff.dat </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The file mystuff.dat was opened.	</a:t>
            </a:r>
          </a:p>
          <a:p>
            <a:pPr marL="342900" marR="0" lvl="0" indent="-342900" algn="l" defTabSz="914400" rtl="0" eaLnBrk="1" fontAlgn="auto" latinLnBrk="0" hangingPunct="1">
              <a:lnSpc>
                <a:spcPct val="100000"/>
              </a:lnSpc>
              <a:spcBef>
                <a:spcPct val="20000"/>
              </a:spcBef>
              <a:spcAft>
                <a:spcPts val="0"/>
              </a:spcAft>
              <a:buClrTx/>
              <a:buSzTx/>
              <a:buFontTx/>
              <a:buNone/>
              <a:tabLst/>
              <a:defRPr/>
            </a:pPr>
            <a:endParaRPr kumimoji="0" lang="en-US" sz="2200" b="0" i="0" u="none" strike="noStrike" kern="1200" cap="none" spc="0" normalizeH="0" baseline="0" noProof="0" dirty="0">
              <a:ln>
                <a:noFill/>
              </a:ln>
              <a:solidFill>
                <a:schemeClr val="bg1"/>
              </a:solidFill>
              <a:effectLst/>
              <a:uLnTx/>
              <a:uFillTx/>
              <a:latin typeface="+mn-lt"/>
              <a:ea typeface="+mn-ea"/>
              <a:cs typeface="+mn-cs"/>
            </a:endParaRPr>
          </a:p>
        </p:txBody>
      </p:sp>
    </p:spTree>
    <p:extLst>
      <p:ext uri="{BB962C8B-B14F-4D97-AF65-F5344CB8AC3E}">
        <p14:creationId xmlns:p14="http://schemas.microsoft.com/office/powerpoint/2010/main" xmlns="" val="278503047"/>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lstStyle/>
          <a:p>
            <a:r>
              <a:rPr lang="en-US" dirty="0" smtClean="0"/>
              <a:t>Opening a File at Declaration</a:t>
            </a:r>
            <a:endParaRPr lang="en-US" dirty="0"/>
          </a:p>
        </p:txBody>
      </p:sp>
      <p:sp>
        <p:nvSpPr>
          <p:cNvPr id="26627" name="Rectangle 3"/>
          <p:cNvSpPr>
            <a:spLocks noGrp="1" noChangeArrowheads="1"/>
          </p:cNvSpPr>
          <p:nvPr>
            <p:ph type="body" idx="1"/>
          </p:nvPr>
        </p:nvSpPr>
        <p:spPr/>
        <p:txBody>
          <a:bodyPr/>
          <a:lstStyle/>
          <a:p>
            <a:pPr marL="0" indent="0">
              <a:buNone/>
            </a:pPr>
            <a:r>
              <a:rPr lang="en-US" dirty="0" smtClean="0"/>
              <a:t>     </a:t>
            </a:r>
            <a:r>
              <a:rPr lang="en-US" dirty="0" err="1" smtClean="0"/>
              <a:t>fstream</a:t>
            </a:r>
            <a:r>
              <a:rPr lang="en-US" dirty="0" smtClean="0"/>
              <a:t> </a:t>
            </a:r>
            <a:r>
              <a:rPr lang="en-US" dirty="0" err="1" smtClean="0"/>
              <a:t>dataFile</a:t>
            </a:r>
            <a:r>
              <a:rPr lang="en-US" dirty="0" smtClean="0"/>
              <a:t>(“names.dat”, </a:t>
            </a:r>
            <a:r>
              <a:rPr lang="en-US" dirty="0" err="1" smtClean="0"/>
              <a:t>ios</a:t>
            </a:r>
            <a:r>
              <a:rPr lang="en-US" dirty="0" smtClean="0"/>
              <a:t>::in | </a:t>
            </a:r>
            <a:r>
              <a:rPr lang="en-US" dirty="0" err="1" smtClean="0"/>
              <a:t>ios</a:t>
            </a:r>
            <a:r>
              <a:rPr lang="en-US" dirty="0" smtClean="0"/>
              <a:t>::out);</a:t>
            </a:r>
            <a:endParaRPr lang="en-US" dirty="0"/>
          </a:p>
        </p:txBody>
      </p:sp>
      <p:sp>
        <p:nvSpPr>
          <p:cNvPr id="4" name="Slide Number Placeholder 5"/>
          <p:cNvSpPr>
            <a:spLocks noGrp="1"/>
          </p:cNvSpPr>
          <p:nvPr>
            <p:ph type="sldNum" sz="quarter" idx="12"/>
          </p:nvPr>
        </p:nvSpPr>
        <p:spPr/>
        <p:txBody>
          <a:bodyPr/>
          <a:lstStyle/>
          <a:p>
            <a:fld id="{40C2769F-9A55-49DC-A77F-BEFA901DF65D}" type="slidenum">
              <a:rPr lang="en-US" smtClean="0"/>
              <a:pPr/>
              <a:t>8</a:t>
            </a:fld>
            <a:endParaRPr lang="en-US"/>
          </a:p>
        </p:txBody>
      </p:sp>
      <p:sp>
        <p:nvSpPr>
          <p:cNvPr id="8" name="Rectangle 3"/>
          <p:cNvSpPr txBox="1">
            <a:spLocks noChangeArrowheads="1"/>
          </p:cNvSpPr>
          <p:nvPr/>
        </p:nvSpPr>
        <p:spPr>
          <a:xfrm>
            <a:off x="774000" y="2060848"/>
            <a:ext cx="7596000" cy="4032448"/>
          </a:xfrm>
          <a:prstGeom prst="rect">
            <a:avLst/>
          </a:prstGeom>
        </p:spPr>
        <p:txBody>
          <a:bodyPr vert="horz" lIns="91440" tIns="45720" rIns="91440" bIns="45720" rtlCol="0">
            <a:noAutofit/>
          </a:bodyPr>
          <a:lstStyle/>
          <a:p>
            <a:pPr lvl="0">
              <a:lnSpc>
                <a:spcPct val="80000"/>
              </a:lnSpc>
              <a:spcBef>
                <a:spcPts val="475"/>
              </a:spcBef>
            </a:pPr>
            <a:r>
              <a:rPr lang="en-IN" sz="2200" noProof="1" smtClean="0">
                <a:solidFill>
                  <a:schemeClr val="accent1"/>
                </a:solidFill>
                <a:latin typeface="Prestige Elite"/>
              </a:rPr>
              <a:t>This program demonstrates the opening of a file at the</a:t>
            </a:r>
          </a:p>
          <a:p>
            <a:pPr lvl="0">
              <a:lnSpc>
                <a:spcPct val="80000"/>
              </a:lnSpc>
              <a:spcBef>
                <a:spcPts val="475"/>
              </a:spcBef>
            </a:pPr>
            <a:r>
              <a:rPr lang="en-IN" sz="2200" noProof="1" smtClean="0">
                <a:solidFill>
                  <a:schemeClr val="accent1"/>
                </a:solidFill>
                <a:latin typeface="Prestige Elite"/>
              </a:rPr>
              <a:t>time the file stream object is declared.</a:t>
            </a:r>
          </a:p>
          <a:p>
            <a:pPr lvl="0">
              <a:lnSpc>
                <a:spcPct val="80000"/>
              </a:lnSpc>
              <a:spcBef>
                <a:spcPts val="475"/>
              </a:spcBef>
            </a:pPr>
            <a:endParaRPr lang="en-IN" sz="2200" noProof="1" smtClean="0">
              <a:solidFill>
                <a:srgbClr val="000000"/>
              </a:solidFill>
              <a:latin typeface="Prestige Elite"/>
            </a:endParaRPr>
          </a:p>
          <a:p>
            <a:pPr marL="457200" lvl="0" indent="-457200">
              <a:lnSpc>
                <a:spcPct val="80000"/>
              </a:lnSpc>
              <a:spcBef>
                <a:spcPts val="475"/>
              </a:spcBef>
              <a:buFont typeface="+mj-lt"/>
              <a:buAutoNum type="arabicPeriod"/>
            </a:pPr>
            <a:r>
              <a:rPr lang="en-IN" sz="2200" noProof="1" smtClean="0">
                <a:solidFill>
                  <a:srgbClr val="000000"/>
                </a:solidFill>
                <a:latin typeface="Prestige Elite"/>
              </a:rPr>
              <a:t>#include &lt;iostream&gt;</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#include &lt;fstream&gt; </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using namespace std;</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int main()</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fstream dataFile("names.dat", ios::in | ios::out);</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cout &lt;&lt; "The file names.dat was opened.\n";</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return 0;</a:t>
            </a:r>
          </a:p>
          <a:p>
            <a:pPr marL="457200" lvl="0" indent="-457200">
              <a:lnSpc>
                <a:spcPct val="80000"/>
              </a:lnSpc>
              <a:spcBef>
                <a:spcPts val="475"/>
              </a:spcBef>
              <a:buFont typeface="+mj-lt"/>
              <a:buAutoNum type="arabicPeriod"/>
            </a:pPr>
            <a:r>
              <a:rPr lang="en-US" sz="2200" noProof="1" smtClean="0">
                <a:solidFill>
                  <a:srgbClr val="000000"/>
                </a:solidFill>
                <a:latin typeface="Prestige Elite"/>
              </a:rPr>
              <a:t>}</a:t>
            </a:r>
            <a:endParaRPr lang="en-IN" sz="2200" noProof="1" smtClean="0">
              <a:solidFill>
                <a:srgbClr val="000000"/>
              </a:solidFill>
              <a:latin typeface="Prestige Elite"/>
            </a:endParaRPr>
          </a:p>
        </p:txBody>
      </p:sp>
      <p:sp>
        <p:nvSpPr>
          <p:cNvPr id="9" name="Rectangle 3"/>
          <p:cNvSpPr txBox="1">
            <a:spLocks noChangeArrowheads="1"/>
          </p:cNvSpPr>
          <p:nvPr/>
        </p:nvSpPr>
        <p:spPr>
          <a:xfrm>
            <a:off x="3635896" y="5733256"/>
            <a:ext cx="5148000" cy="864096"/>
          </a:xfrm>
          <a:prstGeom prst="rect">
            <a:avLst/>
          </a:prstGeom>
          <a:solidFill>
            <a:schemeClr val="tx1">
              <a:lumMod val="75000"/>
              <a:lumOff val="25000"/>
            </a:schemeClr>
          </a:solidFill>
          <a:ln>
            <a:solidFill>
              <a:schemeClr val="tx1"/>
            </a:solidFill>
          </a:ln>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Output: </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The file names.dat was opened.</a:t>
            </a:r>
            <a:endParaRPr kumimoji="0" lang="en-US" sz="2200" b="0" i="0" u="none" strike="noStrike" kern="1200" cap="none" spc="0" normalizeH="0" baseline="0" noProof="0" dirty="0">
              <a:ln>
                <a:noFill/>
              </a:ln>
              <a:solidFill>
                <a:schemeClr val="bg1"/>
              </a:solidFill>
              <a:effectLst/>
              <a:uLnTx/>
              <a:uFillTx/>
              <a:ea typeface="+mn-ea"/>
              <a:cs typeface="+mn-cs"/>
            </a:endParaRPr>
          </a:p>
        </p:txBody>
      </p:sp>
    </p:spTree>
    <p:extLst>
      <p:ext uri="{BB962C8B-B14F-4D97-AF65-F5344CB8AC3E}">
        <p14:creationId xmlns:p14="http://schemas.microsoft.com/office/powerpoint/2010/main" xmlns="" val="1529609822"/>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196ABFB-2BAD-4CC9-BDCE-9C8C83E9E09C}" type="slidenum">
              <a:rPr lang="en-US"/>
              <a:pPr/>
              <a:t>9</a:t>
            </a:fld>
            <a:endParaRPr lang="en-US"/>
          </a:p>
        </p:txBody>
      </p:sp>
      <p:sp>
        <p:nvSpPr>
          <p:cNvPr id="30722" name="Rectangle 2"/>
          <p:cNvSpPr>
            <a:spLocks noGrp="1" noChangeArrowheads="1"/>
          </p:cNvSpPr>
          <p:nvPr>
            <p:ph type="title"/>
          </p:nvPr>
        </p:nvSpPr>
        <p:spPr/>
        <p:txBody>
          <a:bodyPr/>
          <a:lstStyle/>
          <a:p>
            <a:r>
              <a:rPr lang="en-US"/>
              <a:t>Testing for Open Errors</a:t>
            </a:r>
          </a:p>
        </p:txBody>
      </p:sp>
      <p:grpSp>
        <p:nvGrpSpPr>
          <p:cNvPr id="8" name="Group 7"/>
          <p:cNvGrpSpPr/>
          <p:nvPr/>
        </p:nvGrpSpPr>
        <p:grpSpPr>
          <a:xfrm>
            <a:off x="1206000" y="1734371"/>
            <a:ext cx="6732000" cy="4142901"/>
            <a:chOff x="485796" y="1340768"/>
            <a:chExt cx="6732000" cy="4142901"/>
          </a:xfrm>
        </p:grpSpPr>
        <p:sp>
          <p:nvSpPr>
            <p:cNvPr id="5" name="Rectangle 4"/>
            <p:cNvSpPr/>
            <p:nvPr/>
          </p:nvSpPr>
          <p:spPr>
            <a:xfrm>
              <a:off x="485796" y="3717032"/>
              <a:ext cx="6732000" cy="1766637"/>
            </a:xfrm>
            <a:prstGeom prst="rect">
              <a:avLst/>
            </a:prstGeom>
            <a:ln>
              <a:solidFill>
                <a:schemeClr val="tx1"/>
              </a:solidFill>
            </a:ln>
          </p:spPr>
          <p:txBody>
            <a:bodyPr wrap="square">
              <a:spAutoFit/>
            </a:bodyPr>
            <a:lstStyle/>
            <a:p>
              <a:pPr marL="342900" lvl="0" indent="-342900">
                <a:spcBef>
                  <a:spcPct val="20000"/>
                </a:spcBef>
              </a:pPr>
              <a:r>
                <a:rPr lang="en-US" sz="3200" dirty="0" err="1" smtClean="0">
                  <a:solidFill>
                    <a:prstClr val="black"/>
                  </a:solidFill>
                </a:rPr>
                <a:t>dataFile.open</a:t>
              </a:r>
              <a:r>
                <a:rPr lang="en-US" sz="3200" dirty="0" smtClean="0">
                  <a:solidFill>
                    <a:prstClr val="black"/>
                  </a:solidFill>
                </a:rPr>
                <a:t>(“cust.dat”, </a:t>
              </a:r>
              <a:r>
                <a:rPr lang="en-US" sz="3200" dirty="0" err="1" smtClean="0">
                  <a:solidFill>
                    <a:prstClr val="black"/>
                  </a:solidFill>
                </a:rPr>
                <a:t>ios</a:t>
              </a:r>
              <a:r>
                <a:rPr lang="en-US" sz="3200" dirty="0" smtClean="0">
                  <a:solidFill>
                    <a:prstClr val="black"/>
                  </a:solidFill>
                </a:rPr>
                <a:t>::in); </a:t>
              </a:r>
            </a:p>
            <a:p>
              <a:pPr marL="342900" lvl="0" indent="-342900">
                <a:spcBef>
                  <a:spcPct val="20000"/>
                </a:spcBef>
              </a:pPr>
              <a:r>
                <a:rPr lang="en-US" sz="3200" dirty="0" smtClean="0">
                  <a:solidFill>
                    <a:prstClr val="black"/>
                  </a:solidFill>
                </a:rPr>
                <a:t>if (</a:t>
              </a:r>
              <a:r>
                <a:rPr lang="en-US" sz="3200" dirty="0" err="1" smtClean="0">
                  <a:solidFill>
                    <a:prstClr val="black"/>
                  </a:solidFill>
                </a:rPr>
                <a:t>dataFile.fail</a:t>
              </a:r>
              <a:r>
                <a:rPr lang="en-US" sz="3200" dirty="0" smtClean="0">
                  <a:solidFill>
                    <a:prstClr val="black"/>
                  </a:solidFill>
                </a:rPr>
                <a:t>())</a:t>
              </a:r>
            </a:p>
            <a:p>
              <a:pPr marL="342900" lvl="0" indent="-342900">
                <a:spcBef>
                  <a:spcPct val="20000"/>
                </a:spcBef>
              </a:pPr>
              <a:r>
                <a:rPr lang="en-US" sz="3200" dirty="0" smtClean="0">
                  <a:solidFill>
                    <a:prstClr val="black"/>
                  </a:solidFill>
                </a:rPr>
                <a:t>{   </a:t>
              </a:r>
              <a:r>
                <a:rPr lang="en-US" sz="3200" dirty="0" err="1" smtClean="0">
                  <a:solidFill>
                    <a:prstClr val="black"/>
                  </a:solidFill>
                </a:rPr>
                <a:t>cout</a:t>
              </a:r>
              <a:r>
                <a:rPr lang="en-US" sz="3200" dirty="0" smtClean="0">
                  <a:solidFill>
                    <a:prstClr val="black"/>
                  </a:solidFill>
                </a:rPr>
                <a:t> &lt;&lt; “Error opening file.\n”;	}</a:t>
              </a:r>
            </a:p>
          </p:txBody>
        </p:sp>
        <p:sp>
          <p:nvSpPr>
            <p:cNvPr id="6" name="Rectangle 5"/>
            <p:cNvSpPr/>
            <p:nvPr/>
          </p:nvSpPr>
          <p:spPr>
            <a:xfrm>
              <a:off x="485796" y="1340768"/>
              <a:ext cx="6732000" cy="1766637"/>
            </a:xfrm>
            <a:prstGeom prst="rect">
              <a:avLst/>
            </a:prstGeom>
            <a:ln>
              <a:solidFill>
                <a:schemeClr val="tx1"/>
              </a:solidFill>
            </a:ln>
          </p:spPr>
          <p:txBody>
            <a:bodyPr wrap="square">
              <a:spAutoFit/>
            </a:bodyPr>
            <a:lstStyle/>
            <a:p>
              <a:pPr marL="342900" lvl="0" indent="-342900">
                <a:spcBef>
                  <a:spcPct val="20000"/>
                </a:spcBef>
              </a:pPr>
              <a:r>
                <a:rPr lang="en-US" sz="3200" dirty="0" err="1" smtClean="0">
                  <a:solidFill>
                    <a:prstClr val="black"/>
                  </a:solidFill>
                </a:rPr>
                <a:t>dataFile.open</a:t>
              </a:r>
              <a:r>
                <a:rPr lang="en-US" sz="3200" dirty="0" smtClean="0">
                  <a:solidFill>
                    <a:prstClr val="black"/>
                  </a:solidFill>
                </a:rPr>
                <a:t>(“cust.dat”, </a:t>
              </a:r>
              <a:r>
                <a:rPr lang="en-US" sz="3200" dirty="0" err="1" smtClean="0">
                  <a:solidFill>
                    <a:prstClr val="black"/>
                  </a:solidFill>
                </a:rPr>
                <a:t>ios</a:t>
              </a:r>
              <a:r>
                <a:rPr lang="en-US" sz="3200" dirty="0" smtClean="0">
                  <a:solidFill>
                    <a:prstClr val="black"/>
                  </a:solidFill>
                </a:rPr>
                <a:t>::in); </a:t>
              </a:r>
            </a:p>
            <a:p>
              <a:pPr marL="342900" lvl="0" indent="-342900">
                <a:spcBef>
                  <a:spcPct val="20000"/>
                </a:spcBef>
              </a:pPr>
              <a:r>
                <a:rPr lang="en-US" sz="3200" dirty="0" smtClean="0">
                  <a:solidFill>
                    <a:prstClr val="black"/>
                  </a:solidFill>
                </a:rPr>
                <a:t>if (!</a:t>
              </a:r>
              <a:r>
                <a:rPr lang="en-US" sz="3200" dirty="0" err="1" smtClean="0">
                  <a:solidFill>
                    <a:prstClr val="black"/>
                  </a:solidFill>
                </a:rPr>
                <a:t>dataFile</a:t>
              </a:r>
              <a:r>
                <a:rPr lang="en-US" sz="3200" dirty="0" smtClean="0">
                  <a:solidFill>
                    <a:prstClr val="black"/>
                  </a:solidFill>
                </a:rPr>
                <a:t>)</a:t>
              </a:r>
            </a:p>
            <a:p>
              <a:pPr marL="342900" lvl="0" indent="-342900">
                <a:spcBef>
                  <a:spcPct val="20000"/>
                </a:spcBef>
              </a:pPr>
              <a:r>
                <a:rPr lang="en-US" sz="3200" dirty="0" smtClean="0">
                  <a:solidFill>
                    <a:prstClr val="black"/>
                  </a:solidFill>
                </a:rPr>
                <a:t>{   </a:t>
              </a:r>
              <a:r>
                <a:rPr lang="en-US" sz="3200" dirty="0" err="1" smtClean="0">
                  <a:solidFill>
                    <a:prstClr val="black"/>
                  </a:solidFill>
                </a:rPr>
                <a:t>cout</a:t>
              </a:r>
              <a:r>
                <a:rPr lang="en-US" sz="3200" dirty="0" smtClean="0">
                  <a:solidFill>
                    <a:prstClr val="black"/>
                  </a:solidFill>
                </a:rPr>
                <a:t> &lt;&lt; “Error opening file.\n”;	}</a:t>
              </a:r>
            </a:p>
          </p:txBody>
        </p:sp>
      </p:grpSp>
    </p:spTree>
    <p:extLst>
      <p:ext uri="{BB962C8B-B14F-4D97-AF65-F5344CB8AC3E}">
        <p14:creationId xmlns:p14="http://schemas.microsoft.com/office/powerpoint/2010/main" xmlns="" val="403672360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83B295B-464A-4793-9FB1-92CBBFA59EFC}" type="slidenum">
              <a:rPr lang="en-US"/>
              <a:pPr/>
              <a:t>10</a:t>
            </a:fld>
            <a:endParaRPr lang="en-US"/>
          </a:p>
        </p:txBody>
      </p:sp>
      <p:sp>
        <p:nvSpPr>
          <p:cNvPr id="34818" name="Rectangle 2"/>
          <p:cNvSpPr>
            <a:spLocks noGrp="1" noChangeArrowheads="1"/>
          </p:cNvSpPr>
          <p:nvPr>
            <p:ph type="title"/>
          </p:nvPr>
        </p:nvSpPr>
        <p:spPr/>
        <p:txBody>
          <a:bodyPr/>
          <a:lstStyle/>
          <a:p>
            <a:r>
              <a:rPr lang="en-US" dirty="0" smtClean="0"/>
              <a:t>Closing </a:t>
            </a:r>
            <a:r>
              <a:rPr lang="en-US" dirty="0"/>
              <a:t>a File</a:t>
            </a:r>
          </a:p>
        </p:txBody>
      </p:sp>
      <p:sp>
        <p:nvSpPr>
          <p:cNvPr id="34819" name="Rectangle 3"/>
          <p:cNvSpPr>
            <a:spLocks noGrp="1" noChangeArrowheads="1"/>
          </p:cNvSpPr>
          <p:nvPr>
            <p:ph type="body" idx="1"/>
          </p:nvPr>
        </p:nvSpPr>
        <p:spPr>
          <a:xfrm>
            <a:off x="72000" y="1124744"/>
            <a:ext cx="9000000" cy="4968552"/>
          </a:xfrm>
        </p:spPr>
        <p:txBody>
          <a:bodyPr>
            <a:normAutofit/>
          </a:bodyPr>
          <a:lstStyle/>
          <a:p>
            <a:pPr marL="0" indent="0">
              <a:buNone/>
            </a:pPr>
            <a:r>
              <a:rPr lang="en-US" sz="2800" dirty="0"/>
              <a:t>A file should be closed when a program is finished using it.</a:t>
            </a:r>
          </a:p>
        </p:txBody>
      </p:sp>
      <p:sp>
        <p:nvSpPr>
          <p:cNvPr id="5" name="Rectangle 3"/>
          <p:cNvSpPr txBox="1">
            <a:spLocks noChangeArrowheads="1"/>
          </p:cNvSpPr>
          <p:nvPr/>
        </p:nvSpPr>
        <p:spPr>
          <a:xfrm>
            <a:off x="505848" y="1916832"/>
            <a:ext cx="7772400" cy="4941168"/>
          </a:xfrm>
          <a:prstGeom prst="rect">
            <a:avLst/>
          </a:prstGeom>
        </p:spPr>
        <p:txBody>
          <a:bodyPr vert="horz" lIns="91440" tIns="45720" rIns="91440" bIns="45720" rtlCol="0">
            <a:noAutofit/>
          </a:bodyPr>
          <a:lstStyle/>
          <a:p>
            <a:pPr lvl="0">
              <a:lnSpc>
                <a:spcPct val="80000"/>
              </a:lnSpc>
              <a:spcBef>
                <a:spcPts val="475"/>
              </a:spcBef>
            </a:pPr>
            <a:r>
              <a:rPr lang="en-IN" sz="2200" noProof="1" smtClean="0">
                <a:solidFill>
                  <a:schemeClr val="accent1"/>
                </a:solidFill>
                <a:latin typeface="Prestige Elite"/>
              </a:rPr>
              <a:t>This program demonstrates the close function.</a:t>
            </a:r>
          </a:p>
          <a:p>
            <a:pPr lvl="0">
              <a:lnSpc>
                <a:spcPct val="80000"/>
              </a:lnSpc>
              <a:spcBef>
                <a:spcPts val="475"/>
              </a:spcBef>
            </a:pPr>
            <a:endParaRPr lang="en-IN" sz="2200" noProof="1" smtClean="0">
              <a:solidFill>
                <a:schemeClr val="accent1"/>
              </a:solidFill>
              <a:latin typeface="Prestige Elite"/>
            </a:endParaRPr>
          </a:p>
          <a:p>
            <a:pPr marL="457200" lvl="0" indent="-457200">
              <a:lnSpc>
                <a:spcPct val="80000"/>
              </a:lnSpc>
              <a:spcBef>
                <a:spcPts val="475"/>
              </a:spcBef>
              <a:buFont typeface="+mj-lt"/>
              <a:buAutoNum type="arabicPeriod"/>
            </a:pPr>
            <a:r>
              <a:rPr lang="en-IN" sz="2200" noProof="1" smtClean="0">
                <a:solidFill>
                  <a:srgbClr val="000000"/>
                </a:solidFill>
                <a:latin typeface="Prestige Elite"/>
              </a:rPr>
              <a:t>#include &lt;iostream&gt;</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#include &lt;fstream&gt;</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using namespace std;</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int main()</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fstream dataFile;</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dataFile.open("testfile.txt", ios::out);</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if (!dataFile)</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      cout &lt;&lt; "File open error!" &lt;&lt; endl;	return 0; 	}</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cout &lt;&lt; "File was created successfully.\n";</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cout &lt;&lt; "Now closing the file.\n";</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dataFile.close();	</a:t>
            </a:r>
          </a:p>
          <a:p>
            <a:pPr marL="457200" lvl="0" indent="-457200">
              <a:lnSpc>
                <a:spcPct val="80000"/>
              </a:lnSpc>
              <a:spcBef>
                <a:spcPts val="475"/>
              </a:spcBef>
              <a:buFont typeface="+mj-lt"/>
              <a:buAutoNum type="arabicPeriod"/>
            </a:pPr>
            <a:r>
              <a:rPr lang="en-IN" sz="2200" noProof="1" smtClean="0">
                <a:solidFill>
                  <a:srgbClr val="000000"/>
                </a:solidFill>
                <a:latin typeface="Prestige Elite"/>
              </a:rPr>
              <a:t>   return 0;	}</a:t>
            </a:r>
            <a:r>
              <a:rPr kumimoji="0" lang="en-US" sz="2200" b="0" i="0" u="none" strike="noStrike" kern="1200" cap="none" spc="0" normalizeH="0" baseline="0" noProof="1" smtClean="0">
                <a:ln>
                  <a:noFill/>
                </a:ln>
                <a:solidFill>
                  <a:srgbClr val="000000"/>
                </a:solidFill>
                <a:effectLst/>
                <a:uLnTx/>
                <a:uFillTx/>
                <a:latin typeface="Prestige Elite"/>
                <a:ea typeface="+mn-ea"/>
                <a:cs typeface="+mn-cs"/>
              </a:rPr>
              <a:t>	</a:t>
            </a:r>
            <a:endParaRPr kumimoji="0" lang="en-US" sz="2200" b="0" i="0" u="none" strike="noStrike" kern="1200" cap="none" spc="0" normalizeH="0" baseline="0" noProof="1">
              <a:ln>
                <a:noFill/>
              </a:ln>
              <a:solidFill>
                <a:srgbClr val="000000"/>
              </a:solidFill>
              <a:effectLst/>
              <a:uLnTx/>
              <a:uFillTx/>
              <a:latin typeface="Prestige Elite"/>
              <a:ea typeface="+mn-ea"/>
              <a:cs typeface="+mn-cs"/>
            </a:endParaRPr>
          </a:p>
        </p:txBody>
      </p:sp>
      <p:sp>
        <p:nvSpPr>
          <p:cNvPr id="6" name="Rectangle 3"/>
          <p:cNvSpPr txBox="1">
            <a:spLocks noChangeArrowheads="1"/>
          </p:cNvSpPr>
          <p:nvPr/>
        </p:nvSpPr>
        <p:spPr>
          <a:xfrm>
            <a:off x="4774880" y="2596344"/>
            <a:ext cx="3888000" cy="1080120"/>
          </a:xfrm>
          <a:prstGeom prst="rect">
            <a:avLst/>
          </a:prstGeom>
          <a:solidFill>
            <a:schemeClr val="tx1">
              <a:lumMod val="75000"/>
              <a:lumOff val="25000"/>
            </a:schemeClr>
          </a:solidFill>
          <a:ln>
            <a:solidFill>
              <a:schemeClr val="tx1"/>
            </a:solidFill>
          </a:ln>
        </p:spPr>
        <p:txBody>
          <a:bodyPr vert="horz" lIns="91440" tIns="45720" rIns="91440" bIns="45720" rtlCol="0">
            <a:noAutofit/>
          </a:bodyPr>
          <a:lstStyle/>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Output:</a:t>
            </a:r>
          </a:p>
          <a:p>
            <a:pPr marL="342900" marR="0" lvl="0" indent="-342900" algn="l" defTabSz="914400" rtl="0" eaLnBrk="1" fontAlgn="auto" latinLnBrk="0" hangingPunct="1">
              <a:lnSpc>
                <a:spcPct val="8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File was created successfully.</a:t>
            </a:r>
          </a:p>
          <a:p>
            <a:pPr marL="342900" marR="0" lvl="0" indent="-342900" algn="l" defTabSz="914400" rtl="0" eaLnBrk="1" fontAlgn="auto" latinLnBrk="0" hangingPunct="1">
              <a:lnSpc>
                <a:spcPct val="100000"/>
              </a:lnSpc>
              <a:spcBef>
                <a:spcPct val="20000"/>
              </a:spcBef>
              <a:spcAft>
                <a:spcPts val="0"/>
              </a:spcAft>
              <a:buClrTx/>
              <a:buSzTx/>
              <a:buFontTx/>
              <a:buNone/>
              <a:tabLst/>
              <a:defRPr/>
            </a:pPr>
            <a:r>
              <a:rPr kumimoji="0" lang="en-IN" sz="2200" b="0" i="0" u="none" strike="noStrike" kern="1200" cap="none" spc="0" normalizeH="0" baseline="0" noProof="1" smtClean="0">
                <a:ln>
                  <a:noFill/>
                </a:ln>
                <a:solidFill>
                  <a:schemeClr val="bg1"/>
                </a:solidFill>
                <a:effectLst/>
                <a:uLnTx/>
                <a:uFillTx/>
                <a:latin typeface="Prestige Elite"/>
                <a:ea typeface="+mn-ea"/>
                <a:cs typeface="+mn-cs"/>
              </a:rPr>
              <a:t>Now closing the file.</a:t>
            </a:r>
            <a:endParaRPr kumimoji="0" lang="en-IN" sz="2200" b="0" i="0" u="none" strike="noStrike" kern="1200" cap="none" spc="0" normalizeH="0" baseline="0" noProof="1">
              <a:ln>
                <a:noFill/>
              </a:ln>
              <a:solidFill>
                <a:schemeClr val="bg1"/>
              </a:solidFill>
              <a:effectLst/>
              <a:uLnTx/>
              <a:uFillTx/>
              <a:latin typeface="Prestige Elite"/>
              <a:ea typeface="+mn-ea"/>
              <a:cs typeface="+mn-cs"/>
            </a:endParaRPr>
          </a:p>
        </p:txBody>
      </p:sp>
    </p:spTree>
    <p:extLst>
      <p:ext uri="{BB962C8B-B14F-4D97-AF65-F5344CB8AC3E}">
        <p14:creationId xmlns:p14="http://schemas.microsoft.com/office/powerpoint/2010/main" xmlns="" val="288626916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DA5ECEF5-853C-43D1-8E53-E036B112752C}" type="slidenum">
              <a:rPr lang="en-US"/>
              <a:pPr/>
              <a:t>11</a:t>
            </a:fld>
            <a:endParaRPr lang="en-US"/>
          </a:p>
        </p:txBody>
      </p:sp>
      <p:sp>
        <p:nvSpPr>
          <p:cNvPr id="22530" name="Rectangle 2"/>
          <p:cNvSpPr>
            <a:spLocks noGrp="1" noChangeArrowheads="1"/>
          </p:cNvSpPr>
          <p:nvPr>
            <p:ph type="title"/>
          </p:nvPr>
        </p:nvSpPr>
        <p:spPr/>
        <p:txBody>
          <a:bodyPr/>
          <a:lstStyle/>
          <a:p>
            <a:r>
              <a:rPr lang="en-US" dirty="0" smtClean="0"/>
              <a:t>File Default Open Modes</a:t>
            </a:r>
            <a:endParaRPr lang="en-US" dirty="0"/>
          </a:p>
        </p:txBody>
      </p:sp>
      <p:graphicFrame>
        <p:nvGraphicFramePr>
          <p:cNvPr id="5" name="Table 4"/>
          <p:cNvGraphicFramePr>
            <a:graphicFrameLocks noGrp="1"/>
          </p:cNvGraphicFramePr>
          <p:nvPr/>
        </p:nvGraphicFramePr>
        <p:xfrm>
          <a:off x="846000" y="1556792"/>
          <a:ext cx="7452000" cy="3996000"/>
        </p:xfrm>
        <a:graphic>
          <a:graphicData uri="http://schemas.openxmlformats.org/drawingml/2006/table">
            <a:tbl>
              <a:tblPr/>
              <a:tblGrid>
                <a:gridCol w="1296000"/>
                <a:gridCol w="6156000"/>
              </a:tblGrid>
              <a:tr h="444000">
                <a:tc>
                  <a:txBody>
                    <a:bodyPr/>
                    <a:lstStyle/>
                    <a:p>
                      <a:pPr marL="73025" marR="73025" algn="just">
                        <a:spcBef>
                          <a:spcPts val="320"/>
                        </a:spcBef>
                        <a:spcAft>
                          <a:spcPts val="320"/>
                        </a:spcAft>
                      </a:pPr>
                      <a:r>
                        <a:rPr lang="en-IN" sz="2000" b="1" dirty="0">
                          <a:solidFill>
                            <a:srgbClr val="000000"/>
                          </a:solidFill>
                          <a:latin typeface="Officina Serif"/>
                          <a:ea typeface="Times New Roman"/>
                          <a:cs typeface="Times New Roman"/>
                        </a:rPr>
                        <a:t>File Type</a:t>
                      </a:r>
                      <a:endParaRPr lang="en-IN" sz="1100" b="1" dirty="0">
                        <a:solidFill>
                          <a:srgbClr val="000000"/>
                        </a:solidFill>
                        <a:latin typeface="Times New Roman"/>
                        <a:ea typeface="Times New Roman"/>
                        <a:cs typeface="Times New Roman"/>
                      </a:endParaRPr>
                    </a:p>
                  </a:txBody>
                  <a:tcPr marL="0" marR="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marL="73025" marR="73025" algn="just">
                        <a:spcBef>
                          <a:spcPts val="320"/>
                        </a:spcBef>
                        <a:spcAft>
                          <a:spcPts val="320"/>
                        </a:spcAft>
                      </a:pPr>
                      <a:r>
                        <a:rPr lang="en-IN" sz="2000" b="1" dirty="0">
                          <a:solidFill>
                            <a:srgbClr val="000000"/>
                          </a:solidFill>
                          <a:latin typeface="Officina Serif"/>
                          <a:ea typeface="Times New Roman"/>
                          <a:cs typeface="Times New Roman"/>
                        </a:rPr>
                        <a:t>Default Open Mode</a:t>
                      </a:r>
                      <a:endParaRPr lang="en-IN" sz="1100" b="1" dirty="0">
                        <a:solidFill>
                          <a:srgbClr val="000000"/>
                        </a:solidFill>
                        <a:latin typeface="Times New Roman"/>
                        <a:ea typeface="Times New Roman"/>
                        <a:cs typeface="Times New Roman"/>
                      </a:endParaRPr>
                    </a:p>
                  </a:txBody>
                  <a:tcPr marL="0" marR="0" marT="0" marB="0">
                    <a:lnL>
                      <a:noFill/>
                    </a:lnL>
                    <a:lnR>
                      <a:noFill/>
                    </a:lnR>
                    <a:lnT>
                      <a:noFill/>
                    </a:lnT>
                    <a:lnB w="28575" cap="flat" cmpd="sng" algn="ctr">
                      <a:solidFill>
                        <a:srgbClr val="000000"/>
                      </a:solidFill>
                      <a:prstDash val="solid"/>
                      <a:round/>
                      <a:headEnd type="none" w="med" len="med"/>
                      <a:tailEnd type="none" w="med" len="med"/>
                    </a:lnB>
                  </a:tcPr>
                </a:tc>
              </a:tr>
              <a:tr h="1776000">
                <a:tc>
                  <a:txBody>
                    <a:bodyPr/>
                    <a:lstStyle/>
                    <a:p>
                      <a:pPr marL="73025" marR="73025" algn="just">
                        <a:spcBef>
                          <a:spcPts val="320"/>
                        </a:spcBef>
                        <a:spcAft>
                          <a:spcPts val="320"/>
                        </a:spcAft>
                      </a:pPr>
                      <a:r>
                        <a:rPr lang="en-IN" sz="2000">
                          <a:solidFill>
                            <a:srgbClr val="000000"/>
                          </a:solidFill>
                          <a:latin typeface="Prestige Elite"/>
                          <a:ea typeface="Times New Roman"/>
                          <a:cs typeface="Times New Roman"/>
                        </a:rPr>
                        <a:t>ofstream</a:t>
                      </a:r>
                      <a:endParaRPr lang="en-IN" sz="1100">
                        <a:solidFill>
                          <a:srgbClr val="000000"/>
                        </a:solidFill>
                        <a:latin typeface="Times New Roman"/>
                        <a:ea typeface="Times New Roman"/>
                        <a:cs typeface="Times New Roman"/>
                      </a:endParaRPr>
                    </a:p>
                  </a:txBody>
                  <a:tcPr marL="0" marR="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marL="73025" marR="73025" algn="just">
                        <a:spcBef>
                          <a:spcPts val="320"/>
                        </a:spcBef>
                        <a:spcAft>
                          <a:spcPts val="320"/>
                        </a:spcAft>
                      </a:pPr>
                      <a:r>
                        <a:rPr lang="en-IN" sz="2000" dirty="0">
                          <a:solidFill>
                            <a:srgbClr val="000000"/>
                          </a:solidFill>
                          <a:latin typeface="Officina Serif"/>
                          <a:ea typeface="Times New Roman"/>
                          <a:cs typeface="Times New Roman"/>
                        </a:rPr>
                        <a:t>The file is opened for output only. (Information may be written to the file, but not read from the file.) If the file does not exist, it is created. If the file already exists, its contents are deleted (the file is truncated).</a:t>
                      </a:r>
                      <a:endParaRPr lang="en-IN" sz="1100" dirty="0">
                        <a:solidFill>
                          <a:srgbClr val="000000"/>
                        </a:solidFill>
                        <a:latin typeface="Times New Roman"/>
                        <a:ea typeface="Times New Roman"/>
                        <a:cs typeface="Times New Roman"/>
                      </a:endParaRPr>
                    </a:p>
                  </a:txBody>
                  <a:tcPr marL="0" marR="0" marT="0" marB="0">
                    <a:lnL>
                      <a:noFill/>
                    </a:lnL>
                    <a:lnR>
                      <a:noFill/>
                    </a:lnR>
                    <a:lnT w="28575" cap="flat" cmpd="sng" algn="ctr">
                      <a:solidFill>
                        <a:srgbClr val="000000"/>
                      </a:solidFill>
                      <a:prstDash val="solid"/>
                      <a:round/>
                      <a:headEnd type="none" w="med" len="med"/>
                      <a:tailEnd type="none" w="med" len="med"/>
                    </a:lnT>
                    <a:lnB>
                      <a:noFill/>
                    </a:lnB>
                  </a:tcPr>
                </a:tc>
              </a:tr>
              <a:tr h="1776000">
                <a:tc>
                  <a:txBody>
                    <a:bodyPr/>
                    <a:lstStyle/>
                    <a:p>
                      <a:pPr marL="73025" marR="73025" algn="just">
                        <a:spcBef>
                          <a:spcPts val="320"/>
                        </a:spcBef>
                        <a:spcAft>
                          <a:spcPts val="320"/>
                        </a:spcAft>
                      </a:pPr>
                      <a:r>
                        <a:rPr lang="en-IN" sz="2000" dirty="0" err="1">
                          <a:solidFill>
                            <a:srgbClr val="000000"/>
                          </a:solidFill>
                          <a:latin typeface="Prestige Elite"/>
                          <a:ea typeface="Times New Roman"/>
                          <a:cs typeface="Times New Roman"/>
                        </a:rPr>
                        <a:t>ifstream</a:t>
                      </a:r>
                      <a:endParaRPr lang="en-IN" sz="1100" dirty="0">
                        <a:solidFill>
                          <a:srgbClr val="000000"/>
                        </a:solidFill>
                        <a:latin typeface="Times New Roman"/>
                        <a:ea typeface="Times New Roman"/>
                        <a:cs typeface="Times New Roman"/>
                      </a:endParaRPr>
                    </a:p>
                  </a:txBody>
                  <a:tcPr marL="0" marR="0" marT="0" marB="0">
                    <a:lnL>
                      <a:noFill/>
                    </a:lnL>
                    <a:lnR>
                      <a:noFill/>
                    </a:lnR>
                    <a:lnT>
                      <a:noFill/>
                    </a:lnT>
                    <a:lnB>
                      <a:noFill/>
                    </a:lnB>
                  </a:tcPr>
                </a:tc>
                <a:tc>
                  <a:txBody>
                    <a:bodyPr/>
                    <a:lstStyle/>
                    <a:p>
                      <a:pPr marL="73025" marR="73025" algn="just">
                        <a:spcBef>
                          <a:spcPts val="320"/>
                        </a:spcBef>
                        <a:spcAft>
                          <a:spcPts val="320"/>
                        </a:spcAft>
                      </a:pPr>
                      <a:r>
                        <a:rPr lang="en-IN" sz="2000" dirty="0">
                          <a:solidFill>
                            <a:srgbClr val="000000"/>
                          </a:solidFill>
                          <a:latin typeface="Officina Serif"/>
                          <a:ea typeface="Times New Roman"/>
                          <a:cs typeface="Times New Roman"/>
                        </a:rPr>
                        <a:t>The file is opened for input only. (Information may be read from the file, but not written to it.) The file</a:t>
                      </a:r>
                      <a:r>
                        <a:rPr lang="en-IN" sz="2000" dirty="0">
                          <a:solidFill>
                            <a:srgbClr val="000000"/>
                          </a:solidFill>
                          <a:latin typeface="Times New Roman"/>
                          <a:ea typeface="Times New Roman"/>
                          <a:cs typeface="Times New Roman"/>
                        </a:rPr>
                        <a:t>’</a:t>
                      </a:r>
                      <a:r>
                        <a:rPr lang="en-IN" sz="2000" dirty="0">
                          <a:solidFill>
                            <a:srgbClr val="000000"/>
                          </a:solidFill>
                          <a:latin typeface="Officina Serif"/>
                          <a:ea typeface="Times New Roman"/>
                          <a:cs typeface="Times New Roman"/>
                        </a:rPr>
                        <a:t>s contents will be read from its beginning. If the file does not exist, the open function fails.</a:t>
                      </a:r>
                      <a:endParaRPr lang="en-IN" sz="1100" dirty="0">
                        <a:solidFill>
                          <a:srgbClr val="000000"/>
                        </a:solidFill>
                        <a:latin typeface="Times New Roman"/>
                        <a:ea typeface="Times New Roman"/>
                        <a:cs typeface="Times New Roman"/>
                      </a:endParaRPr>
                    </a:p>
                  </a:txBody>
                  <a:tcPr marL="0" marR="0" marT="0" marB="0">
                    <a:lnL>
                      <a:noFill/>
                    </a:lnL>
                    <a:lnR>
                      <a:noFill/>
                    </a:lnR>
                    <a:lnT>
                      <a:noFill/>
                    </a:lnT>
                    <a:lnB>
                      <a:noFill/>
                    </a:lnB>
                  </a:tcPr>
                </a:tc>
              </a:tr>
            </a:tbl>
          </a:graphicData>
        </a:graphic>
      </p:graphicFrame>
      <p:sp>
        <p:nvSpPr>
          <p:cNvPr id="205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330686471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r>
              <a:rPr lang="en-US" smtClean="0"/>
              <a:t>File Mode Flags</a:t>
            </a:r>
            <a:endParaRPr lang="en-US" dirty="0"/>
          </a:p>
        </p:txBody>
      </p:sp>
      <p:sp>
        <p:nvSpPr>
          <p:cNvPr id="4" name="Slide Number Placeholder 5"/>
          <p:cNvSpPr>
            <a:spLocks noGrp="1"/>
          </p:cNvSpPr>
          <p:nvPr>
            <p:ph type="sldNum" sz="quarter" idx="12"/>
          </p:nvPr>
        </p:nvSpPr>
        <p:spPr/>
        <p:txBody>
          <a:bodyPr/>
          <a:lstStyle/>
          <a:p>
            <a:fld id="{29F55494-43C8-40E4-962A-9B2E897A85C9}" type="slidenum">
              <a:rPr lang="en-US" smtClean="0"/>
              <a:pPr/>
              <a:t>12</a:t>
            </a:fld>
            <a:endParaRPr lang="en-US"/>
          </a:p>
        </p:txBody>
      </p:sp>
      <p:graphicFrame>
        <p:nvGraphicFramePr>
          <p:cNvPr id="5" name="Table 4"/>
          <p:cNvGraphicFramePr>
            <a:graphicFrameLocks noGrp="1"/>
          </p:cNvGraphicFramePr>
          <p:nvPr/>
        </p:nvGraphicFramePr>
        <p:xfrm>
          <a:off x="72000" y="980728"/>
          <a:ext cx="9000000" cy="5446800"/>
        </p:xfrm>
        <a:graphic>
          <a:graphicData uri="http://schemas.openxmlformats.org/drawingml/2006/table">
            <a:tbl>
              <a:tblPr>
                <a:tableStyleId>{5940675A-B579-460E-94D1-54222C63F5DA}</a:tableStyleId>
              </a:tblPr>
              <a:tblGrid>
                <a:gridCol w="1584000"/>
                <a:gridCol w="7416000"/>
              </a:tblGrid>
              <a:tr h="532800">
                <a:tc>
                  <a:txBody>
                    <a:bodyPr/>
                    <a:lstStyle/>
                    <a:p>
                      <a:pPr marL="73025" marR="73025">
                        <a:spcBef>
                          <a:spcPts val="320"/>
                        </a:spcBef>
                        <a:spcAft>
                          <a:spcPts val="320"/>
                        </a:spcAft>
                      </a:pPr>
                      <a:r>
                        <a:rPr lang="en-IN" sz="1800" b="1" dirty="0"/>
                        <a:t>File Mode Flag</a:t>
                      </a:r>
                      <a:endParaRPr lang="en-IN" sz="1000" b="1" dirty="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b="1" dirty="0"/>
                        <a:t>Meaning</a:t>
                      </a:r>
                      <a:endParaRPr lang="en-IN" sz="1000" b="1" dirty="0">
                        <a:solidFill>
                          <a:srgbClr val="000000"/>
                        </a:solidFill>
                        <a:latin typeface="Times New Roman"/>
                        <a:ea typeface="Times New Roman"/>
                        <a:cs typeface="Times New Roman"/>
                      </a:endParaRPr>
                    </a:p>
                  </a:txBody>
                  <a:tcPr marL="0" marR="0" marT="0" marB="0"/>
                </a:tc>
              </a:tr>
              <a:tr h="799200">
                <a:tc>
                  <a:txBody>
                    <a:bodyPr/>
                    <a:lstStyle/>
                    <a:p>
                      <a:pPr marL="73025" marR="73025">
                        <a:spcBef>
                          <a:spcPts val="320"/>
                        </a:spcBef>
                        <a:spcAft>
                          <a:spcPts val="320"/>
                        </a:spcAft>
                      </a:pPr>
                      <a:r>
                        <a:rPr lang="en-IN" sz="1800" dirty="0" err="1"/>
                        <a:t>ios</a:t>
                      </a:r>
                      <a:r>
                        <a:rPr lang="en-IN" sz="1800" dirty="0"/>
                        <a:t>::app</a:t>
                      </a:r>
                      <a:endParaRPr lang="en-IN" sz="1000" dirty="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Append mode. If the file already exists, its contents are preserved and all output is written to the end of the file. By default, this flag causes the file to be created if it does not exist.</a:t>
                      </a:r>
                      <a:endParaRPr lang="en-IN" sz="1000" dirty="0">
                        <a:solidFill>
                          <a:srgbClr val="000000"/>
                        </a:solidFill>
                        <a:latin typeface="Times New Roman"/>
                        <a:ea typeface="Times New Roman"/>
                        <a:cs typeface="Times New Roman"/>
                      </a:endParaRPr>
                    </a:p>
                  </a:txBody>
                  <a:tcPr marL="0" marR="0" marT="0" marB="0"/>
                </a:tc>
              </a:tr>
              <a:tr h="532800">
                <a:tc>
                  <a:txBody>
                    <a:bodyPr/>
                    <a:lstStyle/>
                    <a:p>
                      <a:pPr marL="73025" marR="73025">
                        <a:spcBef>
                          <a:spcPts val="320"/>
                        </a:spcBef>
                        <a:spcAft>
                          <a:spcPts val="320"/>
                        </a:spcAft>
                      </a:pPr>
                      <a:r>
                        <a:rPr lang="en-IN" sz="1800"/>
                        <a:t>ios::ate</a:t>
                      </a:r>
                      <a:endParaRPr lang="en-IN" sz="10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If the file already exists, the program goes directly to the end of it. Output may be written anywhere in the file.</a:t>
                      </a:r>
                      <a:endParaRPr lang="en-IN" sz="1000" dirty="0">
                        <a:solidFill>
                          <a:srgbClr val="000000"/>
                        </a:solidFill>
                        <a:latin typeface="Times New Roman"/>
                        <a:ea typeface="Times New Roman"/>
                        <a:cs typeface="Times New Roman"/>
                      </a:endParaRPr>
                    </a:p>
                  </a:txBody>
                  <a:tcPr marL="0" marR="0" marT="0" marB="0"/>
                </a:tc>
              </a:tr>
              <a:tr h="799200">
                <a:tc>
                  <a:txBody>
                    <a:bodyPr/>
                    <a:lstStyle/>
                    <a:p>
                      <a:pPr marL="73025" marR="73025">
                        <a:spcBef>
                          <a:spcPts val="320"/>
                        </a:spcBef>
                        <a:spcAft>
                          <a:spcPts val="320"/>
                        </a:spcAft>
                      </a:pPr>
                      <a:r>
                        <a:rPr lang="en-IN" sz="1800"/>
                        <a:t>ios::binary</a:t>
                      </a:r>
                      <a:endParaRPr lang="en-IN" sz="10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a:t>Binary mode. When a file is opened in binary mode, information is written to or read from it in pure binary format. (The default mode is text.)</a:t>
                      </a:r>
                      <a:endParaRPr lang="en-IN" sz="1000">
                        <a:solidFill>
                          <a:srgbClr val="000000"/>
                        </a:solidFill>
                        <a:latin typeface="Times New Roman"/>
                        <a:ea typeface="Times New Roman"/>
                        <a:cs typeface="Times New Roman"/>
                      </a:endParaRPr>
                    </a:p>
                  </a:txBody>
                  <a:tcPr marL="0" marR="0" marT="0" marB="0"/>
                </a:tc>
              </a:tr>
              <a:tr h="532800">
                <a:tc>
                  <a:txBody>
                    <a:bodyPr/>
                    <a:lstStyle/>
                    <a:p>
                      <a:pPr marL="73025" marR="73025">
                        <a:spcBef>
                          <a:spcPts val="320"/>
                        </a:spcBef>
                        <a:spcAft>
                          <a:spcPts val="320"/>
                        </a:spcAft>
                      </a:pPr>
                      <a:r>
                        <a:rPr lang="en-IN" sz="1800"/>
                        <a:t>ios::in</a:t>
                      </a:r>
                      <a:endParaRPr lang="en-IN" sz="10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Input mode. Information will be read from the file. If the file does not exist, it will not be created and the open function will fail.</a:t>
                      </a:r>
                      <a:endParaRPr lang="en-IN" sz="1000" dirty="0">
                        <a:solidFill>
                          <a:srgbClr val="000000"/>
                        </a:solidFill>
                        <a:latin typeface="Times New Roman"/>
                        <a:ea typeface="Times New Roman"/>
                        <a:cs typeface="Times New Roman"/>
                      </a:endParaRPr>
                    </a:p>
                  </a:txBody>
                  <a:tcPr marL="0" marR="0" marT="0" marB="0"/>
                </a:tc>
              </a:tr>
              <a:tr h="532800">
                <a:tc>
                  <a:txBody>
                    <a:bodyPr/>
                    <a:lstStyle/>
                    <a:p>
                      <a:pPr marL="73025" marR="73025">
                        <a:spcBef>
                          <a:spcPts val="320"/>
                        </a:spcBef>
                        <a:spcAft>
                          <a:spcPts val="320"/>
                        </a:spcAft>
                      </a:pPr>
                      <a:r>
                        <a:rPr lang="en-IN" sz="1800" dirty="0" err="1"/>
                        <a:t>ios</a:t>
                      </a:r>
                      <a:r>
                        <a:rPr lang="en-IN" sz="1800" dirty="0"/>
                        <a:t>::</a:t>
                      </a:r>
                      <a:r>
                        <a:rPr lang="en-IN" sz="1800" dirty="0" err="1"/>
                        <a:t>nocreate</a:t>
                      </a:r>
                      <a:endParaRPr lang="en-IN" sz="1000" dirty="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If the file does not already exist, this flag will cause the open function to fail. (The file will not be created.)</a:t>
                      </a:r>
                      <a:endParaRPr lang="en-IN" sz="1000" dirty="0">
                        <a:solidFill>
                          <a:srgbClr val="000000"/>
                        </a:solidFill>
                        <a:latin typeface="Times New Roman"/>
                        <a:ea typeface="Times New Roman"/>
                        <a:cs typeface="Times New Roman"/>
                      </a:endParaRPr>
                    </a:p>
                  </a:txBody>
                  <a:tcPr marL="0" marR="0" marT="0" marB="0"/>
                </a:tc>
              </a:tr>
              <a:tr h="532800">
                <a:tc>
                  <a:txBody>
                    <a:bodyPr/>
                    <a:lstStyle/>
                    <a:p>
                      <a:pPr marL="73025" marR="73025">
                        <a:spcBef>
                          <a:spcPts val="320"/>
                        </a:spcBef>
                        <a:spcAft>
                          <a:spcPts val="320"/>
                        </a:spcAft>
                      </a:pPr>
                      <a:r>
                        <a:rPr lang="en-IN" sz="1800"/>
                        <a:t>ios::noreplace</a:t>
                      </a:r>
                      <a:endParaRPr lang="en-IN" sz="10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If the file already exists, this flag will cause the open function to fail. (The existing file will not be opened.)</a:t>
                      </a:r>
                      <a:endParaRPr lang="en-IN" sz="1000" dirty="0">
                        <a:solidFill>
                          <a:srgbClr val="000000"/>
                        </a:solidFill>
                        <a:latin typeface="Times New Roman"/>
                        <a:ea typeface="Times New Roman"/>
                        <a:cs typeface="Times New Roman"/>
                      </a:endParaRPr>
                    </a:p>
                  </a:txBody>
                  <a:tcPr marL="0" marR="0" marT="0" marB="0"/>
                </a:tc>
              </a:tr>
              <a:tr h="532800">
                <a:tc>
                  <a:txBody>
                    <a:bodyPr/>
                    <a:lstStyle/>
                    <a:p>
                      <a:pPr marL="73025" marR="73025">
                        <a:spcBef>
                          <a:spcPts val="320"/>
                        </a:spcBef>
                        <a:spcAft>
                          <a:spcPts val="320"/>
                        </a:spcAft>
                      </a:pPr>
                      <a:r>
                        <a:rPr lang="en-IN" sz="1800"/>
                        <a:t>ios::out</a:t>
                      </a:r>
                      <a:endParaRPr lang="en-IN" sz="10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Output mode. Information will be written to the file. By default, the file’s contents will be deleted if it already exists.</a:t>
                      </a:r>
                      <a:endParaRPr lang="en-IN" sz="1000" dirty="0">
                        <a:solidFill>
                          <a:srgbClr val="000000"/>
                        </a:solidFill>
                        <a:latin typeface="Times New Roman"/>
                        <a:ea typeface="Times New Roman"/>
                        <a:cs typeface="Times New Roman"/>
                      </a:endParaRPr>
                    </a:p>
                  </a:txBody>
                  <a:tcPr marL="0" marR="0" marT="0" marB="0"/>
                </a:tc>
              </a:tr>
              <a:tr h="532800">
                <a:tc>
                  <a:txBody>
                    <a:bodyPr/>
                    <a:lstStyle/>
                    <a:p>
                      <a:pPr marL="73025" marR="73025">
                        <a:spcBef>
                          <a:spcPts val="320"/>
                        </a:spcBef>
                        <a:spcAft>
                          <a:spcPts val="320"/>
                        </a:spcAft>
                      </a:pPr>
                      <a:r>
                        <a:rPr lang="en-IN" sz="1800"/>
                        <a:t>ios::trunc</a:t>
                      </a:r>
                      <a:endParaRPr lang="en-IN" sz="10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IN" sz="1800" dirty="0"/>
                        <a:t>If the file already exists, its contents will be deleted (truncated). This is the default mode used by </a:t>
                      </a:r>
                      <a:r>
                        <a:rPr lang="en-IN" sz="1800" dirty="0" err="1"/>
                        <a:t>ios</a:t>
                      </a:r>
                      <a:r>
                        <a:rPr lang="en-IN" sz="1800" dirty="0"/>
                        <a:t>::out.</a:t>
                      </a:r>
                      <a:endParaRPr lang="en-IN" sz="1000" dirty="0">
                        <a:solidFill>
                          <a:srgbClr val="000000"/>
                        </a:solidFill>
                        <a:latin typeface="Times New Roman"/>
                        <a:ea typeface="Times New Roman"/>
                        <a:cs typeface="Times New Roman"/>
                      </a:endParaRPr>
                    </a:p>
                  </a:txBody>
                  <a:tcPr marL="0" marR="0" marT="0" marB="0"/>
                </a:tc>
              </a:tr>
            </a:tbl>
          </a:graphicData>
        </a:graphic>
      </p:graphicFrame>
    </p:spTree>
    <p:extLst>
      <p:ext uri="{BB962C8B-B14F-4D97-AF65-F5344CB8AC3E}">
        <p14:creationId xmlns:p14="http://schemas.microsoft.com/office/powerpoint/2010/main" xmlns="" val="3253027302"/>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Write on file</a:t>
            </a:r>
            <a:endParaRPr lang="en-IN" dirty="0"/>
          </a:p>
        </p:txBody>
      </p:sp>
      <p:sp>
        <p:nvSpPr>
          <p:cNvPr id="3" name="Content Placeholder 2"/>
          <p:cNvSpPr>
            <a:spLocks noGrp="1"/>
          </p:cNvSpPr>
          <p:nvPr>
            <p:ph idx="1"/>
          </p:nvPr>
        </p:nvSpPr>
        <p:spPr/>
        <p:txBody>
          <a:bodyPr/>
          <a:lstStyle/>
          <a:p>
            <a:r>
              <a:rPr lang="en-US" dirty="0"/>
              <a:t>The stream insertion operator (&lt;&lt;) may be used to write information to a file.</a:t>
            </a:r>
          </a:p>
          <a:p>
            <a:pPr lvl="2">
              <a:buFontTx/>
              <a:buNone/>
            </a:pPr>
            <a:r>
              <a:rPr lang="en-US" dirty="0" err="1"/>
              <a:t>outputFile</a:t>
            </a:r>
            <a:r>
              <a:rPr lang="en-US" dirty="0"/>
              <a:t> &lt;&lt; “I love C++ programming !”</a:t>
            </a:r>
          </a:p>
          <a:p>
            <a:endParaRPr lang="en-IN" dirty="0"/>
          </a:p>
        </p:txBody>
      </p:sp>
    </p:spTree>
    <p:extLst>
      <p:ext uri="{BB962C8B-B14F-4D97-AF65-F5344CB8AC3E}">
        <p14:creationId xmlns:p14="http://schemas.microsoft.com/office/powerpoint/2010/main" xmlns="" val="1328037355"/>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7218" name="Rectangle 1026"/>
          <p:cNvSpPr>
            <a:spLocks noGrp="1" noChangeArrowheads="1"/>
          </p:cNvSpPr>
          <p:nvPr>
            <p:ph type="title"/>
          </p:nvPr>
        </p:nvSpPr>
        <p:spPr/>
        <p:txBody>
          <a:bodyPr/>
          <a:lstStyle/>
          <a:p>
            <a:r>
              <a:rPr lang="en-US" dirty="0" smtClean="0"/>
              <a:t>Example </a:t>
            </a:r>
            <a:endParaRPr lang="en-US" dirty="0"/>
          </a:p>
        </p:txBody>
      </p:sp>
      <p:sp>
        <p:nvSpPr>
          <p:cNvPr id="137219" name="Rectangle 1027"/>
          <p:cNvSpPr>
            <a:spLocks noGrp="1" noChangeArrowheads="1"/>
          </p:cNvSpPr>
          <p:nvPr>
            <p:ph type="body" idx="1"/>
          </p:nvPr>
        </p:nvSpPr>
        <p:spPr>
          <a:xfrm>
            <a:off x="101511" y="1050822"/>
            <a:ext cx="9000000" cy="4968552"/>
          </a:xfrm>
        </p:spPr>
        <p:txBody>
          <a:bodyPr>
            <a:noAutofit/>
          </a:bodyPr>
          <a:lstStyle/>
          <a:p>
            <a:pPr marL="0" indent="0">
              <a:spcBef>
                <a:spcPts val="0"/>
              </a:spcBef>
              <a:buNone/>
            </a:pPr>
            <a:r>
              <a:rPr lang="en-IN" sz="2200" dirty="0" smtClean="0">
                <a:solidFill>
                  <a:schemeClr val="accent1"/>
                </a:solidFill>
                <a:latin typeface="Prestige Elite"/>
              </a:rPr>
              <a:t>This program uses the &lt;&lt; operator to write information to a file.</a:t>
            </a:r>
          </a:p>
          <a:p>
            <a:pPr marL="0" indent="0">
              <a:spcBef>
                <a:spcPts val="0"/>
              </a:spcBef>
              <a:buNone/>
            </a:pPr>
            <a:endParaRPr lang="en-IN" sz="2200" dirty="0" smtClean="0">
              <a:latin typeface="Prestige Elite"/>
            </a:endParaRPr>
          </a:p>
          <a:p>
            <a:pPr marL="457200" indent="-457200">
              <a:spcBef>
                <a:spcPts val="0"/>
              </a:spcBef>
              <a:buFont typeface="+mj-lt"/>
              <a:buAutoNum type="arabicPeriod"/>
            </a:pPr>
            <a:r>
              <a:rPr lang="en-IN" sz="2200" dirty="0" smtClean="0">
                <a:latin typeface="Prestige Elite"/>
              </a:rPr>
              <a:t>#include &lt;</a:t>
            </a:r>
            <a:r>
              <a:rPr lang="en-US" sz="2200" dirty="0" err="1" smtClean="0">
                <a:latin typeface="Prestige Elite"/>
              </a:rPr>
              <a:t>iostream</a:t>
            </a:r>
            <a:r>
              <a:rPr lang="en-US" sz="2200" dirty="0" smtClean="0">
                <a:latin typeface="Prestige Elite"/>
              </a:rPr>
              <a:t>&gt;</a:t>
            </a:r>
          </a:p>
          <a:p>
            <a:pPr marL="457200" indent="-457200">
              <a:spcBef>
                <a:spcPts val="0"/>
              </a:spcBef>
              <a:buFont typeface="+mj-lt"/>
              <a:buAutoNum type="arabicPeriod"/>
            </a:pPr>
            <a:r>
              <a:rPr lang="en-US" sz="2200" dirty="0" smtClean="0">
                <a:latin typeface="Prestige Elite"/>
              </a:rPr>
              <a:t>#include &lt;</a:t>
            </a:r>
            <a:r>
              <a:rPr lang="en-US" sz="2200" dirty="0" err="1" smtClean="0">
                <a:latin typeface="Prestige Elite"/>
              </a:rPr>
              <a:t>fstream</a:t>
            </a:r>
            <a:r>
              <a:rPr lang="en-US" sz="2200" dirty="0" smtClean="0">
                <a:latin typeface="Prestige Elite"/>
              </a:rPr>
              <a:t>&gt;</a:t>
            </a:r>
          </a:p>
          <a:p>
            <a:pPr marL="457200" indent="-457200">
              <a:spcBef>
                <a:spcPts val="0"/>
              </a:spcBef>
              <a:buFont typeface="+mj-lt"/>
              <a:buAutoNum type="arabicPeriod"/>
            </a:pPr>
            <a:r>
              <a:rPr lang="en-US" sz="2200" dirty="0" smtClean="0">
                <a:latin typeface="Prestige Elite"/>
              </a:rPr>
              <a:t>using namespace std;</a:t>
            </a:r>
          </a:p>
          <a:p>
            <a:pPr marL="457200" indent="-457200">
              <a:spcBef>
                <a:spcPts val="0"/>
              </a:spcBef>
              <a:buFont typeface="+mj-lt"/>
              <a:buAutoNum type="arabicPeriod"/>
            </a:pPr>
            <a:r>
              <a:rPr lang="en-US" sz="2200" dirty="0" err="1" smtClean="0">
                <a:latin typeface="Prestige Elite"/>
              </a:rPr>
              <a:t>int</a:t>
            </a:r>
            <a:r>
              <a:rPr lang="en-US" sz="2200" dirty="0" smtClean="0">
                <a:latin typeface="Prestige Elite"/>
              </a:rPr>
              <a:t> main()</a:t>
            </a:r>
          </a:p>
          <a:p>
            <a:pPr marL="457200" indent="-457200">
              <a:spcBef>
                <a:spcPts val="0"/>
              </a:spcBef>
              <a:buFont typeface="+mj-lt"/>
              <a:buAutoNum type="arabicPeriod"/>
            </a:pPr>
            <a:r>
              <a:rPr lang="en-US" sz="2200" dirty="0" smtClean="0">
                <a:latin typeface="Prestige Elite"/>
              </a:rPr>
              <a:t>{	</a:t>
            </a:r>
            <a:r>
              <a:rPr lang="en-US" sz="2200" dirty="0" err="1" smtClean="0">
                <a:latin typeface="Prestige Elite"/>
              </a:rPr>
              <a:t>fstream</a:t>
            </a:r>
            <a:r>
              <a:rPr lang="en-US" sz="2200" dirty="0" smtClean="0">
                <a:latin typeface="Prestige Elite"/>
              </a:rPr>
              <a:t> </a:t>
            </a:r>
            <a:r>
              <a:rPr lang="en-US" sz="2200" dirty="0" err="1" smtClean="0">
                <a:latin typeface="Prestige Elite"/>
              </a:rPr>
              <a:t>dataFile</a:t>
            </a:r>
            <a:r>
              <a:rPr lang="en-US" sz="2200" dirty="0" smtClean="0">
                <a:latin typeface="Prestige Elite"/>
              </a:rPr>
              <a:t>;</a:t>
            </a:r>
          </a:p>
          <a:p>
            <a:pPr marL="457200" indent="-457200">
              <a:spcBef>
                <a:spcPts val="0"/>
              </a:spcBef>
              <a:buFont typeface="+mj-lt"/>
              <a:buAutoNum type="arabicPeriod"/>
            </a:pPr>
            <a:r>
              <a:rPr lang="en-US" sz="2200" dirty="0" smtClean="0">
                <a:latin typeface="Prestige Elite"/>
              </a:rPr>
              <a:t>	char line[81];</a:t>
            </a:r>
          </a:p>
          <a:p>
            <a:pPr marL="457200" indent="-457200">
              <a:spcBef>
                <a:spcPts val="0"/>
              </a:spcBef>
              <a:buFont typeface="+mj-lt"/>
              <a:buAutoNum type="arabicPeriod"/>
            </a:pPr>
            <a:r>
              <a:rPr lang="en-US" sz="2200" dirty="0" smtClean="0">
                <a:latin typeface="Prestige Elite"/>
              </a:rPr>
              <a:t>	</a:t>
            </a:r>
            <a:r>
              <a:rPr lang="en-US" sz="2200" dirty="0" err="1" smtClean="0">
                <a:latin typeface="Prestige Elite"/>
              </a:rPr>
              <a:t>dataFile.open</a:t>
            </a:r>
            <a:r>
              <a:rPr lang="en-US" sz="2200" dirty="0" smtClean="0">
                <a:latin typeface="Prestige Elite"/>
              </a:rPr>
              <a:t>("demofile.txt", </a:t>
            </a:r>
            <a:r>
              <a:rPr lang="en-US" sz="2200" dirty="0" err="1" smtClean="0">
                <a:latin typeface="Prestige Elite"/>
              </a:rPr>
              <a:t>ios</a:t>
            </a:r>
            <a:r>
              <a:rPr lang="en-US" sz="2200" dirty="0" smtClean="0">
                <a:latin typeface="Prestige Elite"/>
              </a:rPr>
              <a:t>::out);</a:t>
            </a:r>
          </a:p>
          <a:p>
            <a:pPr marL="457200" indent="-457200">
              <a:spcBef>
                <a:spcPts val="0"/>
              </a:spcBef>
              <a:buFont typeface="+mj-lt"/>
              <a:buAutoNum type="arabicPeriod"/>
            </a:pPr>
            <a:r>
              <a:rPr lang="en-US" sz="2200" dirty="0" smtClean="0">
                <a:latin typeface="Prestige Elite"/>
              </a:rPr>
              <a:t>	if (!</a:t>
            </a:r>
            <a:r>
              <a:rPr lang="en-US" sz="2200" dirty="0" err="1" smtClean="0">
                <a:latin typeface="Prestige Elite"/>
              </a:rPr>
              <a:t>dataFile</a:t>
            </a:r>
            <a:r>
              <a:rPr lang="en-US" sz="2200" dirty="0" smtClean="0">
                <a:latin typeface="Prestige Elite"/>
              </a:rPr>
              <a:t>)</a:t>
            </a:r>
          </a:p>
          <a:p>
            <a:pPr marL="457200" indent="-457200">
              <a:spcBef>
                <a:spcPts val="0"/>
              </a:spcBef>
              <a:buFont typeface="+mj-lt"/>
              <a:buAutoNum type="arabicPeriod"/>
            </a:pPr>
            <a:r>
              <a:rPr lang="en-US" sz="2200" dirty="0" smtClean="0">
                <a:latin typeface="Prestige Elite"/>
              </a:rPr>
              <a:t>	{</a:t>
            </a:r>
            <a:r>
              <a:rPr lang="nn-NO" sz="2200" dirty="0" smtClean="0">
                <a:latin typeface="Prestige Elite"/>
              </a:rPr>
              <a:t>	cout &lt;&lt; "File open error!" &lt;&lt; endl;</a:t>
            </a:r>
            <a:r>
              <a:rPr lang="en-US" sz="2200" dirty="0" smtClean="0">
                <a:latin typeface="Prestige Elite"/>
              </a:rPr>
              <a:t>	return 0;	}</a:t>
            </a:r>
          </a:p>
          <a:p>
            <a:pPr marL="457200" indent="-457200">
              <a:spcBef>
                <a:spcPts val="0"/>
              </a:spcBef>
              <a:buFont typeface="+mj-lt"/>
              <a:buAutoNum type="arabicPeriod"/>
            </a:pPr>
            <a:r>
              <a:rPr lang="en-IN" sz="2200" dirty="0" smtClean="0">
                <a:latin typeface="Prestige Elite"/>
              </a:rPr>
              <a:t>     	</a:t>
            </a:r>
            <a:r>
              <a:rPr lang="en-IN" sz="2200" dirty="0" err="1" smtClean="0">
                <a:latin typeface="Prestige Elite"/>
              </a:rPr>
              <a:t>cout</a:t>
            </a:r>
            <a:r>
              <a:rPr lang="en-IN" sz="2200" dirty="0" smtClean="0">
                <a:latin typeface="Prestige Elite"/>
              </a:rPr>
              <a:t> &lt;&lt; "File opened successfully.\n";</a:t>
            </a:r>
          </a:p>
          <a:p>
            <a:pPr marL="457200" indent="-457200">
              <a:spcBef>
                <a:spcPts val="0"/>
              </a:spcBef>
              <a:buFont typeface="+mj-lt"/>
              <a:buAutoNum type="arabicPeriod"/>
            </a:pPr>
            <a:r>
              <a:rPr lang="en-IN" sz="2200" dirty="0" smtClean="0">
                <a:latin typeface="Prestige Elite"/>
              </a:rPr>
              <a:t>		</a:t>
            </a:r>
            <a:r>
              <a:rPr lang="en-IN" sz="2200" dirty="0" err="1" smtClean="0">
                <a:latin typeface="Prestige Elite"/>
              </a:rPr>
              <a:t>cout</a:t>
            </a:r>
            <a:r>
              <a:rPr lang="en-IN" sz="2200" dirty="0" smtClean="0">
                <a:latin typeface="Prestige Elite"/>
              </a:rPr>
              <a:t> &lt;&lt; "Now writing information to the file.\n";</a:t>
            </a:r>
          </a:p>
          <a:p>
            <a:pPr marL="457200" indent="-457200">
              <a:spcBef>
                <a:spcPts val="0"/>
              </a:spcBef>
              <a:buFont typeface="+mj-lt"/>
              <a:buAutoNum type="arabicPeriod"/>
            </a:pPr>
            <a:r>
              <a:rPr lang="en-US" sz="2200" dirty="0" smtClean="0">
                <a:latin typeface="Prestige Elite"/>
              </a:rPr>
              <a:t>		</a:t>
            </a:r>
            <a:r>
              <a:rPr lang="en-US" sz="2200" dirty="0" err="1" smtClean="0">
                <a:latin typeface="Prestige Elite"/>
              </a:rPr>
              <a:t>dataFile</a:t>
            </a:r>
            <a:r>
              <a:rPr lang="en-US" sz="2200" dirty="0" smtClean="0">
                <a:latin typeface="Prestige Elite"/>
              </a:rPr>
              <a:t> &lt;&lt; "Jones\n";</a:t>
            </a:r>
          </a:p>
          <a:p>
            <a:pPr marL="457200" indent="-457200">
              <a:spcBef>
                <a:spcPts val="0"/>
              </a:spcBef>
              <a:buFont typeface="+mj-lt"/>
              <a:buAutoNum type="arabicPeriod"/>
            </a:pPr>
            <a:r>
              <a:rPr lang="en-US" sz="2200" dirty="0" smtClean="0">
                <a:latin typeface="Prestige Elite"/>
              </a:rPr>
              <a:t>		</a:t>
            </a:r>
            <a:r>
              <a:rPr lang="en-US" sz="2200" dirty="0" err="1" smtClean="0">
                <a:latin typeface="Prestige Elite"/>
              </a:rPr>
              <a:t>dataFile</a:t>
            </a:r>
            <a:r>
              <a:rPr lang="en-US" sz="2200" dirty="0" smtClean="0">
                <a:latin typeface="Prestige Elite"/>
              </a:rPr>
              <a:t> &lt;&lt; "Smith\n";</a:t>
            </a:r>
          </a:p>
          <a:p>
            <a:pPr marL="457200" indent="-457200">
              <a:spcBef>
                <a:spcPts val="0"/>
              </a:spcBef>
              <a:buFont typeface="+mj-lt"/>
              <a:buAutoNum type="arabicPeriod"/>
            </a:pPr>
            <a:r>
              <a:rPr lang="en-US" sz="2200" dirty="0" smtClean="0">
                <a:latin typeface="Prestige Elite"/>
              </a:rPr>
              <a:t>		</a:t>
            </a:r>
            <a:r>
              <a:rPr lang="en-US" sz="2200" dirty="0" err="1" smtClean="0">
                <a:latin typeface="Prestige Elite"/>
              </a:rPr>
              <a:t>dataFile.close</a:t>
            </a:r>
            <a:r>
              <a:rPr lang="en-US" sz="2200" dirty="0" smtClean="0">
                <a:latin typeface="Prestige Elite"/>
              </a:rPr>
              <a:t>();</a:t>
            </a:r>
          </a:p>
          <a:p>
            <a:pPr marL="457200" indent="-457200">
              <a:spcBef>
                <a:spcPts val="0"/>
              </a:spcBef>
              <a:buFont typeface="+mj-lt"/>
              <a:buAutoNum type="arabicPeriod"/>
            </a:pPr>
            <a:r>
              <a:rPr lang="en-US" sz="2200" dirty="0" smtClean="0">
                <a:latin typeface="Prestige Elite"/>
              </a:rPr>
              <a:t>		</a:t>
            </a:r>
            <a:r>
              <a:rPr lang="en-US" sz="2200" dirty="0" err="1" smtClean="0">
                <a:latin typeface="Prestige Elite"/>
              </a:rPr>
              <a:t>cout</a:t>
            </a:r>
            <a:r>
              <a:rPr lang="en-US" sz="2200" dirty="0" smtClean="0">
                <a:latin typeface="Prestige Elite"/>
              </a:rPr>
              <a:t> &lt;&lt; "Done.\n";	  return 0;	}</a:t>
            </a:r>
            <a:endParaRPr lang="en-US" sz="2200" noProof="1">
              <a:latin typeface="Prestige Elite"/>
            </a:endParaRPr>
          </a:p>
        </p:txBody>
      </p:sp>
      <p:sp>
        <p:nvSpPr>
          <p:cNvPr id="4" name="Slide Number Placeholder 5"/>
          <p:cNvSpPr>
            <a:spLocks noGrp="1"/>
          </p:cNvSpPr>
          <p:nvPr>
            <p:ph type="sldNum" sz="quarter" idx="12"/>
          </p:nvPr>
        </p:nvSpPr>
        <p:spPr/>
        <p:txBody>
          <a:bodyPr/>
          <a:lstStyle/>
          <a:p>
            <a:fld id="{986B67BD-5A04-490C-851E-C5FF5C826075}" type="slidenum">
              <a:rPr lang="en-US" smtClean="0"/>
              <a:pPr/>
              <a:t>14</a:t>
            </a:fld>
            <a:endParaRPr lang="en-US"/>
          </a:p>
        </p:txBody>
      </p:sp>
      <p:sp>
        <p:nvSpPr>
          <p:cNvPr id="5" name="Rectangle 4"/>
          <p:cNvSpPr/>
          <p:nvPr/>
        </p:nvSpPr>
        <p:spPr>
          <a:xfrm>
            <a:off x="4283968" y="2060848"/>
            <a:ext cx="4572000" cy="1474250"/>
          </a:xfrm>
          <a:prstGeom prst="rect">
            <a:avLst/>
          </a:prstGeom>
          <a:solidFill>
            <a:schemeClr val="tx1">
              <a:lumMod val="75000"/>
              <a:lumOff val="25000"/>
            </a:schemeClr>
          </a:solidFill>
          <a:ln>
            <a:solidFill>
              <a:schemeClr val="tx1"/>
            </a:solidFill>
          </a:ln>
        </p:spPr>
        <p:txBody>
          <a:bodyPr wrap="square">
            <a:spAutoFit/>
          </a:bodyPr>
          <a:lstStyle/>
          <a:p>
            <a:pPr>
              <a:lnSpc>
                <a:spcPct val="80000"/>
              </a:lnSpc>
              <a:spcBef>
                <a:spcPts val="600"/>
              </a:spcBef>
              <a:buFontTx/>
              <a:buNone/>
            </a:pPr>
            <a:r>
              <a:rPr lang="en-IN" sz="2200" noProof="1" smtClean="0">
                <a:solidFill>
                  <a:schemeClr val="bg1"/>
                </a:solidFill>
                <a:latin typeface="Prestige Elite"/>
              </a:rPr>
              <a:t>Output:</a:t>
            </a:r>
          </a:p>
          <a:p>
            <a:pPr>
              <a:lnSpc>
                <a:spcPct val="80000"/>
              </a:lnSpc>
              <a:spcBef>
                <a:spcPts val="600"/>
              </a:spcBef>
              <a:buFontTx/>
              <a:buNone/>
            </a:pPr>
            <a:r>
              <a:rPr lang="en-IN" sz="2200" noProof="1" smtClean="0">
                <a:solidFill>
                  <a:schemeClr val="bg1"/>
                </a:solidFill>
                <a:latin typeface="Prestige Elite"/>
              </a:rPr>
              <a:t>File opened successfully.</a:t>
            </a:r>
          </a:p>
          <a:p>
            <a:pPr>
              <a:lnSpc>
                <a:spcPct val="80000"/>
              </a:lnSpc>
              <a:spcBef>
                <a:spcPts val="600"/>
              </a:spcBef>
              <a:buFontTx/>
              <a:buNone/>
            </a:pPr>
            <a:r>
              <a:rPr lang="en-IN" sz="2200" noProof="1" smtClean="0">
                <a:solidFill>
                  <a:schemeClr val="bg1"/>
                </a:solidFill>
                <a:latin typeface="Prestige Elite"/>
              </a:rPr>
              <a:t>Now writing information to the file.</a:t>
            </a:r>
          </a:p>
          <a:p>
            <a:pPr>
              <a:spcBef>
                <a:spcPts val="600"/>
              </a:spcBef>
              <a:buFontTx/>
              <a:buNone/>
            </a:pPr>
            <a:r>
              <a:rPr lang="en-IN" sz="2200" noProof="1" smtClean="0">
                <a:solidFill>
                  <a:schemeClr val="bg1"/>
                </a:solidFill>
                <a:latin typeface="Prestige Elite"/>
              </a:rPr>
              <a:t>Done.</a:t>
            </a:r>
            <a:endParaRPr lang="en-IN" sz="2200" dirty="0">
              <a:solidFill>
                <a:schemeClr val="bg1"/>
              </a:solidFill>
            </a:endParaRPr>
          </a:p>
        </p:txBody>
      </p:sp>
    </p:spTree>
    <p:extLst>
      <p:ext uri="{BB962C8B-B14F-4D97-AF65-F5344CB8AC3E}">
        <p14:creationId xmlns:p14="http://schemas.microsoft.com/office/powerpoint/2010/main" xmlns="" val="380025508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p:txBody>
          <a:bodyPr/>
          <a:lstStyle/>
          <a:p>
            <a:r>
              <a:rPr lang="en-US" dirty="0" smtClean="0"/>
              <a:t>Example </a:t>
            </a:r>
            <a:endParaRPr lang="en-US" dirty="0"/>
          </a:p>
        </p:txBody>
      </p:sp>
      <p:sp>
        <p:nvSpPr>
          <p:cNvPr id="44035" name="Rectangle 3"/>
          <p:cNvSpPr>
            <a:spLocks noGrp="1" noChangeArrowheads="1"/>
          </p:cNvSpPr>
          <p:nvPr>
            <p:ph type="body" idx="1"/>
          </p:nvPr>
        </p:nvSpPr>
        <p:spPr>
          <a:xfrm>
            <a:off x="72000" y="1237341"/>
            <a:ext cx="9000000" cy="5484134"/>
          </a:xfrm>
        </p:spPr>
        <p:txBody>
          <a:bodyPr>
            <a:noAutofit/>
          </a:bodyPr>
          <a:lstStyle/>
          <a:p>
            <a:pPr marL="0" indent="0">
              <a:buNone/>
            </a:pPr>
            <a:r>
              <a:rPr lang="en-IN" sz="2200" dirty="0" smtClean="0">
                <a:solidFill>
                  <a:schemeClr val="accent1"/>
                </a:solidFill>
                <a:latin typeface="Prestige Elite"/>
              </a:rPr>
              <a:t>This program writes information to a file, closes the file, then reopens it and appends more information.</a:t>
            </a:r>
          </a:p>
          <a:p>
            <a:pPr marL="457200" indent="-457200">
              <a:buFont typeface="+mj-lt"/>
              <a:buAutoNum type="arabicPeriod"/>
            </a:pPr>
            <a:r>
              <a:rPr lang="en-US" sz="1800" dirty="0" smtClean="0">
                <a:latin typeface="Prestige Elite"/>
              </a:rPr>
              <a:t>#include &lt;</a:t>
            </a:r>
            <a:r>
              <a:rPr lang="en-US" sz="1800" dirty="0" err="1" smtClean="0">
                <a:latin typeface="Prestige Elite"/>
              </a:rPr>
              <a:t>iostream</a:t>
            </a:r>
            <a:r>
              <a:rPr lang="en-US" sz="1800" dirty="0" smtClean="0">
                <a:latin typeface="Prestige Elite"/>
              </a:rPr>
              <a:t>&gt;</a:t>
            </a:r>
          </a:p>
          <a:p>
            <a:pPr marL="457200" indent="-457200">
              <a:buFont typeface="+mj-lt"/>
              <a:buAutoNum type="arabicPeriod"/>
            </a:pPr>
            <a:r>
              <a:rPr lang="en-US" sz="1800" dirty="0" smtClean="0">
                <a:latin typeface="Prestige Elite"/>
              </a:rPr>
              <a:t>#include &lt;</a:t>
            </a:r>
            <a:r>
              <a:rPr lang="en-US" sz="1800" dirty="0" err="1" smtClean="0">
                <a:latin typeface="Prestige Elite"/>
              </a:rPr>
              <a:t>fstream</a:t>
            </a:r>
            <a:r>
              <a:rPr lang="en-US" sz="1800" dirty="0" smtClean="0">
                <a:latin typeface="Prestige Elite"/>
              </a:rPr>
              <a:t>&gt;</a:t>
            </a:r>
          </a:p>
          <a:p>
            <a:pPr marL="457200" indent="-457200">
              <a:buFont typeface="+mj-lt"/>
              <a:buAutoNum type="arabicPeriod"/>
            </a:pPr>
            <a:r>
              <a:rPr lang="en-US" sz="1800" dirty="0" smtClean="0">
                <a:latin typeface="Prestige Elite"/>
              </a:rPr>
              <a:t>using namespace </a:t>
            </a:r>
            <a:r>
              <a:rPr lang="en-US" sz="1800" dirty="0" err="1" smtClean="0">
                <a:latin typeface="Prestige Elite"/>
              </a:rPr>
              <a:t>std</a:t>
            </a:r>
            <a:r>
              <a:rPr lang="en-US" sz="1800" dirty="0" smtClean="0">
                <a:latin typeface="Prestige Elite"/>
              </a:rPr>
              <a:t>;</a:t>
            </a:r>
          </a:p>
          <a:p>
            <a:pPr marL="457200" indent="-457200">
              <a:buFont typeface="+mj-lt"/>
              <a:buAutoNum type="arabicPeriod"/>
            </a:pPr>
            <a:r>
              <a:rPr lang="en-US" sz="1800" dirty="0" err="1" smtClean="0">
                <a:latin typeface="Prestige Elite"/>
              </a:rPr>
              <a:t>int</a:t>
            </a:r>
            <a:r>
              <a:rPr lang="en-US" sz="1800" dirty="0" smtClean="0">
                <a:latin typeface="Prestige Elite"/>
              </a:rPr>
              <a:t> main()</a:t>
            </a:r>
          </a:p>
          <a:p>
            <a:pPr marL="457200" indent="-457200">
              <a:buFont typeface="+mj-lt"/>
              <a:buAutoNum type="arabicPeriod"/>
            </a:pPr>
            <a:r>
              <a:rPr lang="en-US" sz="1800" dirty="0" smtClean="0">
                <a:latin typeface="Prestige Elite"/>
              </a:rPr>
              <a:t>{	</a:t>
            </a:r>
            <a:r>
              <a:rPr lang="en-US" sz="1800" dirty="0" err="1" smtClean="0">
                <a:latin typeface="Prestige Elite"/>
              </a:rPr>
              <a:t>fstream</a:t>
            </a:r>
            <a:r>
              <a:rPr lang="en-US" sz="1800" dirty="0" smtClean="0">
                <a:latin typeface="Prestige Elite"/>
              </a:rPr>
              <a:t> </a:t>
            </a:r>
            <a:r>
              <a:rPr lang="en-US" sz="1800" dirty="0" err="1" smtClean="0">
                <a:latin typeface="Prestige Elite"/>
              </a:rPr>
              <a:t>dataFile</a:t>
            </a:r>
            <a:r>
              <a:rPr lang="en-US" sz="1800" dirty="0" smtClean="0">
                <a:latin typeface="Prestige Elite"/>
              </a:rPr>
              <a:t>;</a:t>
            </a:r>
          </a:p>
          <a:p>
            <a:pPr marL="457200" indent="-457200">
              <a:buFont typeface="+mj-lt"/>
              <a:buAutoNum type="arabicPeriod"/>
            </a:pPr>
            <a:r>
              <a:rPr lang="en-US" sz="1800" dirty="0" smtClean="0">
                <a:latin typeface="Prestige Elite"/>
              </a:rPr>
              <a:t>	</a:t>
            </a:r>
            <a:r>
              <a:rPr lang="en-US" sz="1800" dirty="0" err="1" smtClean="0">
                <a:latin typeface="Prestige Elite"/>
              </a:rPr>
              <a:t>dataFile.open</a:t>
            </a:r>
            <a:r>
              <a:rPr lang="en-US" sz="1800" dirty="0" smtClean="0">
                <a:latin typeface="Prestige Elite"/>
              </a:rPr>
              <a:t>("demofile.txt", </a:t>
            </a:r>
            <a:r>
              <a:rPr lang="en-US" sz="1800" dirty="0" err="1" smtClean="0">
                <a:latin typeface="Prestige Elite"/>
              </a:rPr>
              <a:t>ios</a:t>
            </a:r>
            <a:r>
              <a:rPr lang="en-US" sz="1800" dirty="0" smtClean="0">
                <a:latin typeface="Prestige Elite"/>
              </a:rPr>
              <a:t>::out);</a:t>
            </a:r>
          </a:p>
          <a:p>
            <a:pPr marL="457200" indent="-457200">
              <a:buFont typeface="+mj-lt"/>
              <a:buAutoNum type="arabicPeriod"/>
            </a:pPr>
            <a:r>
              <a:rPr lang="en-US" sz="1800" dirty="0" smtClean="0">
                <a:latin typeface="Prestige Elite"/>
              </a:rPr>
              <a:t>	</a:t>
            </a:r>
            <a:r>
              <a:rPr lang="en-US" sz="1800" dirty="0" err="1" smtClean="0">
                <a:latin typeface="Prestige Elite"/>
              </a:rPr>
              <a:t>dataFile</a:t>
            </a:r>
            <a:r>
              <a:rPr lang="en-US" sz="1800" dirty="0" smtClean="0">
                <a:latin typeface="Prestige Elite"/>
              </a:rPr>
              <a:t> &lt;&lt; "Jones\n";</a:t>
            </a:r>
          </a:p>
          <a:p>
            <a:pPr marL="457200" indent="-457200">
              <a:buFont typeface="+mj-lt"/>
              <a:buAutoNum type="arabicPeriod"/>
            </a:pPr>
            <a:r>
              <a:rPr lang="en-US" sz="1800" dirty="0" smtClean="0">
                <a:latin typeface="Prestige Elite"/>
              </a:rPr>
              <a:t>	</a:t>
            </a:r>
            <a:r>
              <a:rPr lang="en-US" sz="1800" dirty="0" err="1" smtClean="0">
                <a:latin typeface="Prestige Elite"/>
              </a:rPr>
              <a:t>dataFile</a:t>
            </a:r>
            <a:r>
              <a:rPr lang="en-US" sz="1800" dirty="0" smtClean="0">
                <a:latin typeface="Prestige Elite"/>
              </a:rPr>
              <a:t> &lt;&lt; "Smith\n";</a:t>
            </a:r>
          </a:p>
          <a:p>
            <a:pPr marL="457200" indent="-457200">
              <a:buFont typeface="+mj-lt"/>
              <a:buAutoNum type="arabicPeriod"/>
            </a:pPr>
            <a:r>
              <a:rPr lang="en-US" sz="1800" dirty="0" smtClean="0">
                <a:latin typeface="Prestige Elite"/>
              </a:rPr>
              <a:t>	</a:t>
            </a:r>
            <a:r>
              <a:rPr lang="en-US" sz="1800" dirty="0" err="1" smtClean="0">
                <a:latin typeface="Prestige Elite"/>
              </a:rPr>
              <a:t>dataFile.close</a:t>
            </a:r>
            <a:r>
              <a:rPr lang="en-US" sz="1800" dirty="0" smtClean="0">
                <a:latin typeface="Prestige Elite"/>
              </a:rPr>
              <a:t>();</a:t>
            </a:r>
          </a:p>
          <a:p>
            <a:pPr marL="457200" indent="-457200">
              <a:buFont typeface="+mj-lt"/>
              <a:buAutoNum type="arabicPeriod"/>
            </a:pPr>
            <a:r>
              <a:rPr lang="en-US" sz="1800" dirty="0" err="1" smtClean="0">
                <a:latin typeface="Prestige Elite"/>
              </a:rPr>
              <a:t>dataFile.open</a:t>
            </a:r>
            <a:r>
              <a:rPr lang="en-US" sz="1800" dirty="0">
                <a:latin typeface="Prestige Elite"/>
              </a:rPr>
              <a:t>("demofile.txt", </a:t>
            </a:r>
            <a:r>
              <a:rPr lang="en-US" sz="1800" dirty="0" err="1">
                <a:latin typeface="Prestige Elite"/>
              </a:rPr>
              <a:t>ios</a:t>
            </a:r>
            <a:r>
              <a:rPr lang="en-US" sz="1800" dirty="0">
                <a:latin typeface="Prestige Elite"/>
              </a:rPr>
              <a:t>::app</a:t>
            </a:r>
            <a:r>
              <a:rPr lang="en-US" sz="1800" dirty="0" smtClean="0">
                <a:latin typeface="Prestige Elite"/>
              </a:rPr>
              <a:t>);</a:t>
            </a:r>
          </a:p>
          <a:p>
            <a:pPr marL="457200" indent="-457200">
              <a:buFont typeface="+mj-lt"/>
              <a:buAutoNum type="arabicPeriod"/>
            </a:pPr>
            <a:r>
              <a:rPr lang="en-US" sz="1800" dirty="0" err="1" smtClean="0">
                <a:latin typeface="Prestige Elite"/>
              </a:rPr>
              <a:t>dataFile</a:t>
            </a:r>
            <a:r>
              <a:rPr lang="en-US" sz="1800" dirty="0" smtClean="0">
                <a:latin typeface="Prestige Elite"/>
              </a:rPr>
              <a:t> </a:t>
            </a:r>
            <a:r>
              <a:rPr lang="en-US" sz="1800" dirty="0">
                <a:latin typeface="Prestige Elite"/>
              </a:rPr>
              <a:t>&lt;&lt; "Willis\n</a:t>
            </a:r>
            <a:r>
              <a:rPr lang="en-US" sz="1800" dirty="0" smtClean="0">
                <a:latin typeface="Prestige Elite"/>
              </a:rPr>
              <a:t>";</a:t>
            </a:r>
          </a:p>
          <a:p>
            <a:pPr marL="457200" indent="-457200">
              <a:buFont typeface="+mj-lt"/>
              <a:buAutoNum type="arabicPeriod"/>
            </a:pPr>
            <a:r>
              <a:rPr lang="en-US" sz="1800" dirty="0" err="1" smtClean="0">
                <a:latin typeface="Prestige Elite"/>
              </a:rPr>
              <a:t>dataFile</a:t>
            </a:r>
            <a:r>
              <a:rPr lang="en-US" sz="1800" dirty="0" smtClean="0">
                <a:latin typeface="Prestige Elite"/>
              </a:rPr>
              <a:t> </a:t>
            </a:r>
            <a:r>
              <a:rPr lang="en-US" sz="1800" dirty="0">
                <a:latin typeface="Prestige Elite"/>
              </a:rPr>
              <a:t>&lt;&lt; "Davis\n</a:t>
            </a:r>
            <a:r>
              <a:rPr lang="en-US" sz="1800" dirty="0" smtClean="0">
                <a:latin typeface="Prestige Elite"/>
              </a:rPr>
              <a:t>";</a:t>
            </a:r>
          </a:p>
          <a:p>
            <a:pPr marL="457200" indent="-457200">
              <a:buFont typeface="+mj-lt"/>
              <a:buAutoNum type="arabicPeriod"/>
            </a:pPr>
            <a:r>
              <a:rPr lang="en-US" sz="1800" dirty="0" err="1" smtClean="0">
                <a:latin typeface="Prestige Elite"/>
              </a:rPr>
              <a:t>dataFile.close</a:t>
            </a:r>
            <a:r>
              <a:rPr lang="en-US" sz="1800" dirty="0" smtClean="0">
                <a:latin typeface="Prestige Elite"/>
              </a:rPr>
              <a:t>();</a:t>
            </a:r>
          </a:p>
          <a:p>
            <a:pPr marL="457200" indent="-457200">
              <a:buFont typeface="+mj-lt"/>
              <a:buAutoNum type="arabicPeriod"/>
            </a:pPr>
            <a:r>
              <a:rPr lang="en-US" sz="1800" dirty="0" smtClean="0">
                <a:latin typeface="Prestige Elite"/>
              </a:rPr>
              <a:t>return </a:t>
            </a:r>
            <a:r>
              <a:rPr lang="en-US" sz="1800" dirty="0">
                <a:latin typeface="Prestige Elite"/>
              </a:rPr>
              <a:t>0;	}</a:t>
            </a:r>
          </a:p>
          <a:p>
            <a:pPr marL="457200" indent="-457200">
              <a:buFont typeface="+mj-lt"/>
              <a:buAutoNum type="arabicPeriod"/>
            </a:pPr>
            <a:endParaRPr lang="en-US" sz="2200" dirty="0" smtClean="0">
              <a:latin typeface="Prestige Elite"/>
            </a:endParaRPr>
          </a:p>
        </p:txBody>
      </p:sp>
      <p:sp>
        <p:nvSpPr>
          <p:cNvPr id="4" name="Slide Number Placeholder 5"/>
          <p:cNvSpPr>
            <a:spLocks noGrp="1"/>
          </p:cNvSpPr>
          <p:nvPr>
            <p:ph type="sldNum" sz="quarter" idx="12"/>
          </p:nvPr>
        </p:nvSpPr>
        <p:spPr/>
        <p:txBody>
          <a:bodyPr/>
          <a:lstStyle/>
          <a:p>
            <a:fld id="{857101F5-BC67-4FDA-8F15-53E63B364563}" type="slidenum">
              <a:rPr lang="en-US" smtClean="0"/>
              <a:pPr/>
              <a:t>15</a:t>
            </a:fld>
            <a:endParaRPr lang="en-US"/>
          </a:p>
        </p:txBody>
      </p:sp>
    </p:spTree>
    <p:extLst>
      <p:ext uri="{BB962C8B-B14F-4D97-AF65-F5344CB8AC3E}">
        <p14:creationId xmlns:p14="http://schemas.microsoft.com/office/powerpoint/2010/main" xmlns="" val="35714490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Grp="1" noChangeArrowheads="1"/>
          </p:cNvSpPr>
          <p:nvPr>
            <p:ph type="title"/>
          </p:nvPr>
        </p:nvSpPr>
        <p:spPr/>
        <p:txBody>
          <a:bodyPr>
            <a:normAutofit/>
          </a:bodyPr>
          <a:lstStyle/>
          <a:p>
            <a:r>
              <a:rPr lang="en-US" dirty="0" smtClean="0"/>
              <a:t>Read from file</a:t>
            </a:r>
            <a:endParaRPr lang="en-US" dirty="0"/>
          </a:p>
        </p:txBody>
      </p:sp>
      <p:sp>
        <p:nvSpPr>
          <p:cNvPr id="54275" name="Rectangle 3"/>
          <p:cNvSpPr>
            <a:spLocks noGrp="1" noChangeArrowheads="1"/>
          </p:cNvSpPr>
          <p:nvPr>
            <p:ph type="body" idx="1"/>
          </p:nvPr>
        </p:nvSpPr>
        <p:spPr/>
        <p:txBody>
          <a:bodyPr/>
          <a:lstStyle/>
          <a:p>
            <a:r>
              <a:rPr lang="en-US" dirty="0" smtClean="0"/>
              <a:t>The stream extraction operator (&gt;&gt;) may be used to read information from a file.</a:t>
            </a:r>
            <a:endParaRPr lang="en-US" dirty="0"/>
          </a:p>
        </p:txBody>
      </p:sp>
      <p:sp>
        <p:nvSpPr>
          <p:cNvPr id="4" name="Slide Number Placeholder 5"/>
          <p:cNvSpPr>
            <a:spLocks noGrp="1"/>
          </p:cNvSpPr>
          <p:nvPr>
            <p:ph type="sldNum" sz="quarter" idx="12"/>
          </p:nvPr>
        </p:nvSpPr>
        <p:spPr/>
        <p:txBody>
          <a:bodyPr/>
          <a:lstStyle/>
          <a:p>
            <a:fld id="{1D7812CC-4FC1-46BA-A052-E8AFEF0A45E4}" type="slidenum">
              <a:rPr lang="en-US" smtClean="0"/>
              <a:pPr/>
              <a:t>16</a:t>
            </a:fld>
            <a:endParaRPr lang="en-US"/>
          </a:p>
        </p:txBody>
      </p:sp>
    </p:spTree>
    <p:extLst>
      <p:ext uri="{BB962C8B-B14F-4D97-AF65-F5344CB8AC3E}">
        <p14:creationId xmlns:p14="http://schemas.microsoft.com/office/powerpoint/2010/main" xmlns="" val="1967380432"/>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010EA726-6D83-4467-A561-69C7EB875905}" type="slidenum">
              <a:rPr lang="en-US" smtClean="0"/>
              <a:pPr/>
              <a:t>17</a:t>
            </a:fld>
            <a:endParaRPr lang="en-US"/>
          </a:p>
        </p:txBody>
      </p:sp>
      <p:sp>
        <p:nvSpPr>
          <p:cNvPr id="56322" name="Rectangle 2"/>
          <p:cNvSpPr>
            <a:spLocks noGrp="1" noChangeArrowheads="1"/>
          </p:cNvSpPr>
          <p:nvPr>
            <p:ph type="title"/>
          </p:nvPr>
        </p:nvSpPr>
        <p:spPr>
          <a:xfrm>
            <a:off x="609600" y="381000"/>
            <a:ext cx="7772400" cy="609600"/>
          </a:xfrm>
        </p:spPr>
        <p:txBody>
          <a:bodyPr>
            <a:normAutofit fontScale="90000"/>
          </a:bodyPr>
          <a:lstStyle/>
          <a:p>
            <a:r>
              <a:rPr lang="en-US" dirty="0" smtClean="0"/>
              <a:t>Example </a:t>
            </a:r>
            <a:endParaRPr lang="en-US" dirty="0"/>
          </a:p>
        </p:txBody>
      </p:sp>
      <p:sp>
        <p:nvSpPr>
          <p:cNvPr id="6" name="Rectangle 3"/>
          <p:cNvSpPr txBox="1">
            <a:spLocks noChangeArrowheads="1"/>
          </p:cNvSpPr>
          <p:nvPr/>
        </p:nvSpPr>
        <p:spPr>
          <a:xfrm>
            <a:off x="4355976" y="1470320"/>
            <a:ext cx="4212000" cy="2142125"/>
          </a:xfrm>
          <a:prstGeom prst="rect">
            <a:avLst/>
          </a:prstGeom>
          <a:solidFill>
            <a:schemeClr val="tx1">
              <a:lumMod val="75000"/>
              <a:lumOff val="25000"/>
            </a:schemeClr>
          </a:solidFill>
          <a:ln>
            <a:solidFill>
              <a:schemeClr val="tx1"/>
            </a:solidFill>
          </a:ln>
        </p:spPr>
        <p:txBody>
          <a:bodyPr vert="horz" lIns="91440" tIns="45720" rIns="91440" bIns="45720" rtlCol="0">
            <a:spAutoFit/>
          </a:bodyPr>
          <a:lstStyle/>
          <a:p>
            <a:pPr marL="342900" marR="0" lvl="0" indent="-342900" algn="l" defTabSz="914400" rtl="0" eaLnBrk="1" fontAlgn="auto" latinLnBrk="0" hangingPunct="1">
              <a:lnSpc>
                <a:spcPct val="80000"/>
              </a:lnSpc>
              <a:spcAft>
                <a:spcPts val="0"/>
              </a:spcAft>
              <a:buClrTx/>
              <a:buSzTx/>
              <a:buFontTx/>
              <a:buNone/>
              <a:tabLst/>
              <a:defRPr/>
            </a:pPr>
            <a:r>
              <a:rPr kumimoji="0" lang="en-US" b="0" i="0" u="none" strike="noStrike" kern="1200" cap="none" spc="0" normalizeH="0" baseline="0" noProof="1" smtClean="0">
                <a:ln>
                  <a:noFill/>
                </a:ln>
                <a:solidFill>
                  <a:schemeClr val="bg1"/>
                </a:solidFill>
                <a:effectLst/>
                <a:uLnTx/>
                <a:uFillTx/>
                <a:latin typeface="Prestige Elite"/>
                <a:ea typeface="+mn-ea"/>
                <a:cs typeface="+mn-cs"/>
              </a:rPr>
              <a:t>Output:</a:t>
            </a:r>
          </a:p>
          <a:p>
            <a:pPr marL="342900" marR="0" lvl="0" indent="-342900" algn="l" defTabSz="914400" rtl="0" eaLnBrk="1" fontAlgn="auto" latinLnBrk="0" hangingPunct="1">
              <a:lnSpc>
                <a:spcPct val="80000"/>
              </a:lnSpc>
              <a:spcAft>
                <a:spcPts val="0"/>
              </a:spcAft>
              <a:buClrTx/>
              <a:buSzTx/>
              <a:buFontTx/>
              <a:buNone/>
              <a:tabLst/>
              <a:defRPr/>
            </a:pPr>
            <a:endParaRPr kumimoji="0" lang="en-IN" b="0" i="0" u="none" strike="noStrike" kern="1200" cap="none" spc="0" normalizeH="0" baseline="0" noProof="1" smtClean="0">
              <a:ln>
                <a:noFill/>
              </a:ln>
              <a:solidFill>
                <a:schemeClr val="bg1"/>
              </a:solidFill>
              <a:effectLst/>
              <a:uLnTx/>
              <a:uFillTx/>
              <a:latin typeface="Prestige Elite"/>
              <a:ea typeface="+mn-ea"/>
              <a:cs typeface="+mn-cs"/>
            </a:endParaRPr>
          </a:p>
          <a:p>
            <a:pPr marL="342900" marR="0" lvl="0" indent="-342900" algn="l" defTabSz="914400" rtl="0" eaLnBrk="1" fontAlgn="auto" latinLnBrk="0" hangingPunct="1">
              <a:lnSpc>
                <a:spcPct val="8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File opened successfully.</a:t>
            </a:r>
          </a:p>
          <a:p>
            <a:pPr marL="342900" marR="0" lvl="0" indent="-342900" algn="l" defTabSz="914400" rtl="0" eaLnBrk="1" fontAlgn="auto" latinLnBrk="0" hangingPunct="1">
              <a:lnSpc>
                <a:spcPct val="8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Now reading information from the file.</a:t>
            </a:r>
          </a:p>
          <a:p>
            <a:pPr marL="342900" marR="0" lvl="0" indent="-342900" algn="l" defTabSz="914400" rtl="0" eaLnBrk="1" fontAlgn="auto" latinLnBrk="0" hangingPunct="1">
              <a:lnSpc>
                <a:spcPct val="8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Jones</a:t>
            </a:r>
          </a:p>
          <a:p>
            <a:pPr marL="342900" marR="0" lvl="0" indent="-342900" algn="l" defTabSz="914400" rtl="0" eaLnBrk="1" fontAlgn="auto" latinLnBrk="0" hangingPunct="1">
              <a:lnSpc>
                <a:spcPct val="8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Smith</a:t>
            </a:r>
          </a:p>
          <a:p>
            <a:pPr marL="342900" marR="0" lvl="0" indent="-342900" algn="l" defTabSz="914400" rtl="0" eaLnBrk="1" fontAlgn="auto" latinLnBrk="0" hangingPunct="1">
              <a:lnSpc>
                <a:spcPct val="8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Willis</a:t>
            </a:r>
          </a:p>
          <a:p>
            <a:pPr marL="342900" marR="0" lvl="0" indent="-342900" algn="l" defTabSz="914400" rtl="0" eaLnBrk="1" fontAlgn="auto" latinLnBrk="0" hangingPunct="1">
              <a:lnSpc>
                <a:spcPct val="8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Davis</a:t>
            </a:r>
          </a:p>
          <a:p>
            <a:pPr marL="342900" marR="0" lvl="0" indent="-342900" algn="l" defTabSz="914400" rtl="0" eaLnBrk="1" fontAlgn="auto" latinLnBrk="0" hangingPunct="1">
              <a:lnSpc>
                <a:spcPct val="100000"/>
              </a:lnSpc>
              <a:spcAft>
                <a:spcPts val="0"/>
              </a:spcAft>
              <a:buClrTx/>
              <a:buSzTx/>
              <a:buFontTx/>
              <a:buNone/>
              <a:tabLst/>
              <a:defRPr/>
            </a:pPr>
            <a:r>
              <a:rPr kumimoji="0" lang="en-IN" b="0" i="0" u="none" strike="noStrike" kern="1200" cap="none" spc="0" normalizeH="0" baseline="0" noProof="1" smtClean="0">
                <a:ln>
                  <a:noFill/>
                </a:ln>
                <a:solidFill>
                  <a:schemeClr val="bg1"/>
                </a:solidFill>
                <a:effectLst/>
                <a:uLnTx/>
                <a:uFillTx/>
                <a:latin typeface="Prestige Elite"/>
                <a:ea typeface="+mn-ea"/>
                <a:cs typeface="+mn-cs"/>
              </a:rPr>
              <a:t>Done.</a:t>
            </a:r>
            <a:endParaRPr kumimoji="0" lang="en-IN" b="0" i="0" u="none" strike="noStrike" kern="1200" cap="none" spc="0" normalizeH="0" baseline="0" noProof="1">
              <a:ln>
                <a:noFill/>
              </a:ln>
              <a:solidFill>
                <a:schemeClr val="bg1"/>
              </a:solidFill>
              <a:effectLst/>
              <a:uLnTx/>
              <a:uFillTx/>
              <a:latin typeface="Prestige Elite"/>
              <a:ea typeface="+mn-ea"/>
              <a:cs typeface="+mn-cs"/>
            </a:endParaRPr>
          </a:p>
        </p:txBody>
      </p:sp>
      <p:sp>
        <p:nvSpPr>
          <p:cNvPr id="8" name="Rectangle 3"/>
          <p:cNvSpPr txBox="1">
            <a:spLocks noChangeArrowheads="1"/>
          </p:cNvSpPr>
          <p:nvPr/>
        </p:nvSpPr>
        <p:spPr>
          <a:xfrm>
            <a:off x="160899" y="1188583"/>
            <a:ext cx="9000000" cy="4800600"/>
          </a:xfrm>
          <a:prstGeom prst="rect">
            <a:avLst/>
          </a:prstGeom>
        </p:spPr>
        <p:txBody>
          <a:bodyPr vert="horz" lIns="91440" tIns="45720" rIns="91440" bIns="45720" rtlCol="0">
            <a:noAutofit/>
          </a:bodyPr>
          <a:lstStyle/>
          <a:p>
            <a:pPr marR="0" lvl="0" algn="l" defTabSz="914400" rtl="0" eaLnBrk="1" fontAlgn="auto" latinLnBrk="0" hangingPunct="1">
              <a:lnSpc>
                <a:spcPct val="80000"/>
              </a:lnSpc>
              <a:spcBef>
                <a:spcPts val="300"/>
              </a:spcBef>
              <a:spcAft>
                <a:spcPts val="0"/>
              </a:spcAft>
              <a:buClrTx/>
              <a:buSzTx/>
              <a:tabLst/>
              <a:defRPr/>
            </a:pPr>
            <a:r>
              <a:rPr kumimoji="0" lang="en-IN" sz="2200" b="0" i="0" u="none" strike="noStrike" kern="1200" cap="none" spc="0" normalizeH="0" baseline="0" noProof="1" smtClean="0">
                <a:ln>
                  <a:noFill/>
                </a:ln>
                <a:solidFill>
                  <a:schemeClr val="accent1"/>
                </a:solidFill>
                <a:effectLst/>
                <a:uLnTx/>
                <a:uFillTx/>
                <a:latin typeface="Prestige Elite"/>
                <a:ea typeface="+mn-ea"/>
                <a:cs typeface="+mn-cs"/>
              </a:rPr>
              <a:t>This program uses the &gt;&gt; operator to read information from a file.</a:t>
            </a:r>
          </a:p>
          <a:p>
            <a:pPr marR="0" lvl="0" algn="l" defTabSz="914400" rtl="0" eaLnBrk="1" fontAlgn="auto" latinLnBrk="0" hangingPunct="1">
              <a:lnSpc>
                <a:spcPct val="80000"/>
              </a:lnSpc>
              <a:spcBef>
                <a:spcPts val="300"/>
              </a:spcBef>
              <a:spcAft>
                <a:spcPts val="0"/>
              </a:spcAft>
              <a:buClrTx/>
              <a:buSzTx/>
              <a:tabLst/>
              <a:defRPr/>
            </a:pPr>
            <a:endParaRPr kumimoji="0" lang="en-IN" sz="2200" b="0" i="0" u="none" strike="noStrike" kern="1200" cap="none" spc="0" normalizeH="0" baseline="0" noProof="1" smtClean="0">
              <a:ln>
                <a:noFill/>
              </a:ln>
              <a:solidFill>
                <a:srgbClr val="000000"/>
              </a:solidFill>
              <a:effectLst/>
              <a:uLnTx/>
              <a:uFillTx/>
              <a:latin typeface="Prestige Elite"/>
              <a:ea typeface="+mn-ea"/>
              <a:cs typeface="+mn-cs"/>
            </a:endParaRP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#include &lt;iostream&gt; </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#include &lt;fstream&gt;</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using namespace std;</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int main()</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fstream dataFile;</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char name[81];</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dataFile.open("demofile.txt", ios::in);</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if (!dataFile)</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	cout &lt;&lt; "File open error!" &lt;&lt; endl;	return 0;	}</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cout &lt;&lt; "File opened successfully.\n";</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cout &lt;&lt; "Now reading information from the file.\n";</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for (int count = 0; count &lt; 4; count++)</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	dataFile &gt;&gt; name;	cout &lt;&lt; name &lt;&lt; endl;    }</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dataFile.close();</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cout &lt;&lt; "Done.\n";</a:t>
            </a:r>
          </a:p>
          <a:p>
            <a:pPr marL="457200" marR="0" lvl="0" indent="-457200" algn="l" defTabSz="914400" rtl="0" eaLnBrk="1" fontAlgn="auto" latinLnBrk="0" hangingPunct="1">
              <a:lnSpc>
                <a:spcPct val="80000"/>
              </a:lnSpc>
              <a:spcBef>
                <a:spcPts val="300"/>
              </a:spcBef>
              <a:spcAft>
                <a:spcPts val="0"/>
              </a:spcAft>
              <a:buClrTx/>
              <a:buSzTx/>
              <a:buFont typeface="+mj-lt"/>
              <a:buAutoNum type="arabicPeriod"/>
              <a:tabLst/>
              <a:defRPr/>
            </a:pPr>
            <a:r>
              <a:rPr kumimoji="0" lang="en-IN" sz="2200" b="0" i="0" u="none" strike="noStrike" kern="1200" cap="none" spc="0" normalizeH="0" baseline="0" noProof="1" smtClean="0">
                <a:ln>
                  <a:noFill/>
                </a:ln>
                <a:solidFill>
                  <a:srgbClr val="000000"/>
                </a:solidFill>
                <a:effectLst/>
                <a:uLnTx/>
                <a:uFillTx/>
                <a:latin typeface="Prestige Elite"/>
                <a:ea typeface="+mn-ea"/>
                <a:cs typeface="+mn-cs"/>
              </a:rPr>
              <a:t>	return 0;	}</a:t>
            </a:r>
          </a:p>
        </p:txBody>
      </p:sp>
    </p:spTree>
    <p:extLst>
      <p:ext uri="{BB962C8B-B14F-4D97-AF65-F5344CB8AC3E}">
        <p14:creationId xmlns:p14="http://schemas.microsoft.com/office/powerpoint/2010/main" xmlns="" val="2622489227"/>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213EEFD4-0CD1-44B4-8050-B42AC7E66751}" type="slidenum">
              <a:rPr lang="en-US"/>
              <a:pPr/>
              <a:t>18</a:t>
            </a:fld>
            <a:endParaRPr lang="en-US"/>
          </a:p>
        </p:txBody>
      </p:sp>
      <p:sp>
        <p:nvSpPr>
          <p:cNvPr id="58370" name="Rectangle 2"/>
          <p:cNvSpPr>
            <a:spLocks noGrp="1" noChangeArrowheads="1"/>
          </p:cNvSpPr>
          <p:nvPr>
            <p:ph type="title"/>
          </p:nvPr>
        </p:nvSpPr>
        <p:spPr/>
        <p:txBody>
          <a:bodyPr/>
          <a:lstStyle/>
          <a:p>
            <a:r>
              <a:rPr lang="en-US" dirty="0" smtClean="0"/>
              <a:t>Detecting </a:t>
            </a:r>
            <a:r>
              <a:rPr lang="en-US" dirty="0"/>
              <a:t>the End of a File</a:t>
            </a:r>
          </a:p>
        </p:txBody>
      </p:sp>
      <p:sp>
        <p:nvSpPr>
          <p:cNvPr id="58371" name="Rectangle 3"/>
          <p:cNvSpPr>
            <a:spLocks noGrp="1" noChangeArrowheads="1"/>
          </p:cNvSpPr>
          <p:nvPr>
            <p:ph type="body" idx="1"/>
          </p:nvPr>
        </p:nvSpPr>
        <p:spPr/>
        <p:txBody>
          <a:bodyPr>
            <a:normAutofit/>
          </a:bodyPr>
          <a:lstStyle/>
          <a:p>
            <a:pPr algn="just"/>
            <a:r>
              <a:rPr lang="en-US" dirty="0"/>
              <a:t>The </a:t>
            </a:r>
            <a:r>
              <a:rPr lang="en-US" dirty="0" err="1">
                <a:latin typeface="Courier New" pitchFamily="49" charset="0"/>
              </a:rPr>
              <a:t>eof</a:t>
            </a:r>
            <a:r>
              <a:rPr lang="en-US" dirty="0">
                <a:latin typeface="Courier New" pitchFamily="49" charset="0"/>
              </a:rPr>
              <a:t>()</a:t>
            </a:r>
            <a:r>
              <a:rPr lang="en-US" dirty="0"/>
              <a:t> member function reports when the end of a file has been encountered</a:t>
            </a:r>
            <a:r>
              <a:rPr lang="en-US" dirty="0" smtClean="0"/>
              <a:t>.</a:t>
            </a:r>
          </a:p>
          <a:p>
            <a:pPr algn="just"/>
            <a:endParaRPr lang="en-US" sz="2400" dirty="0" smtClean="0"/>
          </a:p>
          <a:p>
            <a:pPr lvl="2" algn="just">
              <a:buFontTx/>
              <a:buNone/>
            </a:pPr>
            <a:r>
              <a:rPr lang="en-US" dirty="0" smtClean="0">
                <a:latin typeface="Courier New" pitchFamily="49" charset="0"/>
              </a:rPr>
              <a:t>if (inFile.eof())</a:t>
            </a:r>
          </a:p>
          <a:p>
            <a:pPr lvl="2" algn="just">
              <a:buFontTx/>
              <a:buNone/>
            </a:pPr>
            <a:r>
              <a:rPr lang="en-US" dirty="0" smtClean="0">
                <a:latin typeface="Courier New" pitchFamily="49" charset="0"/>
              </a:rPr>
              <a:t>    </a:t>
            </a:r>
            <a:r>
              <a:rPr lang="en-US" dirty="0" err="1">
                <a:latin typeface="Courier New" pitchFamily="49" charset="0"/>
              </a:rPr>
              <a:t>inFile.close</a:t>
            </a:r>
            <a:r>
              <a:rPr lang="en-US" dirty="0" smtClean="0">
                <a:latin typeface="Courier New" pitchFamily="49" charset="0"/>
              </a:rPr>
              <a:t>();</a:t>
            </a:r>
          </a:p>
          <a:p>
            <a:pPr lvl="2" algn="just">
              <a:buFontTx/>
              <a:buNone/>
            </a:pPr>
            <a:endParaRPr lang="en-US" dirty="0" smtClean="0">
              <a:latin typeface="Courier New" pitchFamily="49" charset="0"/>
            </a:endParaRPr>
          </a:p>
          <a:p>
            <a:pPr algn="just"/>
            <a:r>
              <a:rPr lang="en-US" dirty="0" smtClean="0"/>
              <a:t>In C++, “end of file” doesn’t mean the program is at the last piece of information in the file, but beyond it.  The </a:t>
            </a:r>
            <a:r>
              <a:rPr lang="en-US" dirty="0" err="1" smtClean="0">
                <a:latin typeface="Courier New" pitchFamily="49" charset="0"/>
              </a:rPr>
              <a:t>eof</a:t>
            </a:r>
            <a:r>
              <a:rPr lang="en-US" dirty="0" smtClean="0">
                <a:latin typeface="Courier New" pitchFamily="49" charset="0"/>
              </a:rPr>
              <a:t>()</a:t>
            </a:r>
            <a:r>
              <a:rPr lang="en-US" dirty="0" smtClean="0"/>
              <a:t> function returns true when there is no more information to be read.</a:t>
            </a:r>
          </a:p>
        </p:txBody>
      </p:sp>
    </p:spTree>
    <p:extLst>
      <p:ext uri="{BB962C8B-B14F-4D97-AF65-F5344CB8AC3E}">
        <p14:creationId xmlns:p14="http://schemas.microsoft.com/office/powerpoint/2010/main" xmlns="" val="1706634086"/>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Rectangle 2"/>
          <p:cNvSpPr>
            <a:spLocks noGrp="1" noChangeArrowheads="1"/>
          </p:cNvSpPr>
          <p:nvPr>
            <p:ph type="title"/>
          </p:nvPr>
        </p:nvSpPr>
        <p:spPr/>
        <p:txBody>
          <a:bodyPr/>
          <a:lstStyle/>
          <a:p>
            <a:r>
              <a:rPr lang="en-US" dirty="0" smtClean="0"/>
              <a:t>Example </a:t>
            </a:r>
            <a:endParaRPr lang="en-US" dirty="0"/>
          </a:p>
        </p:txBody>
      </p:sp>
      <p:sp>
        <p:nvSpPr>
          <p:cNvPr id="4" name="Slide Number Placeholder 5"/>
          <p:cNvSpPr>
            <a:spLocks noGrp="1"/>
          </p:cNvSpPr>
          <p:nvPr>
            <p:ph type="sldNum" sz="quarter" idx="12"/>
          </p:nvPr>
        </p:nvSpPr>
        <p:spPr/>
        <p:txBody>
          <a:bodyPr/>
          <a:lstStyle/>
          <a:p>
            <a:fld id="{FD7AEA44-A422-498D-8AFE-AF24CC3EE1A0}" type="slidenum">
              <a:rPr lang="en-US" smtClean="0"/>
              <a:pPr/>
              <a:t>19</a:t>
            </a:fld>
            <a:endParaRPr lang="en-US"/>
          </a:p>
        </p:txBody>
      </p:sp>
      <p:sp>
        <p:nvSpPr>
          <p:cNvPr id="9" name="Rectangle 3"/>
          <p:cNvSpPr txBox="1">
            <a:spLocks noChangeArrowheads="1"/>
          </p:cNvSpPr>
          <p:nvPr/>
        </p:nvSpPr>
        <p:spPr>
          <a:xfrm>
            <a:off x="72000" y="1052736"/>
            <a:ext cx="9000000" cy="4968552"/>
          </a:xfrm>
          <a:prstGeom prst="rect">
            <a:avLst/>
          </a:prstGeom>
        </p:spPr>
        <p:txBody>
          <a:bodyPr vert="horz" lIns="91440" tIns="45720" rIns="91440" bIns="45720" rtlCol="0">
            <a:noAutofit/>
          </a:bodyPr>
          <a:lstStyle/>
          <a:p>
            <a:pPr marR="0" lvl="0" algn="l" defTabSz="914400" rtl="0" eaLnBrk="1" fontAlgn="auto" latinLnBrk="0" hangingPunct="1">
              <a:lnSpc>
                <a:spcPct val="100000"/>
              </a:lnSpc>
              <a:spcBef>
                <a:spcPts val="0"/>
              </a:spcBef>
              <a:spcAft>
                <a:spcPts val="0"/>
              </a:spcAft>
              <a:buClrTx/>
              <a:buSzTx/>
              <a:tabLst/>
              <a:defRPr/>
            </a:pPr>
            <a:r>
              <a:rPr kumimoji="0" lang="en-IN" sz="2200" b="0" i="0" u="none" strike="noStrike" kern="1200" cap="none" spc="0" normalizeH="0" baseline="0" noProof="1" smtClean="0">
                <a:ln>
                  <a:noFill/>
                </a:ln>
                <a:solidFill>
                  <a:schemeClr val="tx1"/>
                </a:solidFill>
                <a:effectLst/>
                <a:uLnTx/>
                <a:uFillTx/>
                <a:latin typeface="+mn-lt"/>
                <a:ea typeface="+mn-ea"/>
                <a:cs typeface="+mn-cs"/>
              </a:rPr>
              <a:t> </a:t>
            </a:r>
            <a:r>
              <a:rPr kumimoji="0" lang="en-IN" sz="2200" b="0" i="0" u="none" strike="noStrike" kern="1200" cap="none" spc="0" normalizeH="0" baseline="0" noProof="1" smtClean="0">
                <a:ln>
                  <a:noFill/>
                </a:ln>
                <a:solidFill>
                  <a:schemeClr val="accent1"/>
                </a:solidFill>
                <a:effectLst/>
                <a:uLnTx/>
                <a:uFillTx/>
                <a:latin typeface="+mn-lt"/>
                <a:ea typeface="+mn-ea"/>
                <a:cs typeface="+mn-cs"/>
              </a:rPr>
              <a:t>This program uses the file stream object's eof()</a:t>
            </a:r>
            <a:r>
              <a:rPr kumimoji="0" lang="en-IN" sz="2200" b="0" i="0" u="none" strike="noStrike" kern="1200" cap="none" spc="0" normalizeH="0" noProof="1" smtClean="0">
                <a:ln>
                  <a:noFill/>
                </a:ln>
                <a:solidFill>
                  <a:schemeClr val="accent1"/>
                </a:solidFill>
                <a:effectLst/>
                <a:uLnTx/>
                <a:uFillTx/>
                <a:latin typeface="+mn-lt"/>
                <a:ea typeface="+mn-ea"/>
                <a:cs typeface="+mn-cs"/>
              </a:rPr>
              <a:t> </a:t>
            </a:r>
            <a:r>
              <a:rPr lang="en-IN" sz="2200" noProof="1" smtClean="0">
                <a:solidFill>
                  <a:schemeClr val="accent1"/>
                </a:solidFill>
              </a:rPr>
              <a:t>member function to detect the end of the file.</a:t>
            </a:r>
            <a:endParaRPr lang="en-IN" sz="2200" noProof="1" smtClean="0"/>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b="0" i="0" u="none" strike="noStrike" kern="1200" cap="none" spc="0" normalizeH="0" baseline="0" noProof="1" smtClean="0">
                <a:ln>
                  <a:noFill/>
                </a:ln>
                <a:solidFill>
                  <a:schemeClr val="tx1"/>
                </a:solidFill>
                <a:effectLst/>
                <a:uLnTx/>
                <a:uFillTx/>
                <a:latin typeface="+mn-lt"/>
                <a:ea typeface="+mn-ea"/>
                <a:cs typeface="+mn-cs"/>
              </a:rPr>
              <a:t>#include &lt;</a:t>
            </a:r>
            <a:r>
              <a:rPr kumimoji="0" lang="en-US" b="0" i="0" u="none" strike="noStrike" kern="1200" cap="none" spc="0" normalizeH="0" baseline="0" noProof="0" dirty="0" err="1" smtClean="0">
                <a:ln>
                  <a:noFill/>
                </a:ln>
                <a:solidFill>
                  <a:schemeClr val="tx1"/>
                </a:solidFill>
                <a:effectLst/>
                <a:uLnTx/>
                <a:uFillTx/>
                <a:latin typeface="+mn-lt"/>
                <a:ea typeface="+mn-ea"/>
                <a:cs typeface="+mn-cs"/>
              </a:rPr>
              <a:t>iostream</a:t>
            </a:r>
            <a:r>
              <a:rPr kumimoji="0" lang="en-US" b="0" i="0" u="none" strike="noStrike" kern="1200" cap="none" spc="0" normalizeH="0" baseline="0" noProof="1" smtClean="0">
                <a:ln>
                  <a:noFill/>
                </a:ln>
                <a:solidFill>
                  <a:schemeClr val="tx1"/>
                </a:solidFill>
                <a:effectLst/>
                <a:uLnTx/>
                <a:uFillTx/>
                <a:latin typeface="+mn-lt"/>
                <a:ea typeface="+mn-ea"/>
                <a:cs typeface="+mn-cs"/>
              </a:rPr>
              <a:t>&gt; </a:t>
            </a:r>
            <a:endParaRPr kumimoji="0" lang="en-US"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#include &lt;fstream&gt;</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using namespace std;</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int main()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	fstream dataFile;</a:t>
            </a:r>
            <a:r>
              <a:rPr kumimoji="0" lang="en-US" b="0" i="0" u="none" strike="noStrike" kern="1200" cap="none" spc="0" normalizeH="0" noProof="1" smtClean="0">
                <a:ln>
                  <a:noFill/>
                </a:ln>
                <a:solidFill>
                  <a:schemeClr val="tx1"/>
                </a:solidFill>
                <a:effectLst/>
                <a:uLnTx/>
                <a:uFillTx/>
                <a:latin typeface="+mn-lt"/>
                <a:ea typeface="+mn-ea"/>
                <a:cs typeface="+mn-cs"/>
              </a:rPr>
              <a:t>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lang="en-US" noProof="1"/>
              <a:t> </a:t>
            </a:r>
            <a:r>
              <a:rPr lang="en-US" noProof="1" smtClean="0"/>
              <a:t>      </a:t>
            </a:r>
            <a:r>
              <a:rPr kumimoji="0" lang="en-US" b="0" i="0" u="none" strike="noStrike" kern="1200" cap="none" spc="0" normalizeH="0" baseline="0" noProof="1" smtClean="0">
                <a:ln>
                  <a:noFill/>
                </a:ln>
                <a:solidFill>
                  <a:schemeClr val="tx1"/>
                </a:solidFill>
                <a:effectLst/>
                <a:uLnTx/>
                <a:uFillTx/>
                <a:latin typeface="+mn-lt"/>
                <a:ea typeface="+mn-ea"/>
                <a:cs typeface="+mn-cs"/>
              </a:rPr>
              <a:t>char name[81];</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	dataFile.open("demofile.txt", ios::in);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	if (</a:t>
            </a:r>
            <a:r>
              <a:rPr kumimoji="0" lang="en-US" b="0" i="0" u="none" strike="noStrike" kern="1200" cap="none" spc="0" normalizeH="0" baseline="0" noProof="0" dirty="0" smtClean="0">
                <a:ln>
                  <a:noFill/>
                </a:ln>
                <a:solidFill>
                  <a:schemeClr val="tx1"/>
                </a:solidFill>
                <a:effectLst/>
                <a:uLnTx/>
                <a:uFillTx/>
                <a:latin typeface="+mn-lt"/>
                <a:ea typeface="+mn-ea"/>
                <a:cs typeface="+mn-cs"/>
              </a:rPr>
              <a:t>!</a:t>
            </a:r>
            <a:r>
              <a:rPr kumimoji="0" lang="en-US" b="0" i="0" u="none" strike="noStrike" kern="1200" cap="none" spc="0" normalizeH="0" baseline="0" noProof="1" smtClean="0">
                <a:ln>
                  <a:noFill/>
                </a:ln>
                <a:solidFill>
                  <a:schemeClr val="tx1"/>
                </a:solidFill>
                <a:effectLst/>
                <a:uLnTx/>
                <a:uFillTx/>
                <a:latin typeface="+mn-lt"/>
                <a:ea typeface="+mn-ea"/>
                <a:cs typeface="+mn-cs"/>
              </a:rPr>
              <a:t>dataFile)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	{     cout &lt;&lt; "File open error!" &lt;&lt; endl;	return 0;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	cout &lt;&lt; "File opened successfully.\n";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b="0" i="0" u="none" strike="noStrike" kern="1200" cap="none" spc="0" normalizeH="0" baseline="0" noProof="1" smtClean="0">
                <a:ln>
                  <a:noFill/>
                </a:ln>
                <a:solidFill>
                  <a:schemeClr val="tx1"/>
                </a:solidFill>
                <a:effectLst/>
                <a:uLnTx/>
                <a:uFillTx/>
                <a:latin typeface="+mn-lt"/>
                <a:ea typeface="+mn-ea"/>
                <a:cs typeface="+mn-cs"/>
              </a:rPr>
              <a:t>	cout &lt;&lt; "Reading information from the file.\n";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b="0" i="0" u="none" strike="noStrike" kern="1200" cap="none" spc="0" normalizeH="0" baseline="0" noProof="1" smtClean="0">
                <a:ln>
                  <a:noFill/>
                </a:ln>
                <a:solidFill>
                  <a:schemeClr val="tx1"/>
                </a:solidFill>
                <a:effectLst/>
                <a:uLnTx/>
                <a:uFillTx/>
                <a:latin typeface="+mn-lt"/>
                <a:ea typeface="+mn-ea"/>
                <a:cs typeface="+mn-cs"/>
              </a:rPr>
              <a:t> 	dataFile &gt;&gt; name;   // Read first name from the file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b="0" i="0" u="none" strike="noStrike" kern="1200" cap="none" spc="0" normalizeH="0" baseline="0" noProof="1" smtClean="0">
                <a:ln>
                  <a:noFill/>
                </a:ln>
                <a:solidFill>
                  <a:schemeClr val="tx1"/>
                </a:solidFill>
                <a:effectLst/>
                <a:uLnTx/>
                <a:uFillTx/>
                <a:latin typeface="+mn-lt"/>
                <a:ea typeface="+mn-ea"/>
                <a:cs typeface="+mn-cs"/>
              </a:rPr>
              <a:t>	while (!dataFile.eof())</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b="0" i="0" u="none" strike="noStrike" kern="1200" cap="none" spc="0" normalizeH="0" baseline="0" noProof="1" smtClean="0">
                <a:ln>
                  <a:noFill/>
                </a:ln>
                <a:solidFill>
                  <a:schemeClr val="tx1"/>
                </a:solidFill>
                <a:effectLst/>
                <a:uLnTx/>
                <a:uFillTx/>
                <a:latin typeface="+mn-lt"/>
                <a:ea typeface="+mn-ea"/>
                <a:cs typeface="+mn-cs"/>
              </a:rPr>
              <a:t>	{    cout &lt;&lt; name &lt;&lt; endl;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lang="en-IN" noProof="1"/>
              <a:t> </a:t>
            </a:r>
            <a:r>
              <a:rPr lang="en-IN" noProof="1" smtClean="0"/>
              <a:t>            </a:t>
            </a:r>
            <a:r>
              <a:rPr kumimoji="0" lang="en-IN" b="0" i="0" u="none" strike="noStrike" kern="1200" cap="none" spc="0" normalizeH="0" baseline="0" noProof="1" smtClean="0">
                <a:ln>
                  <a:noFill/>
                </a:ln>
                <a:solidFill>
                  <a:schemeClr val="tx1"/>
                </a:solidFill>
                <a:effectLst/>
                <a:uLnTx/>
                <a:uFillTx/>
                <a:latin typeface="+mn-lt"/>
                <a:ea typeface="+mn-ea"/>
                <a:cs typeface="+mn-cs"/>
              </a:rPr>
              <a:t>dataFile &gt;&gt; name;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b="0" i="0" u="none" strike="noStrike" kern="1200" cap="none" spc="0" normalizeH="0" baseline="0" noProof="1" smtClean="0">
                <a:ln>
                  <a:noFill/>
                </a:ln>
                <a:solidFill>
                  <a:schemeClr val="tx1"/>
                </a:solidFill>
                <a:effectLst/>
                <a:uLnTx/>
                <a:uFillTx/>
                <a:latin typeface="+mn-lt"/>
                <a:ea typeface="+mn-ea"/>
                <a:cs typeface="+mn-cs"/>
              </a:rPr>
              <a:t>	     dataFile.close();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lang="en-IN" noProof="1"/>
              <a:t> </a:t>
            </a:r>
            <a:r>
              <a:rPr lang="en-IN" noProof="1" smtClean="0"/>
              <a:t>            </a:t>
            </a:r>
            <a:r>
              <a:rPr kumimoji="0" lang="en-IN" b="0" i="0" u="none" strike="noStrike" kern="1200" cap="none" spc="0" normalizeH="0" baseline="0" noProof="1" smtClean="0">
                <a:ln>
                  <a:noFill/>
                </a:ln>
                <a:solidFill>
                  <a:schemeClr val="tx1"/>
                </a:solidFill>
                <a:effectLst/>
                <a:uLnTx/>
                <a:uFillTx/>
                <a:latin typeface="+mn-lt"/>
                <a:ea typeface="+mn-ea"/>
                <a:cs typeface="+mn-cs"/>
              </a:rPr>
              <a:t>cout &lt;&lt; "\nDone.\n";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lang="en-IN" noProof="1"/>
              <a:t> </a:t>
            </a:r>
            <a:r>
              <a:rPr lang="en-IN" noProof="1" smtClean="0"/>
              <a:t>            </a:t>
            </a:r>
            <a:r>
              <a:rPr kumimoji="0" lang="en-IN" b="0" i="0" u="none" strike="noStrike" kern="1200" cap="none" spc="0" normalizeH="0" baseline="0" noProof="1" smtClean="0">
                <a:ln>
                  <a:noFill/>
                </a:ln>
                <a:solidFill>
                  <a:schemeClr val="tx1"/>
                </a:solidFill>
                <a:effectLst/>
                <a:uLnTx/>
                <a:uFillTx/>
                <a:latin typeface="+mn-lt"/>
                <a:ea typeface="+mn-ea"/>
                <a:cs typeface="+mn-cs"/>
              </a:rPr>
              <a:t>return 0;       }</a:t>
            </a:r>
            <a:endParaRPr kumimoji="0" lang="en-US" b="0" i="0" u="none" strike="noStrike" kern="1200" cap="none" spc="0" normalizeH="0" baseline="0" noProof="1">
              <a:ln>
                <a:noFill/>
              </a:ln>
              <a:solidFill>
                <a:schemeClr val="tx1"/>
              </a:solidFill>
              <a:effectLst/>
              <a:uLnTx/>
              <a:uFillTx/>
              <a:latin typeface="+mn-lt"/>
              <a:ea typeface="+mn-ea"/>
              <a:cs typeface="+mn-cs"/>
            </a:endParaRPr>
          </a:p>
        </p:txBody>
      </p:sp>
      <p:sp>
        <p:nvSpPr>
          <p:cNvPr id="11" name="Rectangle 10"/>
          <p:cNvSpPr/>
          <p:nvPr/>
        </p:nvSpPr>
        <p:spPr>
          <a:xfrm>
            <a:off x="5292080" y="1675027"/>
            <a:ext cx="3564000" cy="2160591"/>
          </a:xfrm>
          <a:prstGeom prst="rect">
            <a:avLst/>
          </a:prstGeom>
          <a:solidFill>
            <a:schemeClr val="tx1">
              <a:lumMod val="75000"/>
              <a:lumOff val="25000"/>
            </a:schemeClr>
          </a:solidFill>
          <a:ln>
            <a:solidFill>
              <a:schemeClr val="tx1"/>
            </a:solidFill>
          </a:ln>
        </p:spPr>
        <p:txBody>
          <a:bodyPr wrap="square">
            <a:spAutoFit/>
          </a:bodyPr>
          <a:lstStyle/>
          <a:p>
            <a:pPr>
              <a:lnSpc>
                <a:spcPct val="80000"/>
              </a:lnSpc>
              <a:spcBef>
                <a:spcPts val="600"/>
              </a:spcBef>
              <a:buFontTx/>
              <a:buNone/>
            </a:pPr>
            <a:r>
              <a:rPr lang="en-IN" noProof="1" smtClean="0">
                <a:solidFill>
                  <a:schemeClr val="bg1"/>
                </a:solidFill>
                <a:latin typeface="Prestige Elite"/>
              </a:rPr>
              <a:t>File opened successfully.</a:t>
            </a:r>
          </a:p>
          <a:p>
            <a:pPr>
              <a:lnSpc>
                <a:spcPct val="80000"/>
              </a:lnSpc>
              <a:spcBef>
                <a:spcPts val="600"/>
              </a:spcBef>
              <a:buFontTx/>
              <a:buNone/>
            </a:pPr>
            <a:r>
              <a:rPr lang="en-IN" noProof="1" smtClean="0">
                <a:solidFill>
                  <a:schemeClr val="bg1"/>
                </a:solidFill>
                <a:latin typeface="Prestige Elite"/>
              </a:rPr>
              <a:t>Reading information from the file.</a:t>
            </a:r>
            <a:endParaRPr lang="en-US" dirty="0" smtClean="0">
              <a:solidFill>
                <a:schemeClr val="bg1"/>
              </a:solidFill>
              <a:latin typeface="Prestige Elite"/>
            </a:endParaRPr>
          </a:p>
          <a:p>
            <a:pPr>
              <a:lnSpc>
                <a:spcPct val="80000"/>
              </a:lnSpc>
              <a:spcBef>
                <a:spcPts val="600"/>
              </a:spcBef>
              <a:buFontTx/>
              <a:buNone/>
            </a:pPr>
            <a:r>
              <a:rPr lang="en-US" noProof="1" smtClean="0">
                <a:solidFill>
                  <a:schemeClr val="bg1"/>
                </a:solidFill>
                <a:latin typeface="Prestige Elite"/>
              </a:rPr>
              <a:t>Jones</a:t>
            </a:r>
          </a:p>
          <a:p>
            <a:pPr>
              <a:lnSpc>
                <a:spcPct val="80000"/>
              </a:lnSpc>
              <a:spcBef>
                <a:spcPts val="600"/>
              </a:spcBef>
              <a:buFontTx/>
              <a:buNone/>
            </a:pPr>
            <a:r>
              <a:rPr lang="en-US" noProof="1" smtClean="0">
                <a:solidFill>
                  <a:schemeClr val="bg1"/>
                </a:solidFill>
                <a:latin typeface="Prestige Elite"/>
              </a:rPr>
              <a:t>Smith</a:t>
            </a:r>
          </a:p>
          <a:p>
            <a:pPr>
              <a:lnSpc>
                <a:spcPct val="80000"/>
              </a:lnSpc>
              <a:spcBef>
                <a:spcPts val="600"/>
              </a:spcBef>
              <a:buFontTx/>
              <a:buNone/>
            </a:pPr>
            <a:r>
              <a:rPr lang="en-US" noProof="1" smtClean="0">
                <a:solidFill>
                  <a:schemeClr val="bg1"/>
                </a:solidFill>
                <a:latin typeface="Prestige Elite"/>
              </a:rPr>
              <a:t>Willis</a:t>
            </a:r>
          </a:p>
          <a:p>
            <a:pPr>
              <a:lnSpc>
                <a:spcPct val="80000"/>
              </a:lnSpc>
              <a:spcBef>
                <a:spcPts val="600"/>
              </a:spcBef>
              <a:buFontTx/>
              <a:buNone/>
            </a:pPr>
            <a:r>
              <a:rPr lang="en-US" noProof="1" smtClean="0">
                <a:solidFill>
                  <a:schemeClr val="bg1"/>
                </a:solidFill>
                <a:latin typeface="Prestige Elite"/>
              </a:rPr>
              <a:t>Davis</a:t>
            </a:r>
          </a:p>
          <a:p>
            <a:pPr>
              <a:spcBef>
                <a:spcPts val="600"/>
              </a:spcBef>
              <a:buFontTx/>
              <a:buNone/>
            </a:pPr>
            <a:r>
              <a:rPr lang="en-US" noProof="1" smtClean="0">
                <a:solidFill>
                  <a:schemeClr val="bg1"/>
                </a:solidFill>
                <a:latin typeface="Prestige Elite"/>
              </a:rPr>
              <a:t>Done.</a:t>
            </a:r>
          </a:p>
        </p:txBody>
      </p:sp>
    </p:spTree>
    <p:extLst>
      <p:ext uri="{BB962C8B-B14F-4D97-AF65-F5344CB8AC3E}">
        <p14:creationId xmlns:p14="http://schemas.microsoft.com/office/powerpoint/2010/main" xmlns="" val="389340652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4754" name="Rectangle 2"/>
          <p:cNvSpPr>
            <a:spLocks noGrp="1" noChangeArrowheads="1"/>
          </p:cNvSpPr>
          <p:nvPr>
            <p:ph type="title"/>
          </p:nvPr>
        </p:nvSpPr>
        <p:spPr/>
        <p:txBody>
          <a:bodyPr>
            <a:normAutofit fontScale="90000"/>
          </a:bodyPr>
          <a:lstStyle/>
          <a:p>
            <a:r>
              <a:rPr lang="en-US" smtClean="0"/>
              <a:t>Member Functions for Reading and Writing Files</a:t>
            </a:r>
            <a:endParaRPr lang="en-US" dirty="0"/>
          </a:p>
        </p:txBody>
      </p:sp>
      <p:sp>
        <p:nvSpPr>
          <p:cNvPr id="74755" name="Rectangle 3"/>
          <p:cNvSpPr>
            <a:spLocks noGrp="1" noChangeArrowheads="1"/>
          </p:cNvSpPr>
          <p:nvPr>
            <p:ph type="body" idx="1"/>
          </p:nvPr>
        </p:nvSpPr>
        <p:spPr/>
        <p:txBody>
          <a:bodyPr/>
          <a:lstStyle/>
          <a:p>
            <a:r>
              <a:rPr lang="en-US" smtClean="0"/>
              <a:t>File stream objects have member functions for more specialized file reading and writing.</a:t>
            </a:r>
            <a:endParaRPr lang="en-US"/>
          </a:p>
        </p:txBody>
      </p:sp>
      <p:sp>
        <p:nvSpPr>
          <p:cNvPr id="4" name="Slide Number Placeholder 5"/>
          <p:cNvSpPr>
            <a:spLocks noGrp="1"/>
          </p:cNvSpPr>
          <p:nvPr>
            <p:ph type="sldNum" sz="quarter" idx="12"/>
          </p:nvPr>
        </p:nvSpPr>
        <p:spPr/>
        <p:txBody>
          <a:bodyPr/>
          <a:lstStyle/>
          <a:p>
            <a:fld id="{042CE96A-00AA-4CA2-966C-E48285144070}" type="slidenum">
              <a:rPr lang="en-US" smtClean="0"/>
              <a:pPr/>
              <a:t>20</a:t>
            </a:fld>
            <a:endParaRPr lang="en-US"/>
          </a:p>
        </p:txBody>
      </p:sp>
    </p:spTree>
    <p:extLst>
      <p:ext uri="{BB962C8B-B14F-4D97-AF65-F5344CB8AC3E}">
        <p14:creationId xmlns:p14="http://schemas.microsoft.com/office/powerpoint/2010/main" xmlns="" val="37349976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Rectangle 2"/>
          <p:cNvSpPr>
            <a:spLocks noGrp="1" noChangeArrowheads="1"/>
          </p:cNvSpPr>
          <p:nvPr>
            <p:ph type="title"/>
          </p:nvPr>
        </p:nvSpPr>
        <p:spPr/>
        <p:txBody>
          <a:bodyPr/>
          <a:lstStyle/>
          <a:p>
            <a:r>
              <a:rPr lang="en-US" dirty="0" smtClean="0"/>
              <a:t>Example </a:t>
            </a:r>
            <a:endParaRPr lang="en-US" dirty="0"/>
          </a:p>
        </p:txBody>
      </p:sp>
      <p:sp>
        <p:nvSpPr>
          <p:cNvPr id="7" name="Content Placeholder 6"/>
          <p:cNvSpPr>
            <a:spLocks noGrp="1"/>
          </p:cNvSpPr>
          <p:nvPr>
            <p:ph idx="1"/>
          </p:nvPr>
        </p:nvSpPr>
        <p:spPr>
          <a:xfrm>
            <a:off x="72000" y="1124744"/>
            <a:ext cx="9000000" cy="4968552"/>
          </a:xfrm>
        </p:spPr>
        <p:txBody>
          <a:bodyPr>
            <a:noAutofit/>
          </a:bodyPr>
          <a:lstStyle/>
          <a:p>
            <a:pPr marL="0" indent="0">
              <a:spcBef>
                <a:spcPts val="0"/>
              </a:spcBef>
              <a:buNone/>
            </a:pPr>
            <a:r>
              <a:rPr lang="en-IN" sz="2100" dirty="0" smtClean="0">
                <a:solidFill>
                  <a:schemeClr val="accent1"/>
                </a:solidFill>
              </a:rPr>
              <a:t>This program uses the file stream object's </a:t>
            </a:r>
            <a:r>
              <a:rPr lang="en-IN" sz="2100" dirty="0" err="1" smtClean="0">
                <a:solidFill>
                  <a:schemeClr val="accent1"/>
                </a:solidFill>
              </a:rPr>
              <a:t>eof</a:t>
            </a:r>
            <a:r>
              <a:rPr lang="en-IN" sz="2100" dirty="0" smtClean="0">
                <a:solidFill>
                  <a:schemeClr val="accent1"/>
                </a:solidFill>
              </a:rPr>
              <a:t>() member function to detect the end of the file.</a:t>
            </a:r>
          </a:p>
          <a:p>
            <a:pPr marL="0" indent="0">
              <a:spcBef>
                <a:spcPts val="0"/>
              </a:spcBef>
              <a:buNone/>
            </a:pPr>
            <a:endParaRPr lang="en-IN" sz="2100" dirty="0" smtClean="0">
              <a:solidFill>
                <a:schemeClr val="accent1"/>
              </a:solidFill>
            </a:endParaRPr>
          </a:p>
          <a:p>
            <a:pPr marL="514350" indent="-514350">
              <a:spcBef>
                <a:spcPts val="0"/>
              </a:spcBef>
              <a:buFont typeface="+mj-lt"/>
              <a:buAutoNum type="arabicPeriod"/>
            </a:pPr>
            <a:r>
              <a:rPr lang="en-IN" sz="2100" dirty="0" smtClean="0"/>
              <a:t>#include &lt;</a:t>
            </a:r>
            <a:r>
              <a:rPr lang="en-US" sz="2100" dirty="0" err="1" smtClean="0"/>
              <a:t>iostream</a:t>
            </a:r>
            <a:r>
              <a:rPr lang="en-US" sz="2100" dirty="0" smtClean="0"/>
              <a:t>&gt; </a:t>
            </a:r>
          </a:p>
          <a:p>
            <a:pPr marL="514350" indent="-514350">
              <a:spcBef>
                <a:spcPts val="0"/>
              </a:spcBef>
              <a:buFont typeface="+mj-lt"/>
              <a:buAutoNum type="arabicPeriod"/>
            </a:pPr>
            <a:r>
              <a:rPr lang="en-US" sz="2100" dirty="0" smtClean="0"/>
              <a:t>#include &lt;</a:t>
            </a:r>
            <a:r>
              <a:rPr lang="en-US" sz="2100" dirty="0" err="1" smtClean="0"/>
              <a:t>fstream</a:t>
            </a:r>
            <a:r>
              <a:rPr lang="en-US" sz="2100" dirty="0" smtClean="0"/>
              <a:t>&gt;</a:t>
            </a:r>
          </a:p>
          <a:p>
            <a:pPr marL="514350" indent="-514350">
              <a:spcBef>
                <a:spcPts val="0"/>
              </a:spcBef>
              <a:buFont typeface="+mj-lt"/>
              <a:buAutoNum type="arabicPeriod"/>
            </a:pPr>
            <a:r>
              <a:rPr lang="en-US" sz="2100" dirty="0" smtClean="0"/>
              <a:t>using namespace std;</a:t>
            </a:r>
          </a:p>
          <a:p>
            <a:pPr marL="514350" indent="-514350">
              <a:spcBef>
                <a:spcPts val="0"/>
              </a:spcBef>
              <a:buFont typeface="+mj-lt"/>
              <a:buAutoNum type="arabicPeriod"/>
            </a:pPr>
            <a:r>
              <a:rPr lang="en-US" sz="2100" dirty="0" err="1" smtClean="0"/>
              <a:t>int</a:t>
            </a:r>
            <a:r>
              <a:rPr lang="en-US" sz="2100" dirty="0" smtClean="0"/>
              <a:t> main()</a:t>
            </a:r>
          </a:p>
          <a:p>
            <a:pPr marL="514350" indent="-514350">
              <a:spcBef>
                <a:spcPts val="0"/>
              </a:spcBef>
              <a:buFont typeface="+mj-lt"/>
              <a:buAutoNum type="arabicPeriod"/>
            </a:pPr>
            <a:r>
              <a:rPr lang="en-US" sz="2100" dirty="0" smtClean="0"/>
              <a:t>{	</a:t>
            </a:r>
            <a:r>
              <a:rPr lang="en-US" sz="2100" dirty="0" err="1" smtClean="0"/>
              <a:t>fstream</a:t>
            </a:r>
            <a:r>
              <a:rPr lang="en-US" sz="2100" dirty="0" smtClean="0"/>
              <a:t> </a:t>
            </a:r>
            <a:r>
              <a:rPr lang="en-US" sz="2100" dirty="0" err="1" smtClean="0"/>
              <a:t>nameFile</a:t>
            </a:r>
            <a:r>
              <a:rPr lang="en-US" sz="2100" dirty="0" smtClean="0"/>
              <a:t>;</a:t>
            </a:r>
          </a:p>
          <a:p>
            <a:pPr marL="514350" indent="-514350">
              <a:spcBef>
                <a:spcPts val="0"/>
              </a:spcBef>
              <a:buFont typeface="+mj-lt"/>
              <a:buAutoNum type="arabicPeriod"/>
            </a:pPr>
            <a:r>
              <a:rPr lang="en-US" sz="2100" dirty="0" smtClean="0"/>
              <a:t>	char input[81];</a:t>
            </a:r>
            <a:br>
              <a:rPr lang="en-US" sz="2100" dirty="0" smtClean="0"/>
            </a:br>
            <a:r>
              <a:rPr lang="en-US" sz="2100" dirty="0" smtClean="0"/>
              <a:t>	</a:t>
            </a:r>
            <a:r>
              <a:rPr lang="en-US" sz="2100" dirty="0" err="1" smtClean="0"/>
              <a:t>nameFile.open</a:t>
            </a:r>
            <a:r>
              <a:rPr lang="en-US" sz="2100" dirty="0" smtClean="0"/>
              <a:t>("demofile.txt", </a:t>
            </a:r>
            <a:r>
              <a:rPr lang="en-US" sz="2100" dirty="0" err="1" smtClean="0"/>
              <a:t>ios</a:t>
            </a:r>
            <a:r>
              <a:rPr lang="en-US" sz="2100" dirty="0" smtClean="0"/>
              <a:t>::in);</a:t>
            </a:r>
          </a:p>
          <a:p>
            <a:pPr marL="514350" indent="-514350">
              <a:spcBef>
                <a:spcPts val="0"/>
              </a:spcBef>
              <a:buFont typeface="+mj-lt"/>
              <a:buAutoNum type="arabicPeriod"/>
            </a:pPr>
            <a:r>
              <a:rPr lang="en-US" sz="2100" dirty="0" smtClean="0"/>
              <a:t>	if (!</a:t>
            </a:r>
            <a:r>
              <a:rPr lang="en-US" sz="2100" dirty="0" err="1" smtClean="0"/>
              <a:t>nameFile</a:t>
            </a:r>
            <a:r>
              <a:rPr lang="en-US" sz="2100" dirty="0" smtClean="0"/>
              <a:t>)</a:t>
            </a:r>
          </a:p>
          <a:p>
            <a:pPr marL="514350" indent="-514350">
              <a:spcBef>
                <a:spcPts val="0"/>
              </a:spcBef>
              <a:buFont typeface="+mj-lt"/>
              <a:buAutoNum type="arabicPeriod"/>
            </a:pPr>
            <a:r>
              <a:rPr lang="en-US" sz="2100" dirty="0" smtClean="0"/>
              <a:t>	    {    </a:t>
            </a:r>
            <a:r>
              <a:rPr lang="nn-NO" sz="2100" dirty="0" smtClean="0"/>
              <a:t>cout &lt;&lt; "File open error!" &lt;&lt; endl;    </a:t>
            </a:r>
            <a:r>
              <a:rPr lang="en-US" sz="2100" dirty="0" smtClean="0"/>
              <a:t>return 0;    }</a:t>
            </a:r>
          </a:p>
          <a:p>
            <a:pPr marL="514350" indent="-514350">
              <a:spcBef>
                <a:spcPts val="0"/>
              </a:spcBef>
              <a:buFont typeface="+mj-lt"/>
              <a:buAutoNum type="arabicPeriod"/>
            </a:pPr>
            <a:r>
              <a:rPr lang="en-IN" sz="2100" dirty="0" smtClean="0"/>
              <a:t>	</a:t>
            </a:r>
            <a:r>
              <a:rPr lang="en-US" sz="2100" dirty="0" err="1" smtClean="0"/>
              <a:t>nameFile</a:t>
            </a:r>
            <a:r>
              <a:rPr lang="en-US" sz="2100" dirty="0" smtClean="0"/>
              <a:t> &gt;&gt; input;</a:t>
            </a:r>
          </a:p>
          <a:p>
            <a:pPr marL="514350" indent="-514350">
              <a:spcBef>
                <a:spcPts val="0"/>
              </a:spcBef>
              <a:buFont typeface="+mj-lt"/>
              <a:buAutoNum type="arabicPeriod"/>
            </a:pPr>
            <a:r>
              <a:rPr lang="en-US" sz="2100" dirty="0" smtClean="0"/>
              <a:t>	while (!nameFile.eof())</a:t>
            </a:r>
          </a:p>
          <a:p>
            <a:pPr marL="514350" indent="-514350">
              <a:spcBef>
                <a:spcPts val="0"/>
              </a:spcBef>
              <a:buFont typeface="+mj-lt"/>
              <a:buAutoNum type="arabicPeriod"/>
            </a:pPr>
            <a:r>
              <a:rPr lang="en-US" sz="2100" dirty="0" smtClean="0"/>
              <a:t>	    {    </a:t>
            </a:r>
            <a:r>
              <a:rPr lang="en-US" sz="2100" dirty="0" err="1" smtClean="0"/>
              <a:t>cout</a:t>
            </a:r>
            <a:r>
              <a:rPr lang="en-US" sz="2100" dirty="0" smtClean="0"/>
              <a:t> &lt;&lt; input &lt;&lt; </a:t>
            </a:r>
            <a:r>
              <a:rPr lang="en-US" sz="2100" dirty="0" err="1" smtClean="0"/>
              <a:t>endl</a:t>
            </a:r>
            <a:r>
              <a:rPr lang="en-US" sz="2100" dirty="0" smtClean="0"/>
              <a:t>;    </a:t>
            </a:r>
            <a:r>
              <a:rPr lang="en-US" sz="2100" dirty="0" err="1" smtClean="0"/>
              <a:t>nameFile</a:t>
            </a:r>
            <a:r>
              <a:rPr lang="en-US" sz="2100" dirty="0" smtClean="0"/>
              <a:t> &gt;&gt; input;    }</a:t>
            </a:r>
          </a:p>
          <a:p>
            <a:pPr marL="514350" indent="-514350">
              <a:spcBef>
                <a:spcPts val="0"/>
              </a:spcBef>
              <a:buFont typeface="+mj-lt"/>
              <a:buAutoNum type="arabicPeriod"/>
            </a:pPr>
            <a:r>
              <a:rPr lang="en-US" sz="2100" dirty="0" smtClean="0"/>
              <a:t>	</a:t>
            </a:r>
            <a:r>
              <a:rPr lang="en-US" sz="2100" dirty="0" err="1" smtClean="0"/>
              <a:t>nameFile.close</a:t>
            </a:r>
            <a:r>
              <a:rPr lang="en-US" sz="2100" dirty="0" smtClean="0"/>
              <a:t>();</a:t>
            </a:r>
          </a:p>
          <a:p>
            <a:pPr marL="514350" indent="-514350">
              <a:spcBef>
                <a:spcPts val="0"/>
              </a:spcBef>
              <a:buFont typeface="+mj-lt"/>
              <a:buAutoNum type="arabicPeriod"/>
            </a:pPr>
            <a:r>
              <a:rPr lang="en-US" sz="2100" dirty="0" smtClean="0"/>
              <a:t>  	return 0;</a:t>
            </a:r>
          </a:p>
          <a:p>
            <a:pPr marL="514350" indent="-514350">
              <a:spcBef>
                <a:spcPts val="0"/>
              </a:spcBef>
              <a:buFont typeface="+mj-lt"/>
              <a:buAutoNum type="arabicPeriod"/>
            </a:pPr>
            <a:r>
              <a:rPr lang="en-US" sz="2100" dirty="0" smtClean="0"/>
              <a:t>}</a:t>
            </a:r>
            <a:endParaRPr lang="en-IN" sz="2100" dirty="0"/>
          </a:p>
        </p:txBody>
      </p:sp>
      <p:sp>
        <p:nvSpPr>
          <p:cNvPr id="4" name="Slide Number Placeholder 5"/>
          <p:cNvSpPr>
            <a:spLocks noGrp="1"/>
          </p:cNvSpPr>
          <p:nvPr>
            <p:ph type="sldNum" sz="quarter" idx="12"/>
          </p:nvPr>
        </p:nvSpPr>
        <p:spPr/>
        <p:txBody>
          <a:bodyPr/>
          <a:lstStyle/>
          <a:p>
            <a:fld id="{1364D128-28E7-45DD-A237-6169FF0A0939}" type="slidenum">
              <a:rPr lang="en-US" smtClean="0"/>
              <a:pPr/>
              <a:t>21</a:t>
            </a:fld>
            <a:endParaRPr lang="en-US" dirty="0"/>
          </a:p>
        </p:txBody>
      </p:sp>
      <p:sp>
        <p:nvSpPr>
          <p:cNvPr id="8" name="Rectangle 7"/>
          <p:cNvSpPr/>
          <p:nvPr/>
        </p:nvSpPr>
        <p:spPr>
          <a:xfrm>
            <a:off x="6732571" y="2431745"/>
            <a:ext cx="1036800" cy="1357295"/>
          </a:xfrm>
          <a:prstGeom prst="rect">
            <a:avLst/>
          </a:prstGeom>
          <a:solidFill>
            <a:schemeClr val="tx1">
              <a:lumMod val="75000"/>
              <a:lumOff val="25000"/>
            </a:schemeClr>
          </a:solidFill>
          <a:ln>
            <a:solidFill>
              <a:schemeClr val="tx1"/>
            </a:solidFill>
          </a:ln>
        </p:spPr>
        <p:txBody>
          <a:bodyPr wrap="square">
            <a:spAutoFit/>
          </a:bodyPr>
          <a:lstStyle/>
          <a:p>
            <a:pPr>
              <a:lnSpc>
                <a:spcPct val="80000"/>
              </a:lnSpc>
              <a:spcBef>
                <a:spcPts val="600"/>
              </a:spcBef>
              <a:buFontTx/>
              <a:buNone/>
            </a:pPr>
            <a:r>
              <a:rPr lang="en-US" sz="2100" noProof="1" smtClean="0">
                <a:solidFill>
                  <a:schemeClr val="bg1"/>
                </a:solidFill>
                <a:latin typeface="Prestige Elite"/>
              </a:rPr>
              <a:t>Jones</a:t>
            </a:r>
          </a:p>
          <a:p>
            <a:pPr>
              <a:lnSpc>
                <a:spcPct val="80000"/>
              </a:lnSpc>
              <a:spcBef>
                <a:spcPts val="600"/>
              </a:spcBef>
              <a:buFontTx/>
              <a:buNone/>
            </a:pPr>
            <a:r>
              <a:rPr lang="en-US" sz="2100" noProof="1" smtClean="0">
                <a:solidFill>
                  <a:schemeClr val="bg1"/>
                </a:solidFill>
                <a:latin typeface="Prestige Elite"/>
              </a:rPr>
              <a:t>Smith</a:t>
            </a:r>
          </a:p>
          <a:p>
            <a:pPr>
              <a:lnSpc>
                <a:spcPct val="80000"/>
              </a:lnSpc>
              <a:spcBef>
                <a:spcPts val="600"/>
              </a:spcBef>
              <a:buFontTx/>
              <a:buNone/>
            </a:pPr>
            <a:r>
              <a:rPr lang="en-US" sz="2100" noProof="1" smtClean="0">
                <a:solidFill>
                  <a:schemeClr val="bg1"/>
                </a:solidFill>
                <a:latin typeface="Prestige Elite"/>
              </a:rPr>
              <a:t>Willis</a:t>
            </a:r>
          </a:p>
          <a:p>
            <a:pPr>
              <a:lnSpc>
                <a:spcPct val="80000"/>
              </a:lnSpc>
              <a:spcBef>
                <a:spcPts val="600"/>
              </a:spcBef>
              <a:buFontTx/>
              <a:buNone/>
            </a:pPr>
            <a:r>
              <a:rPr lang="en-US" sz="2100" noProof="1" smtClean="0">
                <a:solidFill>
                  <a:schemeClr val="bg1"/>
                </a:solidFill>
                <a:latin typeface="Prestige Elite"/>
              </a:rPr>
              <a:t>Davis</a:t>
            </a:r>
          </a:p>
        </p:txBody>
      </p:sp>
      <p:sp>
        <p:nvSpPr>
          <p:cNvPr id="9" name="TextBox 8"/>
          <p:cNvSpPr txBox="1"/>
          <p:nvPr/>
        </p:nvSpPr>
        <p:spPr>
          <a:xfrm>
            <a:off x="6732240" y="1916832"/>
            <a:ext cx="1037463" cy="415498"/>
          </a:xfrm>
          <a:prstGeom prst="rect">
            <a:avLst/>
          </a:prstGeom>
          <a:solidFill>
            <a:schemeClr val="tx1">
              <a:lumMod val="75000"/>
              <a:lumOff val="25000"/>
            </a:schemeClr>
          </a:solidFill>
          <a:ln>
            <a:solidFill>
              <a:schemeClr val="tx1"/>
            </a:solidFill>
          </a:ln>
        </p:spPr>
        <p:txBody>
          <a:bodyPr wrap="none" rtlCol="0">
            <a:spAutoFit/>
          </a:bodyPr>
          <a:lstStyle/>
          <a:p>
            <a:r>
              <a:rPr lang="en-US" sz="2100" dirty="0" smtClean="0">
                <a:solidFill>
                  <a:schemeClr val="bg1"/>
                </a:solidFill>
              </a:rPr>
              <a:t>Output:</a:t>
            </a:r>
            <a:endParaRPr lang="en-IN" sz="2100" dirty="0">
              <a:solidFill>
                <a:schemeClr val="bg1"/>
              </a:solidFill>
            </a:endParaRPr>
          </a:p>
        </p:txBody>
      </p:sp>
    </p:spTree>
    <p:extLst>
      <p:ext uri="{BB962C8B-B14F-4D97-AF65-F5344CB8AC3E}">
        <p14:creationId xmlns:p14="http://schemas.microsoft.com/office/powerpoint/2010/main" xmlns="" val="919930280"/>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p:txBody>
          <a:bodyPr/>
          <a:lstStyle/>
          <a:p>
            <a:r>
              <a:rPr lang="en-US" smtClean="0"/>
              <a:t>The getline Member Function</a:t>
            </a:r>
            <a:endParaRPr lang="en-US"/>
          </a:p>
        </p:txBody>
      </p:sp>
      <p:sp>
        <p:nvSpPr>
          <p:cNvPr id="80899" name="Rectangle 3"/>
          <p:cNvSpPr>
            <a:spLocks noGrp="1" noChangeArrowheads="1"/>
          </p:cNvSpPr>
          <p:nvPr>
            <p:ph type="body" idx="1"/>
          </p:nvPr>
        </p:nvSpPr>
        <p:spPr/>
        <p:txBody>
          <a:bodyPr/>
          <a:lstStyle/>
          <a:p>
            <a:pPr algn="just">
              <a:spcBef>
                <a:spcPts val="1200"/>
              </a:spcBef>
            </a:pPr>
            <a:r>
              <a:rPr lang="en-US" dirty="0" err="1" smtClean="0"/>
              <a:t>dataFile.getline</a:t>
            </a:r>
            <a:r>
              <a:rPr lang="en-US" dirty="0" smtClean="0"/>
              <a:t>(</a:t>
            </a:r>
            <a:r>
              <a:rPr lang="en-US" dirty="0" err="1" smtClean="0"/>
              <a:t>str</a:t>
            </a:r>
            <a:r>
              <a:rPr lang="en-US" dirty="0" smtClean="0"/>
              <a:t>, 81, ‘\n’);</a:t>
            </a:r>
          </a:p>
          <a:p>
            <a:pPr marL="1254125" lvl="2" indent="-620713" algn="just">
              <a:spcBef>
                <a:spcPts val="1200"/>
              </a:spcBef>
              <a:buNone/>
            </a:pPr>
            <a:r>
              <a:rPr lang="en-US" dirty="0" err="1" smtClean="0"/>
              <a:t>str</a:t>
            </a:r>
            <a:r>
              <a:rPr lang="en-US" dirty="0" smtClean="0"/>
              <a:t> – This is the name of a character array, or a pointer to a section of memory.  The information read from the file will be stored here.</a:t>
            </a:r>
          </a:p>
          <a:p>
            <a:pPr marL="1254125" lvl="2" indent="-620713" algn="just">
              <a:spcBef>
                <a:spcPts val="1200"/>
              </a:spcBef>
              <a:buNone/>
            </a:pPr>
            <a:r>
              <a:rPr lang="en-US" dirty="0" smtClean="0"/>
              <a:t>81 – This number is one greater than the maximum number of characters to be read.  In this example, a maximum of 80 characters will be read.</a:t>
            </a:r>
          </a:p>
          <a:p>
            <a:pPr marL="1254125" lvl="2" indent="-620713" algn="just">
              <a:spcBef>
                <a:spcPts val="1200"/>
              </a:spcBef>
              <a:buNone/>
            </a:pPr>
            <a:r>
              <a:rPr lang="en-US" dirty="0" smtClean="0"/>
              <a:t>‘\n’ – This is a delimiter character of your choice.  If this  delimiter is encountered, it will cause the function to stop reading before it has read the maximum number of characters.  (This argument is optional.  If it’s left our, ‘\n’ is the default.)</a:t>
            </a:r>
            <a:endParaRPr lang="en-US" dirty="0"/>
          </a:p>
        </p:txBody>
      </p:sp>
      <p:sp>
        <p:nvSpPr>
          <p:cNvPr id="4" name="Slide Number Placeholder 5"/>
          <p:cNvSpPr>
            <a:spLocks noGrp="1"/>
          </p:cNvSpPr>
          <p:nvPr>
            <p:ph type="sldNum" sz="quarter" idx="12"/>
          </p:nvPr>
        </p:nvSpPr>
        <p:spPr/>
        <p:txBody>
          <a:bodyPr/>
          <a:lstStyle/>
          <a:p>
            <a:fld id="{B5E92880-71AA-47E3-A721-53F63BFF59EF}" type="slidenum">
              <a:rPr lang="en-US" smtClean="0"/>
              <a:pPr/>
              <a:t>22</a:t>
            </a:fld>
            <a:endParaRPr lang="en-US"/>
          </a:p>
        </p:txBody>
      </p:sp>
    </p:spTree>
    <p:extLst>
      <p:ext uri="{BB962C8B-B14F-4D97-AF65-F5344CB8AC3E}">
        <p14:creationId xmlns:p14="http://schemas.microsoft.com/office/powerpoint/2010/main" xmlns="" val="3521134644"/>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Rectangle 2"/>
          <p:cNvSpPr>
            <a:spLocks noGrp="1" noChangeArrowheads="1"/>
          </p:cNvSpPr>
          <p:nvPr>
            <p:ph type="title"/>
          </p:nvPr>
        </p:nvSpPr>
        <p:spPr/>
        <p:txBody>
          <a:bodyPr/>
          <a:lstStyle/>
          <a:p>
            <a:r>
              <a:rPr lang="en-US" dirty="0" smtClean="0"/>
              <a:t>Example </a:t>
            </a:r>
            <a:endParaRPr lang="en-US" dirty="0"/>
          </a:p>
        </p:txBody>
      </p:sp>
      <p:sp>
        <p:nvSpPr>
          <p:cNvPr id="82947" name="Rectangle 3"/>
          <p:cNvSpPr>
            <a:spLocks noGrp="1" noChangeArrowheads="1"/>
          </p:cNvSpPr>
          <p:nvPr>
            <p:ph type="body" idx="1"/>
          </p:nvPr>
        </p:nvSpPr>
        <p:spPr/>
        <p:txBody>
          <a:bodyPr>
            <a:noAutofit/>
          </a:bodyPr>
          <a:lstStyle/>
          <a:p>
            <a:pPr marL="0" indent="0">
              <a:spcBef>
                <a:spcPts val="0"/>
              </a:spcBef>
              <a:buNone/>
            </a:pPr>
            <a:r>
              <a:rPr lang="en-IN" sz="2000" noProof="1" smtClean="0">
                <a:solidFill>
                  <a:schemeClr val="accent1"/>
                </a:solidFill>
              </a:rPr>
              <a:t>This program uses the file stream object's getline member function to read a line of information from the file.</a:t>
            </a:r>
          </a:p>
          <a:p>
            <a:pPr marL="0" indent="0">
              <a:spcBef>
                <a:spcPts val="0"/>
              </a:spcBef>
              <a:buNone/>
            </a:pPr>
            <a:endParaRPr lang="en-IN" sz="2000" noProof="1" smtClean="0"/>
          </a:p>
          <a:p>
            <a:pPr marL="514350" indent="-514350">
              <a:spcBef>
                <a:spcPts val="0"/>
              </a:spcBef>
              <a:buFont typeface="+mj-lt"/>
              <a:buAutoNum type="arabicPeriod"/>
            </a:pPr>
            <a:r>
              <a:rPr lang="en-US" sz="2000" noProof="1" smtClean="0"/>
              <a:t>#include &lt;</a:t>
            </a:r>
            <a:r>
              <a:rPr lang="en-US" sz="2000" dirty="0" err="1" smtClean="0"/>
              <a:t>iostream</a:t>
            </a:r>
            <a:r>
              <a:rPr lang="en-US" sz="2000" noProof="1" smtClean="0"/>
              <a:t>&gt; </a:t>
            </a:r>
            <a:endParaRPr lang="en-US" sz="2000" dirty="0" smtClean="0"/>
          </a:p>
          <a:p>
            <a:pPr marL="514350" indent="-514350">
              <a:spcBef>
                <a:spcPts val="0"/>
              </a:spcBef>
              <a:buFont typeface="+mj-lt"/>
              <a:buAutoNum type="arabicPeriod"/>
            </a:pPr>
            <a:r>
              <a:rPr lang="en-US" sz="2000" noProof="1" smtClean="0"/>
              <a:t>#include &lt;fstream</a:t>
            </a:r>
            <a:r>
              <a:rPr lang="en-US" sz="2000" dirty="0" smtClean="0"/>
              <a:t>&gt;</a:t>
            </a:r>
            <a:endParaRPr lang="en-US" sz="2000" noProof="1" smtClean="0"/>
          </a:p>
          <a:p>
            <a:pPr marL="514350" indent="-514350">
              <a:spcBef>
                <a:spcPts val="0"/>
              </a:spcBef>
              <a:buFont typeface="+mj-lt"/>
              <a:buAutoNum type="arabicPeriod"/>
            </a:pPr>
            <a:r>
              <a:rPr lang="en-US" sz="2000" noProof="1" smtClean="0"/>
              <a:t>using namespace std;</a:t>
            </a:r>
          </a:p>
          <a:p>
            <a:pPr marL="514350" indent="-514350">
              <a:spcBef>
                <a:spcPts val="0"/>
              </a:spcBef>
              <a:buFont typeface="+mj-lt"/>
              <a:buAutoNum type="arabicPeriod"/>
            </a:pPr>
            <a:r>
              <a:rPr lang="en-US" sz="2000" noProof="1" smtClean="0"/>
              <a:t>int main()</a:t>
            </a:r>
          </a:p>
          <a:p>
            <a:pPr marL="514350" indent="-514350">
              <a:spcBef>
                <a:spcPts val="0"/>
              </a:spcBef>
              <a:buFont typeface="+mj-lt"/>
              <a:buAutoNum type="arabicPeriod"/>
            </a:pPr>
            <a:r>
              <a:rPr lang="en-US" sz="2000" noProof="1" smtClean="0"/>
              <a:t>{	fstream nameFile;</a:t>
            </a:r>
          </a:p>
          <a:p>
            <a:pPr marL="514350" indent="-514350">
              <a:spcBef>
                <a:spcPts val="0"/>
              </a:spcBef>
              <a:buFont typeface="+mj-lt"/>
              <a:buAutoNum type="arabicPeriod"/>
            </a:pPr>
            <a:r>
              <a:rPr lang="en-US" sz="2000" noProof="1" smtClean="0"/>
              <a:t>	char input[81];</a:t>
            </a:r>
            <a:r>
              <a:rPr lang="en-US" sz="2000" dirty="0" smtClean="0"/>
              <a:t/>
            </a:r>
            <a:br>
              <a:rPr lang="en-US" sz="2000" dirty="0" smtClean="0"/>
            </a:br>
            <a:r>
              <a:rPr lang="en-US" sz="2000" noProof="1" smtClean="0"/>
              <a:t>	nameFile.open("demofile.txt", ios::in);</a:t>
            </a:r>
          </a:p>
          <a:p>
            <a:pPr marL="514350" indent="-514350">
              <a:spcBef>
                <a:spcPts val="0"/>
              </a:spcBef>
              <a:buFont typeface="+mj-lt"/>
              <a:buAutoNum type="arabicPeriod"/>
            </a:pPr>
            <a:r>
              <a:rPr lang="en-US" sz="2000" noProof="1" smtClean="0"/>
              <a:t>	if (</a:t>
            </a:r>
            <a:r>
              <a:rPr lang="en-US" sz="2000" dirty="0" smtClean="0"/>
              <a:t>!</a:t>
            </a:r>
            <a:r>
              <a:rPr lang="en-US" sz="2000" noProof="1" smtClean="0"/>
              <a:t>nameFile)</a:t>
            </a:r>
          </a:p>
          <a:p>
            <a:pPr marL="514350" indent="-514350">
              <a:spcBef>
                <a:spcPts val="0"/>
              </a:spcBef>
              <a:buFont typeface="+mj-lt"/>
              <a:buAutoNum type="arabicPeriod"/>
            </a:pPr>
            <a:r>
              <a:rPr lang="en-US" sz="2000" noProof="1" smtClean="0"/>
              <a:t>	{    cout &lt;&lt; "File open error!" &lt;&lt; endl;    return 0;    }</a:t>
            </a:r>
          </a:p>
          <a:p>
            <a:pPr marL="514350" indent="-514350">
              <a:spcBef>
                <a:spcPts val="0"/>
              </a:spcBef>
              <a:buFont typeface="+mj-lt"/>
              <a:buAutoNum type="arabicPeriod"/>
            </a:pPr>
            <a:r>
              <a:rPr lang="en-US" sz="2000" noProof="1" smtClean="0"/>
              <a:t>	nameFile.getline(input, 81);  // use \n as a delimiter</a:t>
            </a:r>
          </a:p>
          <a:p>
            <a:pPr marL="514350" indent="-514350">
              <a:spcBef>
                <a:spcPts val="0"/>
              </a:spcBef>
              <a:buFont typeface="+mj-lt"/>
              <a:buAutoNum type="arabicPeriod"/>
            </a:pPr>
            <a:r>
              <a:rPr lang="en-US" sz="2000" noProof="1" smtClean="0"/>
              <a:t>	while (!nameFile.eof())</a:t>
            </a:r>
          </a:p>
          <a:p>
            <a:pPr marL="514350" indent="-514350">
              <a:spcBef>
                <a:spcPts val="0"/>
              </a:spcBef>
              <a:buFont typeface="+mj-lt"/>
              <a:buAutoNum type="arabicPeriod"/>
            </a:pPr>
            <a:r>
              <a:rPr lang="en-US" sz="2000" noProof="1" smtClean="0"/>
              <a:t>	{    cout &lt;&lt; input &lt;&lt; endl;</a:t>
            </a:r>
          </a:p>
          <a:p>
            <a:pPr marL="514350" indent="-514350">
              <a:spcBef>
                <a:spcPts val="0"/>
              </a:spcBef>
              <a:buFont typeface="+mj-lt"/>
              <a:buAutoNum type="arabicPeriod"/>
            </a:pPr>
            <a:r>
              <a:rPr lang="en-US" sz="2000" noProof="1" smtClean="0"/>
              <a:t>             nameFile.getline(input, 81); // use \n as a delimiter    }</a:t>
            </a:r>
          </a:p>
          <a:p>
            <a:pPr marL="514350" indent="-514350">
              <a:spcBef>
                <a:spcPts val="0"/>
              </a:spcBef>
              <a:buFont typeface="+mj-lt"/>
              <a:buAutoNum type="arabicPeriod"/>
            </a:pPr>
            <a:r>
              <a:rPr lang="en-US" sz="2000" noProof="1" smtClean="0"/>
              <a:t>	nameFile.close();</a:t>
            </a:r>
          </a:p>
          <a:p>
            <a:pPr marL="514350" indent="-514350">
              <a:spcBef>
                <a:spcPts val="0"/>
              </a:spcBef>
              <a:buFont typeface="+mj-lt"/>
              <a:buAutoNum type="arabicPeriod"/>
            </a:pPr>
            <a:r>
              <a:rPr lang="en-US" sz="2000" noProof="1" smtClean="0"/>
              <a:t>   	return 0;		}</a:t>
            </a:r>
            <a:endParaRPr lang="en-US" sz="2000" noProof="1"/>
          </a:p>
        </p:txBody>
      </p:sp>
      <p:sp>
        <p:nvSpPr>
          <p:cNvPr id="4" name="Slide Number Placeholder 5"/>
          <p:cNvSpPr>
            <a:spLocks noGrp="1"/>
          </p:cNvSpPr>
          <p:nvPr>
            <p:ph type="sldNum" sz="quarter" idx="12"/>
          </p:nvPr>
        </p:nvSpPr>
        <p:spPr/>
        <p:txBody>
          <a:bodyPr/>
          <a:lstStyle/>
          <a:p>
            <a:fld id="{9F41715F-5001-4678-822A-3EE12330B12D}" type="slidenum">
              <a:rPr lang="en-US" smtClean="0"/>
              <a:pPr/>
              <a:t>23</a:t>
            </a:fld>
            <a:endParaRPr lang="en-US"/>
          </a:p>
        </p:txBody>
      </p:sp>
      <p:sp>
        <p:nvSpPr>
          <p:cNvPr id="8" name="Rectangle 7"/>
          <p:cNvSpPr/>
          <p:nvPr/>
        </p:nvSpPr>
        <p:spPr>
          <a:xfrm>
            <a:off x="6732571" y="2431745"/>
            <a:ext cx="1036800" cy="1357295"/>
          </a:xfrm>
          <a:prstGeom prst="rect">
            <a:avLst/>
          </a:prstGeom>
          <a:solidFill>
            <a:schemeClr val="tx1">
              <a:lumMod val="75000"/>
              <a:lumOff val="25000"/>
            </a:schemeClr>
          </a:solidFill>
          <a:ln>
            <a:solidFill>
              <a:schemeClr val="tx1"/>
            </a:solidFill>
          </a:ln>
        </p:spPr>
        <p:txBody>
          <a:bodyPr wrap="square">
            <a:spAutoFit/>
          </a:bodyPr>
          <a:lstStyle/>
          <a:p>
            <a:pPr>
              <a:lnSpc>
                <a:spcPct val="80000"/>
              </a:lnSpc>
              <a:spcBef>
                <a:spcPts val="600"/>
              </a:spcBef>
              <a:buFontTx/>
              <a:buNone/>
            </a:pPr>
            <a:r>
              <a:rPr lang="en-US" sz="2100" noProof="1" smtClean="0">
                <a:solidFill>
                  <a:schemeClr val="bg1"/>
                </a:solidFill>
                <a:latin typeface="Prestige Elite"/>
              </a:rPr>
              <a:t>Jones</a:t>
            </a:r>
          </a:p>
          <a:p>
            <a:pPr>
              <a:lnSpc>
                <a:spcPct val="80000"/>
              </a:lnSpc>
              <a:spcBef>
                <a:spcPts val="600"/>
              </a:spcBef>
              <a:buFontTx/>
              <a:buNone/>
            </a:pPr>
            <a:r>
              <a:rPr lang="en-US" sz="2100" noProof="1" smtClean="0">
                <a:solidFill>
                  <a:schemeClr val="bg1"/>
                </a:solidFill>
                <a:latin typeface="Prestige Elite"/>
              </a:rPr>
              <a:t>Smith</a:t>
            </a:r>
          </a:p>
          <a:p>
            <a:pPr>
              <a:lnSpc>
                <a:spcPct val="80000"/>
              </a:lnSpc>
              <a:spcBef>
                <a:spcPts val="600"/>
              </a:spcBef>
              <a:buFontTx/>
              <a:buNone/>
            </a:pPr>
            <a:r>
              <a:rPr lang="en-US" sz="2100" noProof="1" smtClean="0">
                <a:solidFill>
                  <a:schemeClr val="bg1"/>
                </a:solidFill>
                <a:latin typeface="Prestige Elite"/>
              </a:rPr>
              <a:t>Willis</a:t>
            </a:r>
          </a:p>
          <a:p>
            <a:pPr>
              <a:lnSpc>
                <a:spcPct val="80000"/>
              </a:lnSpc>
              <a:spcBef>
                <a:spcPts val="600"/>
              </a:spcBef>
              <a:buFontTx/>
              <a:buNone/>
            </a:pPr>
            <a:r>
              <a:rPr lang="en-US" sz="2100" noProof="1" smtClean="0">
                <a:solidFill>
                  <a:schemeClr val="bg1"/>
                </a:solidFill>
                <a:latin typeface="Prestige Elite"/>
              </a:rPr>
              <a:t>Davis</a:t>
            </a:r>
          </a:p>
        </p:txBody>
      </p:sp>
      <p:sp>
        <p:nvSpPr>
          <p:cNvPr id="9" name="TextBox 8"/>
          <p:cNvSpPr txBox="1"/>
          <p:nvPr/>
        </p:nvSpPr>
        <p:spPr>
          <a:xfrm>
            <a:off x="6732240" y="1916832"/>
            <a:ext cx="1037463" cy="415498"/>
          </a:xfrm>
          <a:prstGeom prst="rect">
            <a:avLst/>
          </a:prstGeom>
          <a:solidFill>
            <a:schemeClr val="tx1">
              <a:lumMod val="75000"/>
              <a:lumOff val="25000"/>
            </a:schemeClr>
          </a:solidFill>
          <a:ln>
            <a:solidFill>
              <a:schemeClr val="tx1"/>
            </a:solidFill>
          </a:ln>
        </p:spPr>
        <p:txBody>
          <a:bodyPr wrap="none" rtlCol="0">
            <a:spAutoFit/>
          </a:bodyPr>
          <a:lstStyle/>
          <a:p>
            <a:r>
              <a:rPr lang="en-US" sz="2100" dirty="0" smtClean="0">
                <a:solidFill>
                  <a:schemeClr val="bg1"/>
                </a:solidFill>
              </a:rPr>
              <a:t>Output:</a:t>
            </a:r>
            <a:endParaRPr lang="en-IN" sz="2100" dirty="0">
              <a:solidFill>
                <a:schemeClr val="bg1"/>
              </a:solidFill>
            </a:endParaRPr>
          </a:p>
        </p:txBody>
      </p:sp>
    </p:spTree>
    <p:extLst>
      <p:ext uri="{BB962C8B-B14F-4D97-AF65-F5344CB8AC3E}">
        <p14:creationId xmlns:p14="http://schemas.microsoft.com/office/powerpoint/2010/main" xmlns="" val="4230265518"/>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9A590EF-4A35-4419-A7B9-A789268750D3}" type="slidenum">
              <a:rPr lang="en-US" smtClean="0"/>
              <a:pPr/>
              <a:t>24</a:t>
            </a:fld>
            <a:endParaRPr lang="en-US"/>
          </a:p>
        </p:txBody>
      </p:sp>
      <p:sp>
        <p:nvSpPr>
          <p:cNvPr id="87042" name="Rectangle 2"/>
          <p:cNvSpPr>
            <a:spLocks noGrp="1" noChangeArrowheads="1"/>
          </p:cNvSpPr>
          <p:nvPr>
            <p:ph type="title"/>
          </p:nvPr>
        </p:nvSpPr>
        <p:spPr/>
        <p:txBody>
          <a:bodyPr/>
          <a:lstStyle/>
          <a:p>
            <a:r>
              <a:rPr lang="en-US" smtClean="0"/>
              <a:t>The </a:t>
            </a:r>
            <a:r>
              <a:rPr lang="en-US" smtClean="0">
                <a:latin typeface="Courier New" pitchFamily="49" charset="0"/>
              </a:rPr>
              <a:t>get</a:t>
            </a:r>
            <a:r>
              <a:rPr lang="en-US" smtClean="0"/>
              <a:t> Member Function</a:t>
            </a:r>
            <a:endParaRPr lang="en-US"/>
          </a:p>
        </p:txBody>
      </p:sp>
      <p:sp>
        <p:nvSpPr>
          <p:cNvPr id="8" name="Rectangle 3"/>
          <p:cNvSpPr txBox="1">
            <a:spLocks noChangeArrowheads="1"/>
          </p:cNvSpPr>
          <p:nvPr/>
        </p:nvSpPr>
        <p:spPr>
          <a:xfrm>
            <a:off x="72000" y="1259632"/>
            <a:ext cx="9000000" cy="4968552"/>
          </a:xfrm>
          <a:prstGeom prst="rect">
            <a:avLst/>
          </a:prstGeom>
        </p:spPr>
        <p:txBody>
          <a:bodyPr vert="horz" lIns="91440" tIns="45720" rIns="91440" bIns="45720" rtlCol="0">
            <a:noAutofit/>
          </a:bodyPr>
          <a:lstStyle/>
          <a:p>
            <a:pPr marR="0" lvl="0" algn="l" defTabSz="914400" rtl="0" eaLnBrk="1" fontAlgn="auto" latinLnBrk="0" hangingPunct="1">
              <a:lnSpc>
                <a:spcPct val="100000"/>
              </a:lnSpc>
              <a:spcBef>
                <a:spcPts val="0"/>
              </a:spcBef>
              <a:spcAft>
                <a:spcPts val="0"/>
              </a:spcAft>
              <a:buClrTx/>
              <a:buSzTx/>
              <a:tabLst/>
              <a:defRPr/>
            </a:pPr>
            <a:r>
              <a:rPr kumimoji="0" lang="en-IN" sz="1900" b="0" i="0" u="none" strike="noStrike" kern="1200" cap="none" spc="0" normalizeH="0" baseline="0" noProof="1" smtClean="0">
                <a:ln>
                  <a:noFill/>
                </a:ln>
                <a:solidFill>
                  <a:schemeClr val="accent1"/>
                </a:solidFill>
                <a:effectLst/>
                <a:uLnTx/>
                <a:uFillTx/>
                <a:latin typeface="+mn-lt"/>
                <a:ea typeface="+mn-ea"/>
                <a:cs typeface="+mn-cs"/>
              </a:rPr>
              <a:t>This program asks the user for a file name. The file is opened and its contents are displayed on the screen.</a:t>
            </a:r>
          </a:p>
          <a:p>
            <a:pPr marR="0" lvl="0" algn="l" defTabSz="914400" rtl="0" eaLnBrk="1" fontAlgn="auto" latinLnBrk="0" hangingPunct="1">
              <a:lnSpc>
                <a:spcPct val="100000"/>
              </a:lnSpc>
              <a:spcBef>
                <a:spcPts val="0"/>
              </a:spcBef>
              <a:spcAft>
                <a:spcPts val="0"/>
              </a:spcAft>
              <a:buClrTx/>
              <a:buSzTx/>
              <a:tabLst/>
              <a:defRPr/>
            </a:pPr>
            <a:endParaRPr kumimoji="0" lang="en-IN" sz="1900" b="0" i="0" u="none" strike="noStrike" kern="1200" cap="none" spc="0" normalizeH="0" baseline="0" noProof="1"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900" b="0" i="0" u="none" strike="noStrike" kern="1200" cap="none" spc="0" normalizeH="0" baseline="0" noProof="1" smtClean="0">
                <a:ln>
                  <a:noFill/>
                </a:ln>
                <a:solidFill>
                  <a:schemeClr val="tx1"/>
                </a:solidFill>
                <a:effectLst/>
                <a:uLnTx/>
                <a:uFillTx/>
                <a:latin typeface="+mn-lt"/>
                <a:ea typeface="+mn-ea"/>
                <a:cs typeface="+mn-cs"/>
              </a:rPr>
              <a:t>#include &lt;</a:t>
            </a:r>
            <a:r>
              <a:rPr kumimoji="0" lang="en-US" sz="1900" b="0" i="0" u="none" strike="noStrike" kern="1200" cap="none" spc="0" normalizeH="0" baseline="0" noProof="0" dirty="0" err="1" smtClean="0">
                <a:ln>
                  <a:noFill/>
                </a:ln>
                <a:solidFill>
                  <a:schemeClr val="tx1"/>
                </a:solidFill>
                <a:effectLst/>
                <a:uLnTx/>
                <a:uFillTx/>
                <a:latin typeface="+mn-lt"/>
                <a:ea typeface="+mn-ea"/>
                <a:cs typeface="+mn-cs"/>
              </a:rPr>
              <a:t>iostream</a:t>
            </a:r>
            <a:r>
              <a:rPr kumimoji="0" lang="en-US" sz="1900" b="0" i="0" u="none" strike="noStrike" kern="1200" cap="none" spc="0" normalizeH="0" baseline="0" noProof="1" smtClean="0">
                <a:ln>
                  <a:noFill/>
                </a:ln>
                <a:solidFill>
                  <a:schemeClr val="tx1"/>
                </a:solidFill>
                <a:effectLst/>
                <a:uLnTx/>
                <a:uFillTx/>
                <a:latin typeface="+mn-lt"/>
                <a:ea typeface="+mn-ea"/>
                <a:cs typeface="+mn-cs"/>
              </a:rPr>
              <a:t>&gt; </a:t>
            </a:r>
            <a:endParaRPr kumimoji="0" lang="en-US" sz="1900" b="0" i="0" u="none" strike="noStrike" kern="1200" cap="none" spc="0" normalizeH="0" baseline="0" noProof="0" dirty="0" smtClean="0">
              <a:ln>
                <a:noFill/>
              </a:ln>
              <a:solidFill>
                <a:schemeClr val="tx1"/>
              </a:solidFill>
              <a:effectLst/>
              <a:uLnTx/>
              <a:uFillTx/>
              <a:latin typeface="+mn-lt"/>
              <a:ea typeface="+mn-ea"/>
              <a:cs typeface="+mn-cs"/>
            </a:endParaRP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#include &lt;fstream&gt;</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using namespace std;</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int main()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fstream file;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char ch, fileName[51];</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cout &lt;&lt; "Enter a file name: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cin &gt;&gt; fileName;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file.open(fileName, ios::in);</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if (</a:t>
            </a:r>
            <a:r>
              <a:rPr kumimoji="0" lang="en-US" sz="1900" b="0" i="0" u="none" strike="noStrike" kern="1200" cap="none" spc="0" normalizeH="0" baseline="0" noProof="0" dirty="0" smtClean="0">
                <a:ln>
                  <a:noFill/>
                </a:ln>
                <a:solidFill>
                  <a:schemeClr val="tx1"/>
                </a:solidFill>
                <a:effectLst/>
                <a:uLnTx/>
                <a:uFillTx/>
                <a:latin typeface="+mn-lt"/>
                <a:ea typeface="+mn-ea"/>
                <a:cs typeface="+mn-cs"/>
              </a:rPr>
              <a:t>!</a:t>
            </a:r>
            <a:r>
              <a:rPr kumimoji="0" lang="en-US" sz="1900" b="0" i="0" u="none" strike="noStrike" kern="1200" cap="none" spc="0" normalizeH="0" baseline="0" noProof="1" smtClean="0">
                <a:ln>
                  <a:noFill/>
                </a:ln>
                <a:solidFill>
                  <a:schemeClr val="tx1"/>
                </a:solidFill>
                <a:effectLst/>
                <a:uLnTx/>
                <a:uFillTx/>
                <a:latin typeface="+mn-lt"/>
                <a:ea typeface="+mn-ea"/>
                <a:cs typeface="+mn-cs"/>
              </a:rPr>
              <a:t>file)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US" sz="1900" b="0" i="0" u="none" strike="noStrike" kern="1200" cap="none" spc="0" normalizeH="0" baseline="0" noProof="1" smtClean="0">
                <a:ln>
                  <a:noFill/>
                </a:ln>
                <a:solidFill>
                  <a:schemeClr val="tx1"/>
                </a:solidFill>
                <a:effectLst/>
                <a:uLnTx/>
                <a:uFillTx/>
                <a:latin typeface="+mn-lt"/>
                <a:ea typeface="+mn-ea"/>
                <a:cs typeface="+mn-cs"/>
              </a:rPr>
              <a:t>	{    cout &lt;&lt; fileName &lt;&lt; “</a:t>
            </a:r>
            <a:r>
              <a:rPr kumimoji="0" lang="en-US" sz="1900" b="0" i="0" u="none" strike="noStrike" kern="1200" cap="none" spc="0" normalizeH="0" baseline="0" noProof="0" dirty="0" smtClean="0">
                <a:ln>
                  <a:noFill/>
                </a:ln>
                <a:solidFill>
                  <a:schemeClr val="tx1"/>
                </a:solidFill>
                <a:effectLst/>
                <a:uLnTx/>
                <a:uFillTx/>
                <a:latin typeface="+mn-lt"/>
                <a:ea typeface="+mn-ea"/>
                <a:cs typeface="+mn-cs"/>
              </a:rPr>
              <a:t> </a:t>
            </a:r>
            <a:r>
              <a:rPr kumimoji="0" lang="en-US" sz="1900" b="0" i="0" u="none" strike="noStrike" kern="1200" cap="none" spc="0" normalizeH="0" baseline="0" noProof="1" smtClean="0">
                <a:ln>
                  <a:noFill/>
                </a:ln>
                <a:solidFill>
                  <a:schemeClr val="tx1"/>
                </a:solidFill>
                <a:effectLst/>
                <a:uLnTx/>
                <a:uFillTx/>
                <a:latin typeface="+mn-lt"/>
                <a:ea typeface="+mn-ea"/>
                <a:cs typeface="+mn-cs"/>
              </a:rPr>
              <a:t>could not be opened.\n";    return 0;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900" b="0" i="0" u="none" strike="noStrike" kern="1200" cap="none" spc="0" normalizeH="0" baseline="0" noProof="1" smtClean="0">
                <a:ln>
                  <a:noFill/>
                </a:ln>
                <a:solidFill>
                  <a:schemeClr val="tx1"/>
                </a:solidFill>
                <a:effectLst/>
                <a:uLnTx/>
                <a:uFillTx/>
                <a:latin typeface="+mn-lt"/>
                <a:ea typeface="+mn-ea"/>
                <a:cs typeface="+mn-cs"/>
              </a:rPr>
              <a:t>	file.get(ch);   // Get a character</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900" b="0" i="0" u="none" strike="noStrike" kern="1200" cap="none" spc="0" normalizeH="0" baseline="0" noProof="1" smtClean="0">
                <a:ln>
                  <a:noFill/>
                </a:ln>
                <a:solidFill>
                  <a:schemeClr val="tx1"/>
                </a:solidFill>
                <a:effectLst/>
                <a:uLnTx/>
                <a:uFillTx/>
                <a:latin typeface="+mn-lt"/>
                <a:ea typeface="+mn-ea"/>
                <a:cs typeface="+mn-cs"/>
              </a:rPr>
              <a:t>	while (!file.eof())</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900" b="0" i="0" u="none" strike="noStrike" kern="1200" cap="none" spc="0" normalizeH="0" baseline="0" noProof="1" smtClean="0">
                <a:ln>
                  <a:noFill/>
                </a:ln>
                <a:solidFill>
                  <a:schemeClr val="tx1"/>
                </a:solidFill>
                <a:effectLst/>
                <a:uLnTx/>
                <a:uFillTx/>
                <a:latin typeface="+mn-lt"/>
                <a:ea typeface="+mn-ea"/>
                <a:cs typeface="+mn-cs"/>
              </a:rPr>
              <a:t>	{    cout &lt;&lt; ch;    file.get(ch);   // Get another character    }</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900" b="0" i="0" u="none" strike="noStrike" kern="1200" cap="none" spc="0" normalizeH="0" baseline="0" noProof="1" smtClean="0">
                <a:ln>
                  <a:noFill/>
                </a:ln>
                <a:solidFill>
                  <a:schemeClr val="tx1"/>
                </a:solidFill>
                <a:effectLst/>
                <a:uLnTx/>
                <a:uFillTx/>
                <a:latin typeface="+mn-lt"/>
                <a:ea typeface="+mn-ea"/>
                <a:cs typeface="+mn-cs"/>
              </a:rPr>
              <a:t>	file.close();</a:t>
            </a:r>
          </a:p>
          <a:p>
            <a:pPr marL="514350" marR="0" lvl="0" indent="-514350" algn="l" defTabSz="914400" rtl="0" eaLnBrk="1" fontAlgn="auto" latinLnBrk="0" hangingPunct="1">
              <a:lnSpc>
                <a:spcPct val="100000"/>
              </a:lnSpc>
              <a:spcBef>
                <a:spcPts val="0"/>
              </a:spcBef>
              <a:spcAft>
                <a:spcPts val="0"/>
              </a:spcAft>
              <a:buClrTx/>
              <a:buSzTx/>
              <a:buFont typeface="+mj-lt"/>
              <a:buAutoNum type="arabicPeriod"/>
              <a:tabLst/>
              <a:defRPr/>
            </a:pPr>
            <a:r>
              <a:rPr kumimoji="0" lang="en-IN" sz="1900" b="0" i="0" u="none" strike="noStrike" kern="1200" cap="none" spc="0" normalizeH="0" baseline="0" noProof="1" smtClean="0">
                <a:ln>
                  <a:noFill/>
                </a:ln>
                <a:solidFill>
                  <a:schemeClr val="tx1"/>
                </a:solidFill>
                <a:effectLst/>
                <a:uLnTx/>
                <a:uFillTx/>
                <a:latin typeface="+mn-lt"/>
                <a:ea typeface="+mn-ea"/>
                <a:cs typeface="+mn-cs"/>
              </a:rPr>
              <a:t>   	return 0;	}</a:t>
            </a:r>
          </a:p>
        </p:txBody>
      </p:sp>
    </p:spTree>
    <p:extLst>
      <p:ext uri="{BB962C8B-B14F-4D97-AF65-F5344CB8AC3E}">
        <p14:creationId xmlns:p14="http://schemas.microsoft.com/office/powerpoint/2010/main" xmlns="" val="111116087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5"/>
          <p:cNvSpPr>
            <a:spLocks noGrp="1"/>
          </p:cNvSpPr>
          <p:nvPr>
            <p:ph type="sldNum" sz="quarter" idx="12"/>
          </p:nvPr>
        </p:nvSpPr>
        <p:spPr/>
        <p:txBody>
          <a:bodyPr/>
          <a:lstStyle/>
          <a:p>
            <a:fld id="{464B1B1A-73A2-4710-B873-AEE38E303C45}" type="slidenum">
              <a:rPr lang="en-US" smtClean="0"/>
              <a:pPr/>
              <a:t>25</a:t>
            </a:fld>
            <a:endParaRPr lang="en-US"/>
          </a:p>
        </p:txBody>
      </p:sp>
      <p:sp>
        <p:nvSpPr>
          <p:cNvPr id="91138" name="Rectangle 2"/>
          <p:cNvSpPr>
            <a:spLocks noGrp="1" noChangeArrowheads="1"/>
          </p:cNvSpPr>
          <p:nvPr>
            <p:ph type="title"/>
          </p:nvPr>
        </p:nvSpPr>
        <p:spPr/>
        <p:txBody>
          <a:bodyPr/>
          <a:lstStyle/>
          <a:p>
            <a:r>
              <a:rPr lang="en-US" smtClean="0"/>
              <a:t>The </a:t>
            </a:r>
            <a:r>
              <a:rPr lang="en-US" smtClean="0">
                <a:latin typeface="Courier New" pitchFamily="49" charset="0"/>
              </a:rPr>
              <a:t>put</a:t>
            </a:r>
            <a:r>
              <a:rPr lang="en-US" smtClean="0"/>
              <a:t> Member Function</a:t>
            </a:r>
            <a:endParaRPr lang="en-US"/>
          </a:p>
        </p:txBody>
      </p:sp>
      <p:sp>
        <p:nvSpPr>
          <p:cNvPr id="5" name="Content Placeholder 4"/>
          <p:cNvSpPr>
            <a:spLocks noGrp="1"/>
          </p:cNvSpPr>
          <p:nvPr>
            <p:ph idx="1"/>
          </p:nvPr>
        </p:nvSpPr>
        <p:spPr>
          <a:xfrm>
            <a:off x="72000" y="1195431"/>
            <a:ext cx="9000000" cy="4968552"/>
          </a:xfrm>
        </p:spPr>
        <p:txBody>
          <a:bodyPr>
            <a:noAutofit/>
          </a:bodyPr>
          <a:lstStyle/>
          <a:p>
            <a:pPr marL="0" indent="0">
              <a:spcBef>
                <a:spcPts val="0"/>
              </a:spcBef>
              <a:buNone/>
            </a:pPr>
            <a:r>
              <a:rPr lang="en-IN" sz="2000" dirty="0" smtClean="0"/>
              <a:t> </a:t>
            </a:r>
            <a:r>
              <a:rPr lang="en-IN" sz="2000" dirty="0" smtClean="0">
                <a:solidFill>
                  <a:schemeClr val="accent1"/>
                </a:solidFill>
              </a:rPr>
              <a:t>This program demonstrates the put member function.</a:t>
            </a:r>
          </a:p>
          <a:p>
            <a:pPr marL="0" indent="0">
              <a:spcBef>
                <a:spcPts val="0"/>
              </a:spcBef>
              <a:buNone/>
            </a:pPr>
            <a:endParaRPr lang="en-IN" sz="2000" dirty="0" smtClean="0"/>
          </a:p>
          <a:p>
            <a:pPr marL="514350" indent="-514350">
              <a:spcBef>
                <a:spcPts val="0"/>
              </a:spcBef>
              <a:buFont typeface="+mj-lt"/>
              <a:buAutoNum type="arabicPeriod"/>
            </a:pPr>
            <a:r>
              <a:rPr lang="en-IN" sz="2000" dirty="0" smtClean="0"/>
              <a:t>#include &lt;</a:t>
            </a:r>
            <a:r>
              <a:rPr lang="en-IN" sz="2000" dirty="0" err="1" smtClean="0"/>
              <a:t>iostream</a:t>
            </a:r>
            <a:r>
              <a:rPr lang="en-IN" sz="2000" dirty="0" smtClean="0"/>
              <a:t>&gt; </a:t>
            </a:r>
          </a:p>
          <a:p>
            <a:pPr marL="514350" indent="-514350">
              <a:spcBef>
                <a:spcPts val="0"/>
              </a:spcBef>
              <a:buFont typeface="+mj-lt"/>
              <a:buAutoNum type="arabicPeriod"/>
            </a:pPr>
            <a:r>
              <a:rPr lang="en-IN" sz="2000" dirty="0" smtClean="0"/>
              <a:t>#include &lt;</a:t>
            </a:r>
            <a:r>
              <a:rPr lang="en-IN" sz="2000" dirty="0" err="1" smtClean="0"/>
              <a:t>fstream</a:t>
            </a:r>
            <a:r>
              <a:rPr lang="en-IN" sz="2000" dirty="0" smtClean="0"/>
              <a:t>&gt;</a:t>
            </a:r>
            <a:br>
              <a:rPr lang="en-IN" sz="2000" dirty="0" smtClean="0"/>
            </a:br>
            <a:r>
              <a:rPr lang="en-IN" sz="2000" dirty="0" smtClean="0"/>
              <a:t>using namespace std;</a:t>
            </a:r>
          </a:p>
          <a:p>
            <a:pPr marL="514350" indent="-514350">
              <a:spcBef>
                <a:spcPts val="0"/>
              </a:spcBef>
              <a:buFont typeface="+mj-lt"/>
              <a:buAutoNum type="arabicPeriod"/>
            </a:pPr>
            <a:r>
              <a:rPr lang="en-IN" sz="2000" dirty="0" err="1" smtClean="0"/>
              <a:t>int</a:t>
            </a:r>
            <a:r>
              <a:rPr lang="en-IN" sz="2000" dirty="0" smtClean="0"/>
              <a:t> main()</a:t>
            </a:r>
          </a:p>
          <a:p>
            <a:pPr marL="514350" indent="-514350">
              <a:spcBef>
                <a:spcPts val="0"/>
              </a:spcBef>
              <a:buFont typeface="+mj-lt"/>
              <a:buAutoNum type="arabicPeriod"/>
            </a:pPr>
            <a:r>
              <a:rPr lang="en-IN" sz="2000" dirty="0" smtClean="0"/>
              <a:t>{	</a:t>
            </a:r>
            <a:r>
              <a:rPr lang="en-IN" sz="2000" dirty="0" err="1" smtClean="0"/>
              <a:t>fstream</a:t>
            </a:r>
            <a:r>
              <a:rPr lang="en-IN" sz="2000" dirty="0" smtClean="0"/>
              <a:t> </a:t>
            </a:r>
            <a:r>
              <a:rPr lang="en-IN" sz="2000" dirty="0" err="1" smtClean="0"/>
              <a:t>dataFile</a:t>
            </a:r>
            <a:r>
              <a:rPr lang="en-IN" sz="2000" dirty="0" smtClean="0"/>
              <a:t>("sentence.txt", </a:t>
            </a:r>
            <a:r>
              <a:rPr lang="en-IN" sz="2000" dirty="0" err="1" smtClean="0"/>
              <a:t>ios</a:t>
            </a:r>
            <a:r>
              <a:rPr lang="en-IN" sz="2000" dirty="0" smtClean="0"/>
              <a:t>::out);</a:t>
            </a:r>
          </a:p>
          <a:p>
            <a:pPr marL="514350" indent="-514350">
              <a:spcBef>
                <a:spcPts val="0"/>
              </a:spcBef>
              <a:buFont typeface="+mj-lt"/>
              <a:buAutoNum type="arabicPeriod"/>
            </a:pPr>
            <a:r>
              <a:rPr lang="en-IN" sz="2000" dirty="0" smtClean="0"/>
              <a:t>	char </a:t>
            </a:r>
            <a:r>
              <a:rPr lang="en-IN" sz="2000" dirty="0" err="1" smtClean="0"/>
              <a:t>ch</a:t>
            </a:r>
            <a:r>
              <a:rPr lang="en-IN" sz="2000" dirty="0" smtClean="0"/>
              <a:t>;</a:t>
            </a:r>
            <a:br>
              <a:rPr lang="en-IN" sz="2000" dirty="0" smtClean="0"/>
            </a:br>
            <a:r>
              <a:rPr lang="en-IN" sz="2000" dirty="0" smtClean="0"/>
              <a:t>	</a:t>
            </a:r>
            <a:r>
              <a:rPr lang="en-IN" sz="2000" dirty="0" err="1" smtClean="0"/>
              <a:t>cout</a:t>
            </a:r>
            <a:r>
              <a:rPr lang="en-IN" sz="2000" dirty="0" smtClean="0"/>
              <a:t> &lt;&lt; "Type a sentence and be sure to end it with a ";</a:t>
            </a:r>
          </a:p>
          <a:p>
            <a:pPr marL="514350" indent="-514350">
              <a:spcBef>
                <a:spcPts val="0"/>
              </a:spcBef>
              <a:buFont typeface="+mj-lt"/>
              <a:buAutoNum type="arabicPeriod"/>
            </a:pPr>
            <a:r>
              <a:rPr lang="en-IN" sz="2000" dirty="0" smtClean="0"/>
              <a:t>	</a:t>
            </a:r>
            <a:r>
              <a:rPr lang="en-IN" sz="2000" dirty="0" err="1" smtClean="0"/>
              <a:t>cout</a:t>
            </a:r>
            <a:r>
              <a:rPr lang="en-IN" sz="2000" dirty="0" smtClean="0"/>
              <a:t> &lt;&lt; "period.\n";</a:t>
            </a:r>
          </a:p>
          <a:p>
            <a:pPr marL="514350" indent="-514350">
              <a:spcBef>
                <a:spcPts val="0"/>
              </a:spcBef>
              <a:buFont typeface="+mj-lt"/>
              <a:buAutoNum type="arabicPeriod"/>
            </a:pPr>
            <a:r>
              <a:rPr lang="en-IN" sz="2000" dirty="0" smtClean="0"/>
              <a:t>	while (1)</a:t>
            </a:r>
          </a:p>
          <a:p>
            <a:pPr marL="514350" indent="-514350">
              <a:spcBef>
                <a:spcPts val="0"/>
              </a:spcBef>
              <a:buFont typeface="+mj-lt"/>
              <a:buAutoNum type="arabicPeriod"/>
            </a:pPr>
            <a:r>
              <a:rPr lang="en-IN" sz="2000" dirty="0" smtClean="0"/>
              <a:t>	{    </a:t>
            </a:r>
            <a:r>
              <a:rPr lang="en-IN" sz="2000" dirty="0" err="1" smtClean="0"/>
              <a:t>cin.get</a:t>
            </a:r>
            <a:r>
              <a:rPr lang="en-IN" sz="2000" dirty="0" smtClean="0"/>
              <a:t>(</a:t>
            </a:r>
            <a:r>
              <a:rPr lang="en-IN" sz="2000" dirty="0" err="1" smtClean="0"/>
              <a:t>ch</a:t>
            </a:r>
            <a:r>
              <a:rPr lang="en-IN" sz="2000" dirty="0" smtClean="0"/>
              <a:t>);</a:t>
            </a:r>
          </a:p>
          <a:p>
            <a:pPr marL="514350" indent="-514350">
              <a:spcBef>
                <a:spcPts val="0"/>
              </a:spcBef>
              <a:buFont typeface="+mj-lt"/>
              <a:buAutoNum type="arabicPeriod"/>
            </a:pPr>
            <a:r>
              <a:rPr lang="en-IN" sz="2000" dirty="0" smtClean="0"/>
              <a:t>	     </a:t>
            </a:r>
            <a:r>
              <a:rPr lang="en-IN" sz="2000" dirty="0" err="1" smtClean="0"/>
              <a:t>dataFile.put</a:t>
            </a:r>
            <a:r>
              <a:rPr lang="en-IN" sz="2000" dirty="0" smtClean="0"/>
              <a:t>(</a:t>
            </a:r>
            <a:r>
              <a:rPr lang="en-IN" sz="2000" dirty="0" err="1" smtClean="0"/>
              <a:t>ch</a:t>
            </a:r>
            <a:r>
              <a:rPr lang="en-IN" sz="2000" dirty="0" smtClean="0"/>
              <a:t>);</a:t>
            </a:r>
          </a:p>
          <a:p>
            <a:pPr marL="514350" indent="-514350">
              <a:spcBef>
                <a:spcPts val="0"/>
              </a:spcBef>
              <a:buFont typeface="+mj-lt"/>
              <a:buAutoNum type="arabicPeriod"/>
            </a:pPr>
            <a:r>
              <a:rPr lang="en-IN" sz="2000" dirty="0" smtClean="0"/>
              <a:t>	     if (</a:t>
            </a:r>
            <a:r>
              <a:rPr lang="en-IN" sz="2000" dirty="0" err="1" smtClean="0"/>
              <a:t>ch</a:t>
            </a:r>
            <a:r>
              <a:rPr lang="en-IN" sz="2000" dirty="0" smtClean="0"/>
              <a:t> == '.')</a:t>
            </a:r>
          </a:p>
          <a:p>
            <a:pPr marL="514350" indent="-514350">
              <a:spcBef>
                <a:spcPts val="0"/>
              </a:spcBef>
              <a:buFont typeface="+mj-lt"/>
              <a:buAutoNum type="arabicPeriod"/>
            </a:pPr>
            <a:r>
              <a:rPr lang="en-IN" sz="2000" dirty="0" smtClean="0"/>
              <a:t>	         break;</a:t>
            </a:r>
          </a:p>
          <a:p>
            <a:pPr marL="514350" indent="-514350">
              <a:spcBef>
                <a:spcPts val="0"/>
              </a:spcBef>
              <a:buFont typeface="+mj-lt"/>
              <a:buAutoNum type="arabicPeriod"/>
            </a:pPr>
            <a:r>
              <a:rPr lang="en-IN" sz="2000" dirty="0" smtClean="0"/>
              <a:t>	}</a:t>
            </a:r>
          </a:p>
          <a:p>
            <a:pPr marL="514350" indent="-514350">
              <a:spcBef>
                <a:spcPts val="0"/>
              </a:spcBef>
              <a:buFont typeface="+mj-lt"/>
              <a:buAutoNum type="arabicPeriod"/>
            </a:pPr>
            <a:r>
              <a:rPr lang="en-IN" sz="2000" dirty="0" smtClean="0"/>
              <a:t>	</a:t>
            </a:r>
            <a:r>
              <a:rPr lang="en-IN" sz="2000" dirty="0" err="1" smtClean="0"/>
              <a:t>dataFile.close</a:t>
            </a:r>
            <a:r>
              <a:rPr lang="en-IN" sz="2000" dirty="0" smtClean="0"/>
              <a:t>();</a:t>
            </a:r>
          </a:p>
          <a:p>
            <a:pPr marL="514350" indent="-514350">
              <a:spcBef>
                <a:spcPts val="0"/>
              </a:spcBef>
              <a:buFont typeface="+mj-lt"/>
              <a:buAutoNum type="arabicPeriod"/>
            </a:pPr>
            <a:r>
              <a:rPr lang="en-IN" sz="2000" dirty="0" smtClean="0"/>
              <a:t>   	return 0;          }	</a:t>
            </a:r>
          </a:p>
        </p:txBody>
      </p:sp>
      <p:sp>
        <p:nvSpPr>
          <p:cNvPr id="9" name="Rectangle 3"/>
          <p:cNvSpPr txBox="1">
            <a:spLocks noChangeArrowheads="1"/>
          </p:cNvSpPr>
          <p:nvPr/>
        </p:nvSpPr>
        <p:spPr>
          <a:xfrm>
            <a:off x="3419872" y="4314415"/>
            <a:ext cx="5112568" cy="1994905"/>
          </a:xfrm>
          <a:prstGeom prst="rect">
            <a:avLst/>
          </a:prstGeom>
          <a:solidFill>
            <a:schemeClr val="tx1">
              <a:lumMod val="75000"/>
              <a:lumOff val="25000"/>
            </a:schemeClr>
          </a:solidFill>
          <a:ln>
            <a:solidFill>
              <a:schemeClr val="tx1"/>
            </a:solidFill>
          </a:ln>
        </p:spPr>
        <p:txBody>
          <a:bodyPr vert="horz" lIns="91440" tIns="45720" rIns="91440" bIns="45720" rtlCol="0">
            <a:spAutoFit/>
          </a:bodyPr>
          <a:lstStyle/>
          <a:p>
            <a:pPr marR="0" lvl="0" algn="l" defTabSz="914400" rtl="0" eaLnBrk="1" fontAlgn="auto" latinLnBrk="0" hangingPunct="1">
              <a:lnSpc>
                <a:spcPct val="80000"/>
              </a:lnSpc>
              <a:spcBef>
                <a:spcPct val="20000"/>
              </a:spcBef>
              <a:spcAft>
                <a:spcPts val="0"/>
              </a:spcAft>
              <a:buClrTx/>
              <a:buSzTx/>
              <a:buFontTx/>
              <a:buNone/>
              <a:tabLst/>
              <a:defRPr/>
            </a:pPr>
            <a:r>
              <a:rPr kumimoji="0" lang="en-IN" sz="1800" b="0" i="0" u="none" strike="noStrike" kern="1200" cap="none" spc="0" normalizeH="0" baseline="0" noProof="1" smtClean="0">
                <a:ln>
                  <a:noFill/>
                </a:ln>
                <a:solidFill>
                  <a:schemeClr val="bg1"/>
                </a:solidFill>
                <a:effectLst/>
                <a:uLnTx/>
                <a:uFillTx/>
                <a:latin typeface="Courier New" pitchFamily="49" charset="0"/>
                <a:ea typeface="+mn-ea"/>
                <a:cs typeface="+mn-cs"/>
              </a:rPr>
              <a:t>Type a sentence and be sure to end it with a period.</a:t>
            </a:r>
          </a:p>
          <a:p>
            <a:pPr marR="0" lvl="0" algn="l" defTabSz="914400" rtl="0" eaLnBrk="1" fontAlgn="auto" latinLnBrk="0" hangingPunct="1">
              <a:lnSpc>
                <a:spcPct val="100000"/>
              </a:lnSpc>
              <a:spcBef>
                <a:spcPct val="20000"/>
              </a:spcBef>
              <a:spcAft>
                <a:spcPts val="0"/>
              </a:spcAft>
              <a:buClrTx/>
              <a:buSzTx/>
              <a:buFontTx/>
              <a:buNone/>
              <a:tabLst/>
              <a:defRPr/>
            </a:pPr>
            <a:r>
              <a:rPr kumimoji="0" lang="en-IN" sz="1800" b="1" i="0" u="none" strike="noStrike" kern="1200" cap="none" spc="0" normalizeH="0" baseline="0" noProof="1" smtClean="0">
                <a:ln>
                  <a:noFill/>
                </a:ln>
                <a:solidFill>
                  <a:schemeClr val="bg1"/>
                </a:solidFill>
                <a:effectLst/>
                <a:uLnTx/>
                <a:uFillTx/>
                <a:latin typeface="Courier New" pitchFamily="49" charset="0"/>
                <a:ea typeface="Officina Sans" charset="-128"/>
                <a:cs typeface="+mn-cs"/>
              </a:rPr>
              <a:t>I am on my way.	</a:t>
            </a:r>
            <a:endParaRPr kumimoji="0" lang="en-IN" sz="1800" b="1" i="0" u="none" strike="noStrike" kern="1200" cap="none" spc="0" normalizeH="0" baseline="0" noProof="1" smtClean="0">
              <a:ln>
                <a:noFill/>
              </a:ln>
              <a:solidFill>
                <a:schemeClr val="bg1"/>
              </a:solidFill>
              <a:effectLst/>
              <a:uLnTx/>
              <a:uFillTx/>
              <a:latin typeface="Courier New" pitchFamily="49" charset="0"/>
              <a:cs typeface="+mn-cs"/>
            </a:endParaRPr>
          </a:p>
          <a:p>
            <a:pPr marR="0" lvl="0" algn="l" defTabSz="914400" rtl="0" eaLnBrk="1" fontAlgn="auto" latinLnBrk="0" hangingPunct="1">
              <a:lnSpc>
                <a:spcPct val="96000"/>
              </a:lnSpc>
              <a:spcBef>
                <a:spcPts val="1275"/>
              </a:spcBef>
              <a:spcAft>
                <a:spcPts val="0"/>
              </a:spcAft>
              <a:buClrTx/>
              <a:buSzTx/>
              <a:buFontTx/>
              <a:buNone/>
              <a:tabLst/>
              <a:defRPr/>
            </a:pPr>
            <a:r>
              <a:rPr kumimoji="0" lang="en-IN" sz="2000" b="1" i="1" u="none" strike="noStrike" kern="1200" cap="none" spc="0" normalizeH="0" baseline="0" noProof="1" smtClean="0">
                <a:ln>
                  <a:noFill/>
                </a:ln>
                <a:solidFill>
                  <a:schemeClr val="bg1"/>
                </a:solidFill>
                <a:effectLst/>
                <a:uLnTx/>
                <a:uFillTx/>
                <a:latin typeface="Officina Sans" charset="-128"/>
                <a:ea typeface="Officina Sans" charset="-128"/>
                <a:cs typeface="+mn-cs"/>
              </a:rPr>
              <a:t>Resulting Contents of the File </a:t>
            </a:r>
            <a:r>
              <a:rPr kumimoji="0" lang="en-IN" sz="2000" b="1" i="1" u="none" strike="noStrike" kern="1200" cap="none" spc="0" normalizeH="0" baseline="0" noProof="1" smtClean="0">
                <a:ln>
                  <a:noFill/>
                </a:ln>
                <a:solidFill>
                  <a:schemeClr val="bg1"/>
                </a:solidFill>
                <a:effectLst/>
                <a:uLnTx/>
                <a:uFillTx/>
                <a:latin typeface="Prestige Elite"/>
                <a:ea typeface="Officina Sans" charset="-128"/>
                <a:cs typeface="+mn-cs"/>
              </a:rPr>
              <a:t>SENTENCE.TXT</a:t>
            </a:r>
            <a:r>
              <a:rPr kumimoji="0" lang="en-IN" sz="2000" b="1" i="1" u="none" strike="noStrike" kern="1200" cap="none" spc="0" normalizeH="0" baseline="0" noProof="1" smtClean="0">
                <a:ln>
                  <a:noFill/>
                </a:ln>
                <a:solidFill>
                  <a:schemeClr val="bg1"/>
                </a:solidFill>
                <a:effectLst/>
                <a:uLnTx/>
                <a:uFillTx/>
                <a:latin typeface="Officina Sans" charset="-128"/>
                <a:ea typeface="Officina Sans" charset="-128"/>
                <a:cs typeface="+mn-cs"/>
              </a:rPr>
              <a:t>:</a:t>
            </a:r>
          </a:p>
          <a:p>
            <a:pPr marR="0" lvl="0" algn="l" defTabSz="914400" rtl="0" eaLnBrk="1" fontAlgn="auto" latinLnBrk="0" hangingPunct="1">
              <a:lnSpc>
                <a:spcPct val="100000"/>
              </a:lnSpc>
              <a:spcBef>
                <a:spcPct val="20000"/>
              </a:spcBef>
              <a:spcAft>
                <a:spcPts val="0"/>
              </a:spcAft>
              <a:buClrTx/>
              <a:buSzTx/>
              <a:buFontTx/>
              <a:buNone/>
              <a:tabLst/>
              <a:defRPr/>
            </a:pPr>
            <a:r>
              <a:rPr kumimoji="0" lang="en-IN" sz="2000" b="0" i="0" u="none" strike="noStrike" kern="1200" cap="none" spc="0" normalizeH="0" baseline="0" noProof="1" smtClean="0">
                <a:ln>
                  <a:noFill/>
                </a:ln>
                <a:solidFill>
                  <a:schemeClr val="bg1"/>
                </a:solidFill>
                <a:effectLst/>
                <a:uLnTx/>
                <a:uFillTx/>
                <a:latin typeface="Courier New" pitchFamily="49" charset="0"/>
                <a:ea typeface="+mn-ea"/>
                <a:cs typeface="+mn-cs"/>
              </a:rPr>
              <a:t>I am on my way.</a:t>
            </a:r>
            <a:endParaRPr kumimoji="0" lang="en-IN" sz="2000" b="0" i="0" u="none" strike="noStrike" kern="1200" cap="none" spc="0" normalizeH="0" baseline="0" noProof="1">
              <a:ln>
                <a:noFill/>
              </a:ln>
              <a:solidFill>
                <a:schemeClr val="bg1"/>
              </a:solidFill>
              <a:effectLst/>
              <a:uLnTx/>
              <a:uFillTx/>
              <a:latin typeface="Courier New" pitchFamily="49" charset="0"/>
              <a:ea typeface="+mn-ea"/>
              <a:cs typeface="+mn-cs"/>
            </a:endParaRPr>
          </a:p>
        </p:txBody>
      </p:sp>
      <p:sp>
        <p:nvSpPr>
          <p:cNvPr id="10" name="TextBox 9"/>
          <p:cNvSpPr txBox="1"/>
          <p:nvPr/>
        </p:nvSpPr>
        <p:spPr>
          <a:xfrm>
            <a:off x="7494977" y="3810359"/>
            <a:ext cx="1037463" cy="415498"/>
          </a:xfrm>
          <a:prstGeom prst="rect">
            <a:avLst/>
          </a:prstGeom>
          <a:solidFill>
            <a:schemeClr val="tx1">
              <a:lumMod val="75000"/>
              <a:lumOff val="25000"/>
            </a:schemeClr>
          </a:solidFill>
          <a:ln>
            <a:solidFill>
              <a:schemeClr val="tx1"/>
            </a:solidFill>
          </a:ln>
        </p:spPr>
        <p:txBody>
          <a:bodyPr wrap="none" rtlCol="0">
            <a:spAutoFit/>
          </a:bodyPr>
          <a:lstStyle/>
          <a:p>
            <a:r>
              <a:rPr lang="en-US" sz="2100" dirty="0" smtClean="0">
                <a:solidFill>
                  <a:schemeClr val="bg1"/>
                </a:solidFill>
              </a:rPr>
              <a:t>Output:</a:t>
            </a:r>
            <a:endParaRPr lang="en-IN" sz="2100" dirty="0">
              <a:solidFill>
                <a:schemeClr val="bg1"/>
              </a:solidFill>
            </a:endParaRPr>
          </a:p>
        </p:txBody>
      </p:sp>
    </p:spTree>
    <p:extLst>
      <p:ext uri="{BB962C8B-B14F-4D97-AF65-F5344CB8AC3E}">
        <p14:creationId xmlns:p14="http://schemas.microsoft.com/office/powerpoint/2010/main" xmlns="" val="2021505583"/>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Rectangle 2"/>
          <p:cNvSpPr>
            <a:spLocks noGrp="1" noChangeArrowheads="1"/>
          </p:cNvSpPr>
          <p:nvPr>
            <p:ph type="title"/>
          </p:nvPr>
        </p:nvSpPr>
        <p:spPr/>
        <p:txBody>
          <a:bodyPr>
            <a:normAutofit/>
          </a:bodyPr>
          <a:lstStyle/>
          <a:p>
            <a:r>
              <a:rPr lang="en-US" dirty="0" smtClean="0"/>
              <a:t>Unformatted I/O with read and write</a:t>
            </a:r>
            <a:endParaRPr lang="en-US" dirty="0"/>
          </a:p>
        </p:txBody>
      </p:sp>
      <p:sp>
        <p:nvSpPr>
          <p:cNvPr id="26627" name="Rectangle 3"/>
          <p:cNvSpPr>
            <a:spLocks noGrp="1" noChangeArrowheads="1"/>
          </p:cNvSpPr>
          <p:nvPr>
            <p:ph type="body" idx="1"/>
          </p:nvPr>
        </p:nvSpPr>
        <p:spPr/>
        <p:txBody>
          <a:bodyPr>
            <a:normAutofit/>
          </a:bodyPr>
          <a:lstStyle/>
          <a:p>
            <a:r>
              <a:rPr lang="en-US" dirty="0" smtClean="0"/>
              <a:t>read and write member functions</a:t>
            </a:r>
          </a:p>
          <a:p>
            <a:pPr lvl="1"/>
            <a:r>
              <a:rPr lang="en-US" dirty="0" smtClean="0"/>
              <a:t>Unformatted I/O</a:t>
            </a:r>
          </a:p>
          <a:p>
            <a:pPr lvl="1"/>
            <a:r>
              <a:rPr lang="en-US" dirty="0" smtClean="0"/>
              <a:t>Input/output raw bytes to or from a character array in memory</a:t>
            </a:r>
          </a:p>
          <a:p>
            <a:pPr lvl="1"/>
            <a:r>
              <a:rPr lang="en-US" dirty="0" smtClean="0"/>
              <a:t>Since the data is unformatted, the functions will not terminate at a newline character for example</a:t>
            </a:r>
          </a:p>
          <a:p>
            <a:pPr lvl="2"/>
            <a:r>
              <a:rPr lang="en-US" dirty="0" smtClean="0"/>
              <a:t>Instead, like </a:t>
            </a:r>
            <a:r>
              <a:rPr lang="en-US" dirty="0" err="1" smtClean="0"/>
              <a:t>getline</a:t>
            </a:r>
            <a:r>
              <a:rPr lang="en-US" dirty="0" smtClean="0"/>
              <a:t>, they continue to process a designated number of characters</a:t>
            </a:r>
          </a:p>
          <a:p>
            <a:pPr lvl="1"/>
            <a:r>
              <a:rPr lang="en-US" dirty="0" smtClean="0"/>
              <a:t>If fewer than the designated number of characters are read, then the </a:t>
            </a:r>
            <a:r>
              <a:rPr lang="en-US" dirty="0" err="1" smtClean="0"/>
              <a:t>failbit</a:t>
            </a:r>
            <a:r>
              <a:rPr lang="en-US" dirty="0" smtClean="0"/>
              <a:t> is set.</a:t>
            </a:r>
          </a:p>
        </p:txBody>
      </p:sp>
    </p:spTree>
    <p:extLst>
      <p:ext uri="{BB962C8B-B14F-4D97-AF65-F5344CB8AC3E}">
        <p14:creationId xmlns:p14="http://schemas.microsoft.com/office/powerpoint/2010/main" xmlns="" val="1209839826"/>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p:txBody>
          <a:bodyPr>
            <a:normAutofit fontScale="90000"/>
          </a:bodyPr>
          <a:lstStyle/>
          <a:p>
            <a:r>
              <a:rPr lang="en-US" dirty="0" smtClean="0"/>
              <a:t>File pointers to read/write from </a:t>
            </a:r>
            <a:br>
              <a:rPr lang="en-US" dirty="0" smtClean="0"/>
            </a:br>
            <a:r>
              <a:rPr lang="en-US" dirty="0" smtClean="0"/>
              <a:t>binary files</a:t>
            </a:r>
            <a:endParaRPr lang="en-US" dirty="0"/>
          </a:p>
        </p:txBody>
      </p:sp>
      <p:sp>
        <p:nvSpPr>
          <p:cNvPr id="14339" name="Rectangle 3"/>
          <p:cNvSpPr>
            <a:spLocks noGrp="1" noChangeArrowheads="1"/>
          </p:cNvSpPr>
          <p:nvPr>
            <p:ph type="body" idx="1"/>
          </p:nvPr>
        </p:nvSpPr>
        <p:spPr>
          <a:xfrm>
            <a:off x="72000" y="1838895"/>
            <a:ext cx="9000000" cy="4968552"/>
          </a:xfrm>
        </p:spPr>
        <p:txBody>
          <a:bodyPr/>
          <a:lstStyle/>
          <a:p>
            <a:r>
              <a:rPr lang="en-US" dirty="0" smtClean="0"/>
              <a:t>To write n bytes:</a:t>
            </a:r>
          </a:p>
          <a:p>
            <a:pPr lvl="1"/>
            <a:r>
              <a:rPr lang="en-US" dirty="0" smtClean="0"/>
              <a:t>write (</a:t>
            </a:r>
            <a:r>
              <a:rPr lang="en-US" dirty="0" err="1" smtClean="0"/>
              <a:t>const</a:t>
            </a:r>
            <a:r>
              <a:rPr lang="en-US" dirty="0" smtClean="0"/>
              <a:t> char* buffer, </a:t>
            </a:r>
            <a:r>
              <a:rPr lang="en-US" dirty="0" err="1" smtClean="0"/>
              <a:t>int</a:t>
            </a:r>
            <a:r>
              <a:rPr lang="en-US" dirty="0" smtClean="0"/>
              <a:t> n);</a:t>
            </a:r>
          </a:p>
          <a:p>
            <a:r>
              <a:rPr lang="en-US" dirty="0" smtClean="0"/>
              <a:t>To read n bytes (to a pre-allocated buffer):</a:t>
            </a:r>
          </a:p>
          <a:p>
            <a:pPr lvl="1"/>
            <a:r>
              <a:rPr lang="en-US" dirty="0" smtClean="0"/>
              <a:t>read (char* buffer, </a:t>
            </a:r>
            <a:r>
              <a:rPr lang="en-US" dirty="0" err="1" smtClean="0"/>
              <a:t>int</a:t>
            </a:r>
            <a:r>
              <a:rPr lang="en-US" dirty="0" smtClean="0"/>
              <a:t> </a:t>
            </a:r>
            <a:r>
              <a:rPr lang="en-US" dirty="0" err="1" smtClean="0"/>
              <a:t>num</a:t>
            </a:r>
            <a:r>
              <a:rPr lang="en-US" dirty="0" smtClean="0"/>
              <a:t>)</a:t>
            </a:r>
          </a:p>
          <a:p>
            <a:endParaRPr lang="en-US" dirty="0"/>
          </a:p>
        </p:txBody>
      </p:sp>
    </p:spTree>
    <p:extLst>
      <p:ext uri="{BB962C8B-B14F-4D97-AF65-F5344CB8AC3E}">
        <p14:creationId xmlns:p14="http://schemas.microsoft.com/office/powerpoint/2010/main" xmlns="" val="4048560621"/>
      </p:ext>
    </p:extLst>
  </p:cSld>
  <p:clrMapOvr>
    <a:masterClrMapping/>
  </p:clrMapOvr>
  <p:timing>
    <p:tnLst>
      <p:par>
        <p:cTn id="1" dur="indefinite" restart="never" nodeType="tmRoot"/>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Example</a:t>
            </a:r>
            <a:endParaRPr lang="en-IN" dirty="0"/>
          </a:p>
        </p:txBody>
      </p:sp>
      <p:sp>
        <p:nvSpPr>
          <p:cNvPr id="3" name="Content Placeholder 2"/>
          <p:cNvSpPr>
            <a:spLocks noGrp="1"/>
          </p:cNvSpPr>
          <p:nvPr>
            <p:ph idx="1"/>
          </p:nvPr>
        </p:nvSpPr>
        <p:spPr/>
        <p:txBody>
          <a:bodyPr>
            <a:noAutofit/>
          </a:bodyPr>
          <a:lstStyle/>
          <a:p>
            <a:pPr marL="514350" indent="-514350">
              <a:spcBef>
                <a:spcPts val="0"/>
              </a:spcBef>
              <a:buFont typeface="+mj-lt"/>
              <a:buAutoNum type="arabicPeriod"/>
            </a:pPr>
            <a:r>
              <a:rPr lang="en-IN" sz="2500" dirty="0" smtClean="0"/>
              <a:t>#include&lt;</a:t>
            </a:r>
            <a:r>
              <a:rPr lang="en-IN" sz="2500" dirty="0" err="1" smtClean="0"/>
              <a:t>iostream</a:t>
            </a:r>
            <a:r>
              <a:rPr lang="en-IN" sz="2500" dirty="0" smtClean="0"/>
              <a:t>&gt;</a:t>
            </a:r>
          </a:p>
          <a:p>
            <a:pPr marL="514350" indent="-514350">
              <a:spcBef>
                <a:spcPts val="0"/>
              </a:spcBef>
              <a:buFont typeface="+mj-lt"/>
              <a:buAutoNum type="arabicPeriod"/>
            </a:pPr>
            <a:r>
              <a:rPr lang="en-IN" sz="2500" dirty="0" smtClean="0"/>
              <a:t>#include &lt;</a:t>
            </a:r>
            <a:r>
              <a:rPr lang="en-IN" sz="2500" dirty="0" err="1" smtClean="0"/>
              <a:t>fstream</a:t>
            </a:r>
            <a:r>
              <a:rPr lang="en-IN" sz="2500" dirty="0" smtClean="0"/>
              <a:t>&gt;</a:t>
            </a:r>
          </a:p>
          <a:p>
            <a:pPr marL="514350" indent="-514350">
              <a:spcBef>
                <a:spcPts val="0"/>
              </a:spcBef>
              <a:buFont typeface="+mj-lt"/>
              <a:buAutoNum type="arabicPeriod"/>
            </a:pPr>
            <a:r>
              <a:rPr lang="en-IN" sz="2500" dirty="0" smtClean="0"/>
              <a:t>using namespace std;</a:t>
            </a:r>
          </a:p>
          <a:p>
            <a:pPr marL="514350" indent="-514350">
              <a:spcBef>
                <a:spcPts val="0"/>
              </a:spcBef>
              <a:buFont typeface="+mj-lt"/>
              <a:buAutoNum type="arabicPeriod"/>
            </a:pPr>
            <a:r>
              <a:rPr lang="en-IN" sz="2500" dirty="0" err="1" smtClean="0"/>
              <a:t>int</a:t>
            </a:r>
            <a:r>
              <a:rPr lang="en-IN" sz="2500" dirty="0" smtClean="0"/>
              <a:t> main()</a:t>
            </a:r>
          </a:p>
          <a:p>
            <a:pPr marL="514350" indent="-514350">
              <a:spcBef>
                <a:spcPts val="0"/>
              </a:spcBef>
              <a:buFont typeface="+mj-lt"/>
              <a:buAutoNum type="arabicPeriod"/>
            </a:pPr>
            <a:r>
              <a:rPr lang="en-IN" sz="2500" dirty="0" smtClean="0"/>
              <a:t>{    </a:t>
            </a:r>
            <a:r>
              <a:rPr lang="en-IN" sz="2500" dirty="0" err="1" smtClean="0"/>
              <a:t>int</a:t>
            </a:r>
            <a:r>
              <a:rPr lang="en-IN" sz="2500" dirty="0" smtClean="0"/>
              <a:t> a[] = {10,23,3,7,9,11,25};</a:t>
            </a:r>
          </a:p>
          <a:p>
            <a:pPr marL="514350" indent="-514350">
              <a:spcBef>
                <a:spcPts val="0"/>
              </a:spcBef>
              <a:buFont typeface="+mj-lt"/>
              <a:buAutoNum type="arabicPeriod"/>
            </a:pPr>
            <a:r>
              <a:rPr lang="en-IN" sz="2500" dirty="0" smtClean="0"/>
              <a:t>     </a:t>
            </a:r>
            <a:r>
              <a:rPr lang="en-IN" sz="2500" dirty="0" err="1" smtClean="0"/>
              <a:t>fstream</a:t>
            </a:r>
            <a:r>
              <a:rPr lang="en-IN" sz="2500" dirty="0" smtClean="0"/>
              <a:t> </a:t>
            </a:r>
            <a:r>
              <a:rPr lang="en-IN" sz="2500" dirty="0" err="1" smtClean="0"/>
              <a:t>fs</a:t>
            </a:r>
            <a:r>
              <a:rPr lang="en-IN" sz="2500" dirty="0" smtClean="0"/>
              <a:t>;</a:t>
            </a:r>
          </a:p>
          <a:p>
            <a:pPr marL="514350" indent="-514350">
              <a:spcBef>
                <a:spcPts val="0"/>
              </a:spcBef>
              <a:buFont typeface="+mj-lt"/>
              <a:buAutoNum type="arabicPeriod"/>
            </a:pPr>
            <a:r>
              <a:rPr lang="en-IN" sz="2500" dirty="0" smtClean="0"/>
              <a:t>     </a:t>
            </a:r>
            <a:r>
              <a:rPr lang="en-IN" sz="2500" dirty="0" err="1" smtClean="0"/>
              <a:t>fs.open</a:t>
            </a:r>
            <a:r>
              <a:rPr lang="en-IN" sz="2500" dirty="0" smtClean="0"/>
              <a:t>("myfile.txt", </a:t>
            </a:r>
            <a:r>
              <a:rPr lang="en-IN" sz="2500" dirty="0" err="1" smtClean="0"/>
              <a:t>ios</a:t>
            </a:r>
            <a:r>
              <a:rPr lang="en-IN" sz="2500" dirty="0" smtClean="0"/>
              <a:t>::binary | </a:t>
            </a:r>
            <a:r>
              <a:rPr lang="en-IN" sz="2500" dirty="0" err="1" smtClean="0"/>
              <a:t>ios</a:t>
            </a:r>
            <a:r>
              <a:rPr lang="en-IN" sz="2500" dirty="0" smtClean="0"/>
              <a:t>::out);</a:t>
            </a:r>
          </a:p>
          <a:p>
            <a:pPr marL="514350" indent="-514350">
              <a:spcBef>
                <a:spcPts val="0"/>
              </a:spcBef>
              <a:buFont typeface="+mj-lt"/>
              <a:buAutoNum type="arabicPeriod"/>
            </a:pPr>
            <a:r>
              <a:rPr lang="en-IN" sz="2500" dirty="0" smtClean="0"/>
              <a:t>     </a:t>
            </a:r>
            <a:r>
              <a:rPr lang="en-IN" sz="2500" dirty="0" err="1" smtClean="0"/>
              <a:t>fs.write</a:t>
            </a:r>
            <a:r>
              <a:rPr lang="en-IN" sz="2500" dirty="0" smtClean="0"/>
              <a:t>((char*) &amp;a, </a:t>
            </a:r>
            <a:r>
              <a:rPr lang="en-IN" sz="2500" dirty="0" err="1" smtClean="0"/>
              <a:t>sizeof</a:t>
            </a:r>
            <a:r>
              <a:rPr lang="en-IN" sz="2500" dirty="0" smtClean="0"/>
              <a:t>(a));</a:t>
            </a:r>
          </a:p>
          <a:p>
            <a:pPr marL="514350" indent="-514350">
              <a:spcBef>
                <a:spcPts val="0"/>
              </a:spcBef>
              <a:buFont typeface="+mj-lt"/>
              <a:buAutoNum type="arabicPeriod"/>
            </a:pPr>
            <a:r>
              <a:rPr lang="en-IN" sz="2500" dirty="0" smtClean="0"/>
              <a:t>     </a:t>
            </a:r>
            <a:r>
              <a:rPr lang="en-IN" sz="2500" dirty="0" err="1" smtClean="0"/>
              <a:t>fs.close</a:t>
            </a:r>
            <a:r>
              <a:rPr lang="en-IN" sz="2500" dirty="0" smtClean="0"/>
              <a:t>();</a:t>
            </a:r>
          </a:p>
          <a:p>
            <a:pPr marL="514350" indent="-514350">
              <a:spcBef>
                <a:spcPts val="0"/>
              </a:spcBef>
              <a:buFont typeface="+mj-lt"/>
              <a:buAutoNum type="arabicPeriod"/>
            </a:pPr>
            <a:r>
              <a:rPr lang="en-IN" sz="2500" dirty="0" smtClean="0"/>
              <a:t>     for(</a:t>
            </a:r>
            <a:r>
              <a:rPr lang="en-IN" sz="2500" dirty="0" err="1" smtClean="0"/>
              <a:t>int</a:t>
            </a:r>
            <a:r>
              <a:rPr lang="en-IN" sz="2500" dirty="0" smtClean="0"/>
              <a:t> </a:t>
            </a:r>
            <a:r>
              <a:rPr lang="en-IN" sz="2500" dirty="0" err="1" smtClean="0"/>
              <a:t>i</a:t>
            </a:r>
            <a:r>
              <a:rPr lang="en-IN" sz="2500" dirty="0" smtClean="0"/>
              <a:t> = 0; </a:t>
            </a:r>
            <a:r>
              <a:rPr lang="en-IN" sz="2500" dirty="0" err="1" smtClean="0"/>
              <a:t>i</a:t>
            </a:r>
            <a:r>
              <a:rPr lang="en-IN" sz="2500" dirty="0" smtClean="0"/>
              <a:t> &lt; 7; </a:t>
            </a:r>
            <a:r>
              <a:rPr lang="en-IN" sz="2500" dirty="0" err="1" smtClean="0"/>
              <a:t>i</a:t>
            </a:r>
            <a:r>
              <a:rPr lang="en-IN" sz="2500" dirty="0" smtClean="0"/>
              <a:t>++) a[</a:t>
            </a:r>
            <a:r>
              <a:rPr lang="en-IN" sz="2500" dirty="0" err="1" smtClean="0"/>
              <a:t>i</a:t>
            </a:r>
            <a:r>
              <a:rPr lang="en-IN" sz="2500" dirty="0" smtClean="0"/>
              <a:t>] = 0;</a:t>
            </a:r>
          </a:p>
          <a:p>
            <a:pPr marL="514350" indent="-514350">
              <a:spcBef>
                <a:spcPts val="0"/>
              </a:spcBef>
              <a:buFont typeface="+mj-lt"/>
              <a:buAutoNum type="arabicPeriod"/>
            </a:pPr>
            <a:r>
              <a:rPr lang="en-IN" sz="2500" dirty="0" smtClean="0"/>
              <a:t>     </a:t>
            </a:r>
            <a:r>
              <a:rPr lang="en-IN" sz="2500" dirty="0" err="1" smtClean="0"/>
              <a:t>fs.open</a:t>
            </a:r>
            <a:r>
              <a:rPr lang="en-IN" sz="2500" dirty="0" smtClean="0"/>
              <a:t>("myfile.txt", </a:t>
            </a:r>
            <a:r>
              <a:rPr lang="en-IN" sz="2500" dirty="0" err="1" smtClean="0"/>
              <a:t>ios</a:t>
            </a:r>
            <a:r>
              <a:rPr lang="en-IN" sz="2500" dirty="0" smtClean="0"/>
              <a:t>::in | </a:t>
            </a:r>
            <a:r>
              <a:rPr lang="en-IN" sz="2500" dirty="0" err="1" smtClean="0"/>
              <a:t>ios</a:t>
            </a:r>
            <a:r>
              <a:rPr lang="en-IN" sz="2500" dirty="0" smtClean="0"/>
              <a:t>::binary);</a:t>
            </a:r>
          </a:p>
          <a:p>
            <a:pPr marL="514350" indent="-514350">
              <a:spcBef>
                <a:spcPts val="0"/>
              </a:spcBef>
              <a:buFont typeface="+mj-lt"/>
              <a:buAutoNum type="arabicPeriod"/>
            </a:pPr>
            <a:r>
              <a:rPr lang="en-IN" sz="2500" dirty="0" smtClean="0"/>
              <a:t>     </a:t>
            </a:r>
            <a:r>
              <a:rPr lang="en-IN" sz="2500" dirty="0" err="1" smtClean="0"/>
              <a:t>fs.read</a:t>
            </a:r>
            <a:r>
              <a:rPr lang="en-IN" sz="2500" dirty="0" smtClean="0"/>
              <a:t>((char*) &amp;a, </a:t>
            </a:r>
            <a:r>
              <a:rPr lang="en-IN" sz="2500" dirty="0" err="1" smtClean="0"/>
              <a:t>sizeof</a:t>
            </a:r>
            <a:r>
              <a:rPr lang="en-IN" sz="2500" dirty="0" smtClean="0"/>
              <a:t>(a));</a:t>
            </a:r>
          </a:p>
          <a:p>
            <a:pPr marL="514350" indent="-514350">
              <a:spcBef>
                <a:spcPts val="0"/>
              </a:spcBef>
              <a:buFont typeface="+mj-lt"/>
              <a:buAutoNum type="arabicPeriod"/>
            </a:pPr>
            <a:r>
              <a:rPr lang="en-IN" sz="2500" dirty="0" smtClean="0"/>
              <a:t>     for(</a:t>
            </a:r>
            <a:r>
              <a:rPr lang="en-IN" sz="2500" dirty="0" err="1" smtClean="0"/>
              <a:t>int</a:t>
            </a:r>
            <a:r>
              <a:rPr lang="en-IN" sz="2500" dirty="0" smtClean="0"/>
              <a:t> </a:t>
            </a:r>
            <a:r>
              <a:rPr lang="en-IN" sz="2500" dirty="0" err="1" smtClean="0"/>
              <a:t>i</a:t>
            </a:r>
            <a:r>
              <a:rPr lang="en-IN" sz="2500" dirty="0" smtClean="0"/>
              <a:t> = 0; </a:t>
            </a:r>
            <a:r>
              <a:rPr lang="en-IN" sz="2500" dirty="0" err="1" smtClean="0"/>
              <a:t>i</a:t>
            </a:r>
            <a:r>
              <a:rPr lang="en-IN" sz="2500" dirty="0" smtClean="0"/>
              <a:t> &lt; 7; </a:t>
            </a:r>
            <a:r>
              <a:rPr lang="en-IN" sz="2500" dirty="0" err="1" smtClean="0"/>
              <a:t>i</a:t>
            </a:r>
            <a:r>
              <a:rPr lang="en-IN" sz="2500" dirty="0" smtClean="0"/>
              <a:t>++) </a:t>
            </a:r>
            <a:r>
              <a:rPr lang="en-IN" sz="2500" dirty="0" err="1" smtClean="0"/>
              <a:t>cout</a:t>
            </a:r>
            <a:r>
              <a:rPr lang="en-IN" sz="2500" dirty="0" smtClean="0"/>
              <a:t> &lt;&lt; a[</a:t>
            </a:r>
            <a:r>
              <a:rPr lang="en-IN" sz="2500" dirty="0" err="1" smtClean="0"/>
              <a:t>i</a:t>
            </a:r>
            <a:r>
              <a:rPr lang="en-IN" sz="2500" dirty="0" smtClean="0"/>
              <a:t>] &lt;&lt; " ";</a:t>
            </a:r>
          </a:p>
          <a:p>
            <a:pPr marL="514350" indent="-514350">
              <a:spcBef>
                <a:spcPts val="0"/>
              </a:spcBef>
              <a:buFont typeface="+mj-lt"/>
              <a:buAutoNum type="arabicPeriod"/>
            </a:pPr>
            <a:r>
              <a:rPr lang="en-IN" sz="2500" dirty="0" smtClean="0"/>
              <a:t>     </a:t>
            </a:r>
            <a:r>
              <a:rPr lang="en-IN" sz="2500" dirty="0" err="1" smtClean="0"/>
              <a:t>fs.close</a:t>
            </a:r>
            <a:r>
              <a:rPr lang="en-IN" sz="2500" dirty="0" smtClean="0"/>
              <a:t>();	}</a:t>
            </a:r>
          </a:p>
          <a:p>
            <a:pPr marL="514350" indent="-514350">
              <a:spcBef>
                <a:spcPts val="0"/>
              </a:spcBef>
              <a:buFont typeface="+mj-lt"/>
              <a:buAutoNum type="arabicPeriod"/>
            </a:pPr>
            <a:endParaRPr lang="en-IN" sz="2500" dirty="0"/>
          </a:p>
        </p:txBody>
      </p:sp>
    </p:spTree>
    <p:extLst>
      <p:ext uri="{BB962C8B-B14F-4D97-AF65-F5344CB8AC3E}">
        <p14:creationId xmlns:p14="http://schemas.microsoft.com/office/powerpoint/2010/main" xmlns="" val="1061555591"/>
      </p:ext>
    </p:extLst>
  </p:cSld>
  <p:clrMapOvr>
    <a:masterClrMapping/>
  </p:clrMapOvr>
  <p:timing>
    <p:tnLst>
      <p:par>
        <p:cTn id="1" dur="indefinite" restart="never" nodeType="tmRoot"/>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5"/>
          <p:cNvSpPr>
            <a:spLocks noGrp="1"/>
          </p:cNvSpPr>
          <p:nvPr>
            <p:ph type="sldNum" sz="quarter" idx="12"/>
          </p:nvPr>
        </p:nvSpPr>
        <p:spPr/>
        <p:txBody>
          <a:bodyPr/>
          <a:lstStyle/>
          <a:p>
            <a:fld id="{5FE481DE-CB9E-496A-B943-AB45102F54C8}" type="slidenum">
              <a:rPr lang="en-US"/>
              <a:pPr/>
              <a:t>29</a:t>
            </a:fld>
            <a:endParaRPr lang="en-US"/>
          </a:p>
        </p:txBody>
      </p:sp>
      <p:sp>
        <p:nvSpPr>
          <p:cNvPr id="111618" name="Rectangle 2"/>
          <p:cNvSpPr>
            <a:spLocks noGrp="1" noChangeArrowheads="1"/>
          </p:cNvSpPr>
          <p:nvPr>
            <p:ph type="title"/>
          </p:nvPr>
        </p:nvSpPr>
        <p:spPr/>
        <p:txBody>
          <a:bodyPr/>
          <a:lstStyle/>
          <a:p>
            <a:r>
              <a:rPr lang="en-US" dirty="0" smtClean="0"/>
              <a:t>Random </a:t>
            </a:r>
            <a:r>
              <a:rPr lang="en-US" dirty="0"/>
              <a:t>Access Files</a:t>
            </a:r>
          </a:p>
        </p:txBody>
      </p:sp>
      <p:sp>
        <p:nvSpPr>
          <p:cNvPr id="111619" name="Rectangle 3"/>
          <p:cNvSpPr>
            <a:spLocks noGrp="1" noChangeArrowheads="1"/>
          </p:cNvSpPr>
          <p:nvPr>
            <p:ph type="body" idx="1"/>
          </p:nvPr>
        </p:nvSpPr>
        <p:spPr/>
        <p:txBody>
          <a:bodyPr/>
          <a:lstStyle/>
          <a:p>
            <a:r>
              <a:rPr lang="en-US" dirty="0"/>
              <a:t>Random Access means non-sequentially accessing </a:t>
            </a:r>
            <a:r>
              <a:rPr lang="en-US" dirty="0" smtClean="0"/>
              <a:t>information </a:t>
            </a:r>
            <a:r>
              <a:rPr lang="en-US" dirty="0"/>
              <a:t>in a file</a:t>
            </a:r>
            <a:r>
              <a:rPr lang="en-US" dirty="0" smtClean="0"/>
              <a:t>.</a:t>
            </a:r>
            <a:endParaRPr lang="en-US" dirty="0"/>
          </a:p>
        </p:txBody>
      </p:sp>
      <p:pic>
        <p:nvPicPr>
          <p:cNvPr id="111620" name="Picture 4" descr="G:\BMP files\1211.bmp"/>
          <p:cNvPicPr>
            <a:picLocks noChangeAspect="1" noChangeArrowheads="1"/>
          </p:cNvPicPr>
          <p:nvPr/>
        </p:nvPicPr>
        <p:blipFill>
          <a:blip r:embed="rId2" cstate="print">
            <a:clrChange>
              <a:clrFrom>
                <a:srgbClr val="FFFFFF"/>
              </a:clrFrom>
              <a:clrTo>
                <a:srgbClr val="FFFFFF">
                  <a:alpha val="0"/>
                </a:srgbClr>
              </a:clrTo>
            </a:clrChange>
          </a:blip>
          <a:srcRect/>
          <a:stretch>
            <a:fillRect/>
          </a:stretch>
        </p:blipFill>
        <p:spPr bwMode="auto">
          <a:xfrm>
            <a:off x="1638300" y="2924944"/>
            <a:ext cx="5867400" cy="2670175"/>
          </a:xfrm>
          <a:prstGeom prst="rect">
            <a:avLst/>
          </a:prstGeom>
          <a:noFill/>
        </p:spPr>
      </p:pic>
    </p:spTree>
    <p:extLst>
      <p:ext uri="{BB962C8B-B14F-4D97-AF65-F5344CB8AC3E}">
        <p14:creationId xmlns:p14="http://schemas.microsoft.com/office/powerpoint/2010/main" xmlns="" val="2211988982"/>
      </p:ext>
    </p:extLst>
  </p:cSld>
  <p:clrMapOvr>
    <a:masterClrMapping/>
  </p:clrMapOvr>
  <p:timing>
    <p:tnLst>
      <p:par>
        <p:cTn id="1" dur="indefinite" restart="never" nodeType="tmRoot"/>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666" name="Rectangle 2"/>
          <p:cNvSpPr>
            <a:spLocks noGrp="1" noChangeArrowheads="1"/>
          </p:cNvSpPr>
          <p:nvPr>
            <p:ph type="title"/>
          </p:nvPr>
        </p:nvSpPr>
        <p:spPr/>
        <p:txBody>
          <a:bodyPr/>
          <a:lstStyle/>
          <a:p>
            <a:r>
              <a:rPr lang="en-US" dirty="0" smtClean="0"/>
              <a:t>Mode Flags</a:t>
            </a:r>
            <a:endParaRPr lang="en-US" dirty="0"/>
          </a:p>
        </p:txBody>
      </p:sp>
      <p:sp>
        <p:nvSpPr>
          <p:cNvPr id="4" name="Slide Number Placeholder 5"/>
          <p:cNvSpPr>
            <a:spLocks noGrp="1"/>
          </p:cNvSpPr>
          <p:nvPr>
            <p:ph type="sldNum" sz="quarter" idx="12"/>
          </p:nvPr>
        </p:nvSpPr>
        <p:spPr/>
        <p:txBody>
          <a:bodyPr/>
          <a:lstStyle/>
          <a:p>
            <a:fld id="{19FD6C8E-2B76-40EE-93DF-1A1844D10B7E}" type="slidenum">
              <a:rPr lang="en-US" smtClean="0"/>
              <a:pPr/>
              <a:t>30</a:t>
            </a:fld>
            <a:endParaRPr lang="en-US"/>
          </a:p>
        </p:txBody>
      </p:sp>
      <p:graphicFrame>
        <p:nvGraphicFramePr>
          <p:cNvPr id="8" name="Table 7"/>
          <p:cNvGraphicFramePr>
            <a:graphicFrameLocks noGrp="1"/>
          </p:cNvGraphicFramePr>
          <p:nvPr/>
        </p:nvGraphicFramePr>
        <p:xfrm>
          <a:off x="359532" y="1765382"/>
          <a:ext cx="8424936" cy="3327236"/>
        </p:xfrm>
        <a:graphic>
          <a:graphicData uri="http://schemas.openxmlformats.org/drawingml/2006/table">
            <a:tbl>
              <a:tblPr/>
              <a:tblGrid>
                <a:gridCol w="1692188"/>
                <a:gridCol w="6732748"/>
              </a:tblGrid>
              <a:tr h="831809">
                <a:tc>
                  <a:txBody>
                    <a:bodyPr/>
                    <a:lstStyle/>
                    <a:p>
                      <a:pPr marL="73025" marR="73025">
                        <a:spcBef>
                          <a:spcPts val="320"/>
                        </a:spcBef>
                        <a:spcAft>
                          <a:spcPts val="320"/>
                        </a:spcAft>
                      </a:pPr>
                      <a:r>
                        <a:rPr lang="en-IN" sz="2400" b="1" dirty="0">
                          <a:solidFill>
                            <a:srgbClr val="000000"/>
                          </a:solidFill>
                          <a:latin typeface="Times New Roman"/>
                          <a:ea typeface="Officina Serif"/>
                          <a:cs typeface="Times New Roman"/>
                        </a:rPr>
                        <a:t>Mode Flag</a:t>
                      </a:r>
                      <a:endParaRPr lang="en-IN" sz="1100" b="1" dirty="0">
                        <a:solidFill>
                          <a:srgbClr val="000000"/>
                        </a:solidFill>
                        <a:latin typeface="Times New Roman"/>
                        <a:ea typeface="Times New Roman"/>
                        <a:cs typeface="Times New Roman"/>
                      </a:endParaRPr>
                    </a:p>
                  </a:txBody>
                  <a:tcPr marL="0" marR="0" marT="0" marB="0">
                    <a:lnL>
                      <a:noFill/>
                    </a:lnL>
                    <a:lnR>
                      <a:noFill/>
                    </a:lnR>
                    <a:lnT>
                      <a:noFill/>
                    </a:lnT>
                    <a:lnB w="28575" cap="flat" cmpd="sng" algn="ctr">
                      <a:solidFill>
                        <a:srgbClr val="000000"/>
                      </a:solidFill>
                      <a:prstDash val="solid"/>
                      <a:round/>
                      <a:headEnd type="none" w="med" len="med"/>
                      <a:tailEnd type="none" w="med" len="med"/>
                    </a:lnB>
                  </a:tcPr>
                </a:tc>
                <a:tc>
                  <a:txBody>
                    <a:bodyPr/>
                    <a:lstStyle/>
                    <a:p>
                      <a:pPr marL="73025" marR="73025">
                        <a:spcBef>
                          <a:spcPts val="320"/>
                        </a:spcBef>
                        <a:spcAft>
                          <a:spcPts val="320"/>
                        </a:spcAft>
                      </a:pPr>
                      <a:r>
                        <a:rPr lang="en-IN" sz="2400" b="1" dirty="0">
                          <a:solidFill>
                            <a:srgbClr val="000000"/>
                          </a:solidFill>
                          <a:latin typeface="Times New Roman"/>
                          <a:ea typeface="Officina Serif"/>
                          <a:cs typeface="Times New Roman"/>
                        </a:rPr>
                        <a:t>Description</a:t>
                      </a:r>
                      <a:r>
                        <a:rPr lang="en-IN" sz="2400" b="1" dirty="0">
                          <a:solidFill>
                            <a:srgbClr val="000000"/>
                          </a:solidFill>
                          <a:latin typeface="Times New Roman"/>
                          <a:ea typeface="Times New Roman"/>
                          <a:cs typeface="Times New Roman"/>
                        </a:rPr>
                        <a:t>                                                                  </a:t>
                      </a:r>
                      <a:endParaRPr lang="en-IN" sz="1100" b="1" dirty="0">
                        <a:solidFill>
                          <a:srgbClr val="000000"/>
                        </a:solidFill>
                        <a:latin typeface="Times New Roman"/>
                        <a:ea typeface="Times New Roman"/>
                        <a:cs typeface="Times New Roman"/>
                      </a:endParaRPr>
                    </a:p>
                  </a:txBody>
                  <a:tcPr marL="0" marR="0" marT="0" marB="0">
                    <a:lnL>
                      <a:noFill/>
                    </a:lnL>
                    <a:lnR>
                      <a:noFill/>
                    </a:lnR>
                    <a:lnT>
                      <a:noFill/>
                    </a:lnT>
                    <a:lnB w="28575" cap="flat" cmpd="sng" algn="ctr">
                      <a:solidFill>
                        <a:srgbClr val="000000"/>
                      </a:solidFill>
                      <a:prstDash val="solid"/>
                      <a:round/>
                      <a:headEnd type="none" w="med" len="med"/>
                      <a:tailEnd type="none" w="med" len="med"/>
                    </a:lnB>
                  </a:tcPr>
                </a:tc>
              </a:tr>
              <a:tr h="831809">
                <a:tc>
                  <a:txBody>
                    <a:bodyPr/>
                    <a:lstStyle/>
                    <a:p>
                      <a:pPr marL="73025" marR="73025">
                        <a:spcBef>
                          <a:spcPts val="320"/>
                        </a:spcBef>
                        <a:spcAft>
                          <a:spcPts val="320"/>
                        </a:spcAft>
                      </a:pPr>
                      <a:r>
                        <a:rPr lang="en-IN" sz="2400">
                          <a:solidFill>
                            <a:srgbClr val="000000"/>
                          </a:solidFill>
                          <a:latin typeface="Prestige Elite"/>
                          <a:ea typeface="Times New Roman"/>
                          <a:cs typeface="Times New Roman"/>
                        </a:rPr>
                        <a:t>ios::beg</a:t>
                      </a:r>
                      <a:endParaRPr lang="en-IN" sz="1100">
                        <a:solidFill>
                          <a:srgbClr val="000000"/>
                        </a:solidFill>
                        <a:latin typeface="Times New Roman"/>
                        <a:ea typeface="Times New Roman"/>
                        <a:cs typeface="Times New Roman"/>
                      </a:endParaRPr>
                    </a:p>
                  </a:txBody>
                  <a:tcPr marL="0" marR="0" marT="0" marB="0">
                    <a:lnL>
                      <a:noFill/>
                    </a:lnL>
                    <a:lnR>
                      <a:noFill/>
                    </a:lnR>
                    <a:lnT w="28575" cap="flat" cmpd="sng" algn="ctr">
                      <a:solidFill>
                        <a:srgbClr val="000000"/>
                      </a:solidFill>
                      <a:prstDash val="solid"/>
                      <a:round/>
                      <a:headEnd type="none" w="med" len="med"/>
                      <a:tailEnd type="none" w="med" len="med"/>
                    </a:lnT>
                    <a:lnB>
                      <a:noFill/>
                    </a:lnB>
                  </a:tcPr>
                </a:tc>
                <a:tc>
                  <a:txBody>
                    <a:bodyPr/>
                    <a:lstStyle/>
                    <a:p>
                      <a:pPr marL="73025" marR="73025">
                        <a:spcBef>
                          <a:spcPts val="320"/>
                        </a:spcBef>
                        <a:spcAft>
                          <a:spcPts val="320"/>
                        </a:spcAft>
                      </a:pPr>
                      <a:r>
                        <a:rPr lang="en-IN" sz="2400" dirty="0">
                          <a:solidFill>
                            <a:srgbClr val="000000"/>
                          </a:solidFill>
                          <a:latin typeface="Times New Roman"/>
                          <a:ea typeface="Officina Serif"/>
                          <a:cs typeface="Times New Roman"/>
                        </a:rPr>
                        <a:t>The offset is calculated from the beginning of the file.</a:t>
                      </a:r>
                      <a:endParaRPr lang="en-IN" sz="1100" dirty="0">
                        <a:solidFill>
                          <a:srgbClr val="000000"/>
                        </a:solidFill>
                        <a:latin typeface="Times New Roman"/>
                        <a:ea typeface="Times New Roman"/>
                        <a:cs typeface="Times New Roman"/>
                      </a:endParaRPr>
                    </a:p>
                  </a:txBody>
                  <a:tcPr marL="0" marR="0" marT="0" marB="0">
                    <a:lnL>
                      <a:noFill/>
                    </a:lnL>
                    <a:lnR>
                      <a:noFill/>
                    </a:lnR>
                    <a:lnT w="28575" cap="flat" cmpd="sng" algn="ctr">
                      <a:solidFill>
                        <a:srgbClr val="000000"/>
                      </a:solidFill>
                      <a:prstDash val="solid"/>
                      <a:round/>
                      <a:headEnd type="none" w="med" len="med"/>
                      <a:tailEnd type="none" w="med" len="med"/>
                    </a:lnT>
                    <a:lnB>
                      <a:noFill/>
                    </a:lnB>
                  </a:tcPr>
                </a:tc>
              </a:tr>
              <a:tr h="831809">
                <a:tc>
                  <a:txBody>
                    <a:bodyPr/>
                    <a:lstStyle/>
                    <a:p>
                      <a:pPr marL="73025" marR="73025">
                        <a:spcBef>
                          <a:spcPts val="320"/>
                        </a:spcBef>
                        <a:spcAft>
                          <a:spcPts val="320"/>
                        </a:spcAft>
                      </a:pPr>
                      <a:r>
                        <a:rPr lang="en-IN" sz="2400">
                          <a:solidFill>
                            <a:srgbClr val="000000"/>
                          </a:solidFill>
                          <a:latin typeface="Prestige Elite"/>
                          <a:ea typeface="Times New Roman"/>
                          <a:cs typeface="Times New Roman"/>
                        </a:rPr>
                        <a:t>ios::end</a:t>
                      </a:r>
                      <a:endParaRPr lang="en-IN" sz="1100">
                        <a:solidFill>
                          <a:srgbClr val="000000"/>
                        </a:solidFill>
                        <a:latin typeface="Times New Roman"/>
                        <a:ea typeface="Times New Roman"/>
                        <a:cs typeface="Times New Roman"/>
                      </a:endParaRPr>
                    </a:p>
                  </a:txBody>
                  <a:tcPr marL="0" marR="0" marT="0" marB="0">
                    <a:lnL>
                      <a:noFill/>
                    </a:lnL>
                    <a:lnR>
                      <a:noFill/>
                    </a:lnR>
                    <a:lnT>
                      <a:noFill/>
                    </a:lnT>
                    <a:lnB>
                      <a:noFill/>
                    </a:lnB>
                  </a:tcPr>
                </a:tc>
                <a:tc>
                  <a:txBody>
                    <a:bodyPr/>
                    <a:lstStyle/>
                    <a:p>
                      <a:pPr marL="73025" marR="73025">
                        <a:spcBef>
                          <a:spcPts val="320"/>
                        </a:spcBef>
                        <a:spcAft>
                          <a:spcPts val="320"/>
                        </a:spcAft>
                      </a:pPr>
                      <a:r>
                        <a:rPr lang="en-IN" sz="2400" dirty="0">
                          <a:solidFill>
                            <a:srgbClr val="000000"/>
                          </a:solidFill>
                          <a:latin typeface="Times New Roman"/>
                          <a:ea typeface="Officina Serif"/>
                          <a:cs typeface="Times New Roman"/>
                        </a:rPr>
                        <a:t>The offset is calculated from the end of the file.</a:t>
                      </a:r>
                      <a:endParaRPr lang="en-IN" sz="1100" dirty="0">
                        <a:solidFill>
                          <a:srgbClr val="000000"/>
                        </a:solidFill>
                        <a:latin typeface="Times New Roman"/>
                        <a:ea typeface="Times New Roman"/>
                        <a:cs typeface="Times New Roman"/>
                      </a:endParaRPr>
                    </a:p>
                  </a:txBody>
                  <a:tcPr marL="0" marR="0" marT="0" marB="0">
                    <a:lnL>
                      <a:noFill/>
                    </a:lnL>
                    <a:lnR>
                      <a:noFill/>
                    </a:lnR>
                    <a:lnT>
                      <a:noFill/>
                    </a:lnT>
                    <a:lnB>
                      <a:noFill/>
                    </a:lnB>
                  </a:tcPr>
                </a:tc>
              </a:tr>
              <a:tr h="831809">
                <a:tc>
                  <a:txBody>
                    <a:bodyPr/>
                    <a:lstStyle/>
                    <a:p>
                      <a:pPr marL="73025" marR="73025">
                        <a:spcBef>
                          <a:spcPts val="320"/>
                        </a:spcBef>
                        <a:spcAft>
                          <a:spcPts val="320"/>
                        </a:spcAft>
                      </a:pPr>
                      <a:r>
                        <a:rPr lang="en-IN" sz="2400">
                          <a:solidFill>
                            <a:srgbClr val="000000"/>
                          </a:solidFill>
                          <a:latin typeface="Prestige Elite"/>
                          <a:ea typeface="Times New Roman"/>
                          <a:cs typeface="Times New Roman"/>
                        </a:rPr>
                        <a:t>ios::cur</a:t>
                      </a:r>
                      <a:endParaRPr lang="en-IN" sz="1100">
                        <a:solidFill>
                          <a:srgbClr val="000000"/>
                        </a:solidFill>
                        <a:latin typeface="Times New Roman"/>
                        <a:ea typeface="Times New Roman"/>
                        <a:cs typeface="Times New Roman"/>
                      </a:endParaRPr>
                    </a:p>
                  </a:txBody>
                  <a:tcPr marL="0" marR="0" marT="0" marB="0">
                    <a:lnL>
                      <a:noFill/>
                    </a:lnL>
                    <a:lnR>
                      <a:noFill/>
                    </a:lnR>
                    <a:lnT>
                      <a:noFill/>
                    </a:lnT>
                    <a:lnB>
                      <a:noFill/>
                    </a:lnB>
                  </a:tcPr>
                </a:tc>
                <a:tc>
                  <a:txBody>
                    <a:bodyPr/>
                    <a:lstStyle/>
                    <a:p>
                      <a:pPr marL="73025" marR="73025">
                        <a:spcBef>
                          <a:spcPts val="320"/>
                        </a:spcBef>
                        <a:spcAft>
                          <a:spcPts val="320"/>
                        </a:spcAft>
                      </a:pPr>
                      <a:r>
                        <a:rPr lang="en-IN" sz="2400" dirty="0">
                          <a:solidFill>
                            <a:srgbClr val="000000"/>
                          </a:solidFill>
                          <a:latin typeface="Times New Roman"/>
                          <a:ea typeface="Officina Serif"/>
                          <a:cs typeface="Times New Roman"/>
                        </a:rPr>
                        <a:t>The offset is calculated from the current position.</a:t>
                      </a:r>
                      <a:endParaRPr lang="en-IN" sz="1100" dirty="0">
                        <a:solidFill>
                          <a:srgbClr val="000000"/>
                        </a:solidFill>
                        <a:latin typeface="Times New Roman"/>
                        <a:ea typeface="Times New Roman"/>
                        <a:cs typeface="Times New Roman"/>
                      </a:endParaRPr>
                    </a:p>
                  </a:txBody>
                  <a:tcPr marL="0" marR="0" marT="0" marB="0">
                    <a:lnL>
                      <a:noFill/>
                    </a:lnL>
                    <a:lnR>
                      <a:noFill/>
                    </a:lnR>
                    <a:lnT>
                      <a:noFill/>
                    </a:lnT>
                    <a:lnB>
                      <a:noFill/>
                    </a:lnB>
                  </a:tcPr>
                </a:tc>
              </a:tr>
            </a:tbl>
          </a:graphicData>
        </a:graphic>
      </p:graphicFrame>
      <p:sp>
        <p:nvSpPr>
          <p:cNvPr id="7171" name="Rectangle 3"/>
          <p:cNvSpPr>
            <a:spLocks noChangeArrowheads="1"/>
          </p:cNvSpPr>
          <p:nvPr/>
        </p:nvSpPr>
        <p:spPr bwMode="auto">
          <a:xfrm>
            <a:off x="0" y="0"/>
            <a:ext cx="9144000" cy="457200"/>
          </a:xfrm>
          <a:prstGeom prst="rect">
            <a:avLst/>
          </a:prstGeom>
          <a:noFill/>
          <a:ln w="9525">
            <a:noFill/>
            <a:miter lim="800000"/>
            <a:headEnd/>
            <a:tailEnd/>
          </a:ln>
          <a:effectLst/>
        </p:spPr>
        <p:txBody>
          <a:bodyPr vert="horz" wrap="none" lIns="91440" tIns="45720" rIns="91440" bIns="45720" numCol="1" anchor="ctr" anchorCtr="0" compatLnSpc="1">
            <a:prstTxWarp prst="textNoShape">
              <a:avLst/>
            </a:prstTxWarp>
            <a:spAutoFit/>
          </a:bodyPr>
          <a:lstStyle/>
          <a:p>
            <a:pPr marL="0" marR="0" lvl="0" indent="0" algn="l"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Tree>
    <p:extLst>
      <p:ext uri="{BB962C8B-B14F-4D97-AF65-F5344CB8AC3E}">
        <p14:creationId xmlns:p14="http://schemas.microsoft.com/office/powerpoint/2010/main" xmlns="" val="332318553"/>
      </p:ext>
    </p:extLst>
  </p:cSld>
  <p:clrMapOvr>
    <a:masterClrMapping/>
  </p:clrMapOvr>
  <p:timing>
    <p:tnLst>
      <p:par>
        <p:cTn id="1" dur="indefinite" restart="never" nodeType="tmRoot"/>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5714" name="Rectangle 2"/>
          <p:cNvSpPr>
            <a:spLocks noGrp="1" noChangeArrowheads="1"/>
          </p:cNvSpPr>
          <p:nvPr>
            <p:ph type="title"/>
          </p:nvPr>
        </p:nvSpPr>
        <p:spPr/>
        <p:txBody>
          <a:bodyPr/>
          <a:lstStyle/>
          <a:p>
            <a:r>
              <a:rPr lang="en-US" dirty="0" err="1" smtClean="0"/>
              <a:t>Contd</a:t>
            </a:r>
            <a:r>
              <a:rPr lang="en-US" dirty="0" smtClean="0"/>
              <a:t>…</a:t>
            </a:r>
            <a:endParaRPr lang="en-US" dirty="0"/>
          </a:p>
        </p:txBody>
      </p:sp>
      <p:sp>
        <p:nvSpPr>
          <p:cNvPr id="4" name="Slide Number Placeholder 5"/>
          <p:cNvSpPr>
            <a:spLocks noGrp="1"/>
          </p:cNvSpPr>
          <p:nvPr>
            <p:ph type="sldNum" sz="quarter" idx="12"/>
          </p:nvPr>
        </p:nvSpPr>
        <p:spPr/>
        <p:txBody>
          <a:bodyPr/>
          <a:lstStyle/>
          <a:p>
            <a:fld id="{B9D4F758-C22D-432E-97E5-E8C2A2595E4F}" type="slidenum">
              <a:rPr lang="en-US" smtClean="0"/>
              <a:pPr/>
              <a:t>31</a:t>
            </a:fld>
            <a:endParaRPr lang="en-US"/>
          </a:p>
        </p:txBody>
      </p:sp>
      <p:graphicFrame>
        <p:nvGraphicFramePr>
          <p:cNvPr id="5" name="Table 4"/>
          <p:cNvGraphicFramePr>
            <a:graphicFrameLocks noGrp="1"/>
          </p:cNvGraphicFramePr>
          <p:nvPr/>
        </p:nvGraphicFramePr>
        <p:xfrm>
          <a:off x="72000" y="1052736"/>
          <a:ext cx="9000000" cy="5733255"/>
        </p:xfrm>
        <a:graphic>
          <a:graphicData uri="http://schemas.openxmlformats.org/drawingml/2006/table">
            <a:tbl>
              <a:tblPr>
                <a:tableStyleId>{5940675A-B579-460E-94D1-54222C63F5DA}</a:tableStyleId>
              </a:tblPr>
              <a:tblGrid>
                <a:gridCol w="3744000"/>
                <a:gridCol w="5256000"/>
              </a:tblGrid>
              <a:tr h="382217">
                <a:tc>
                  <a:txBody>
                    <a:bodyPr/>
                    <a:lstStyle/>
                    <a:p>
                      <a:pPr marL="73025" marR="73025">
                        <a:spcBef>
                          <a:spcPts val="320"/>
                        </a:spcBef>
                        <a:spcAft>
                          <a:spcPts val="320"/>
                        </a:spcAft>
                      </a:pPr>
                      <a:r>
                        <a:rPr lang="en-US" sz="2400" b="1" dirty="0"/>
                        <a:t>Statement</a:t>
                      </a:r>
                      <a:endParaRPr lang="en-IN" sz="2400" b="1" dirty="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b="1" dirty="0"/>
                        <a:t>How it Affects the Read/Write Position</a:t>
                      </a:r>
                      <a:endParaRPr lang="en-IN" sz="2400" b="1" dirty="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dirty="0" err="1"/>
                        <a:t>File.seekp</a:t>
                      </a:r>
                      <a:r>
                        <a:rPr lang="en-US" sz="2400" dirty="0"/>
                        <a:t>(32L, </a:t>
                      </a:r>
                      <a:r>
                        <a:rPr lang="en-US" sz="2400" dirty="0" err="1"/>
                        <a:t>ios</a:t>
                      </a:r>
                      <a:r>
                        <a:rPr lang="en-US" sz="2400" dirty="0"/>
                        <a:t>::beg);</a:t>
                      </a:r>
                      <a:endParaRPr lang="en-IN" sz="2400" dirty="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dirty="0"/>
                        <a:t>Sets the write position to the 33rd byte (byte 32) </a:t>
                      </a:r>
                      <a:r>
                        <a:rPr lang="en-US" sz="2200" dirty="0"/>
                        <a:t>from</a:t>
                      </a:r>
                      <a:r>
                        <a:rPr lang="en-US" sz="2400" dirty="0"/>
                        <a:t> the beginning of the file.</a:t>
                      </a:r>
                      <a:endParaRPr lang="en-IN" sz="2400" dirty="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a:t>file.seekp(-10L, ios::end);</a:t>
                      </a:r>
                      <a:endParaRPr lang="en-IN" sz="24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a:t>Sets the write position to the 11th byte (byte 10) from the end of the file.</a:t>
                      </a:r>
                      <a:endParaRPr lang="en-IN" sz="240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a:t>file.seekp(120L, ios::cur);</a:t>
                      </a:r>
                      <a:endParaRPr lang="en-IN" sz="24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dirty="0"/>
                        <a:t>Sets the write position to the 121st byte (byte 120) from the current position.</a:t>
                      </a:r>
                      <a:endParaRPr lang="en-IN" sz="2400" dirty="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a:t>file.seekg(2L, ios::beg);</a:t>
                      </a:r>
                      <a:endParaRPr lang="en-IN" sz="24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a:t>Sets the read position to the 3rd byte (byte 2) from the beginning of the file.</a:t>
                      </a:r>
                      <a:endParaRPr lang="en-IN" sz="240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a:t>file.seekg(-100L, ios::end);</a:t>
                      </a:r>
                      <a:endParaRPr lang="en-IN" sz="24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dirty="0"/>
                        <a:t>Sets the read position to the 101st byte (byte 100) from the end of the file.</a:t>
                      </a:r>
                      <a:endParaRPr lang="en-IN" sz="2400" dirty="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a:t>file.seekg(40L, ios::cur);</a:t>
                      </a:r>
                      <a:endParaRPr lang="en-IN" sz="24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a:t>Sets the read position to the 41st byte (byte 40) from the current position.</a:t>
                      </a:r>
                      <a:endParaRPr lang="en-IN" sz="2400">
                        <a:solidFill>
                          <a:srgbClr val="000000"/>
                        </a:solidFill>
                        <a:latin typeface="Times New Roman"/>
                        <a:ea typeface="Times New Roman"/>
                        <a:cs typeface="Times New Roman"/>
                      </a:endParaRPr>
                    </a:p>
                  </a:txBody>
                  <a:tcPr marL="0" marR="0" marT="0" marB="0"/>
                </a:tc>
              </a:tr>
              <a:tr h="764434">
                <a:tc>
                  <a:txBody>
                    <a:bodyPr/>
                    <a:lstStyle/>
                    <a:p>
                      <a:pPr marL="73025" marR="73025">
                        <a:spcBef>
                          <a:spcPts val="320"/>
                        </a:spcBef>
                        <a:spcAft>
                          <a:spcPts val="320"/>
                        </a:spcAft>
                      </a:pPr>
                      <a:r>
                        <a:rPr lang="en-US" sz="2400"/>
                        <a:t>file.seekg(0L, ios::end);</a:t>
                      </a:r>
                      <a:endParaRPr lang="en-IN" sz="2400">
                        <a:solidFill>
                          <a:srgbClr val="000000"/>
                        </a:solidFill>
                        <a:latin typeface="Times New Roman"/>
                        <a:ea typeface="Times New Roman"/>
                        <a:cs typeface="Times New Roman"/>
                      </a:endParaRPr>
                    </a:p>
                  </a:txBody>
                  <a:tcPr marL="0" marR="0" marT="0" marB="0"/>
                </a:tc>
                <a:tc>
                  <a:txBody>
                    <a:bodyPr/>
                    <a:lstStyle/>
                    <a:p>
                      <a:pPr marL="73025" marR="73025">
                        <a:spcBef>
                          <a:spcPts val="320"/>
                        </a:spcBef>
                        <a:spcAft>
                          <a:spcPts val="320"/>
                        </a:spcAft>
                      </a:pPr>
                      <a:r>
                        <a:rPr lang="en-US" sz="2400" dirty="0"/>
                        <a:t>Sets the read position to the end of the file.</a:t>
                      </a:r>
                      <a:endParaRPr lang="en-IN" sz="2400" dirty="0">
                        <a:solidFill>
                          <a:srgbClr val="000000"/>
                        </a:solidFill>
                        <a:latin typeface="Times New Roman"/>
                        <a:ea typeface="Times New Roman"/>
                        <a:cs typeface="Times New Roman"/>
                      </a:endParaRPr>
                    </a:p>
                  </a:txBody>
                  <a:tcPr marL="0" marR="0" marT="0" marB="0"/>
                </a:tc>
              </a:tr>
            </a:tbl>
          </a:graphicData>
        </a:graphic>
      </p:graphicFrame>
    </p:spTree>
    <p:extLst>
      <p:ext uri="{BB962C8B-B14F-4D97-AF65-F5344CB8AC3E}">
        <p14:creationId xmlns:p14="http://schemas.microsoft.com/office/powerpoint/2010/main" xmlns="" val="4248809110"/>
      </p:ext>
    </p:extLst>
  </p:cSld>
  <p:clrMapOvr>
    <a:masterClrMapping/>
  </p:clrMapOvr>
  <p:timing>
    <p:tnLst>
      <p:par>
        <p:cTn id="1" dur="indefinite" restart="never" nodeType="tmRoot"/>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File position pointers</a:t>
            </a:r>
            <a:endParaRPr lang="en-IN" dirty="0"/>
          </a:p>
        </p:txBody>
      </p:sp>
      <p:sp>
        <p:nvSpPr>
          <p:cNvPr id="3" name="Content Placeholder 2"/>
          <p:cNvSpPr>
            <a:spLocks noGrp="1"/>
          </p:cNvSpPr>
          <p:nvPr>
            <p:ph idx="1"/>
          </p:nvPr>
        </p:nvSpPr>
        <p:spPr/>
        <p:txBody>
          <a:bodyPr>
            <a:normAutofit/>
          </a:bodyPr>
          <a:lstStyle/>
          <a:p>
            <a:pPr algn="just"/>
            <a:r>
              <a:rPr lang="en-US" sz="2800" dirty="0"/>
              <a:t>Both </a:t>
            </a:r>
            <a:r>
              <a:rPr lang="en-US" sz="2800" b="1" dirty="0" err="1"/>
              <a:t>istream</a:t>
            </a:r>
            <a:r>
              <a:rPr lang="en-US" sz="2800" dirty="0"/>
              <a:t> and </a:t>
            </a:r>
            <a:r>
              <a:rPr lang="en-US" sz="2800" b="1" dirty="0" err="1"/>
              <a:t>ostream</a:t>
            </a:r>
            <a:r>
              <a:rPr lang="en-US" sz="2800" dirty="0"/>
              <a:t> provide member functions for repositioning the file-position pointer. These member functions are </a:t>
            </a:r>
            <a:r>
              <a:rPr lang="en-US" sz="2800" b="1" dirty="0" err="1"/>
              <a:t>seekg</a:t>
            </a:r>
            <a:r>
              <a:rPr lang="en-US" sz="2800" dirty="0"/>
              <a:t> ("seek get") for </a:t>
            </a:r>
            <a:r>
              <a:rPr lang="en-US" sz="2800" dirty="0" err="1"/>
              <a:t>istream</a:t>
            </a:r>
            <a:r>
              <a:rPr lang="en-US" sz="2800" dirty="0"/>
              <a:t> and </a:t>
            </a:r>
            <a:r>
              <a:rPr lang="en-US" sz="2800" b="1" dirty="0" err="1"/>
              <a:t>seekp</a:t>
            </a:r>
            <a:r>
              <a:rPr lang="en-US" sz="2800" dirty="0"/>
              <a:t> ("seek put") for </a:t>
            </a:r>
            <a:r>
              <a:rPr lang="en-US" sz="2800" dirty="0" err="1"/>
              <a:t>ostream</a:t>
            </a:r>
            <a:r>
              <a:rPr lang="en-US" sz="2800" dirty="0" smtClean="0"/>
              <a:t>.</a:t>
            </a:r>
          </a:p>
          <a:p>
            <a:pPr marL="0" indent="0" algn="just">
              <a:buNone/>
            </a:pPr>
            <a:endParaRPr lang="en-US" dirty="0" smtClean="0"/>
          </a:p>
          <a:p>
            <a:r>
              <a:rPr lang="en-US" sz="2800" dirty="0"/>
              <a:t>The seek direction can be </a:t>
            </a:r>
            <a:endParaRPr lang="en-US" sz="2800" dirty="0" smtClean="0"/>
          </a:p>
          <a:p>
            <a:pPr lvl="1"/>
            <a:r>
              <a:rPr lang="en-US" sz="2400" b="1" dirty="0"/>
              <a:t>	</a:t>
            </a:r>
            <a:r>
              <a:rPr lang="en-US" sz="2400" b="1" dirty="0" err="1" smtClean="0"/>
              <a:t>ios</a:t>
            </a:r>
            <a:r>
              <a:rPr lang="en-US" sz="2400" b="1" dirty="0"/>
              <a:t>::beg</a:t>
            </a:r>
            <a:r>
              <a:rPr lang="en-US" sz="2400" dirty="0"/>
              <a:t> (the default) for positioning relative to the beginning of a </a:t>
            </a:r>
            <a:r>
              <a:rPr lang="en-US" sz="2400" dirty="0" smtClean="0"/>
              <a:t>stream</a:t>
            </a:r>
          </a:p>
          <a:p>
            <a:pPr lvl="1"/>
            <a:r>
              <a:rPr lang="en-US" sz="2400" b="1" dirty="0"/>
              <a:t>	</a:t>
            </a:r>
            <a:r>
              <a:rPr lang="en-US" sz="2400" b="1" dirty="0" err="1" smtClean="0"/>
              <a:t>ios</a:t>
            </a:r>
            <a:r>
              <a:rPr lang="en-US" sz="2400" b="1" dirty="0"/>
              <a:t>::cur</a:t>
            </a:r>
            <a:r>
              <a:rPr lang="en-US" sz="2400" dirty="0"/>
              <a:t> for positioning relative to the current position in a stream </a:t>
            </a:r>
            <a:endParaRPr lang="en-US" sz="2400" dirty="0" smtClean="0"/>
          </a:p>
          <a:p>
            <a:pPr lvl="1"/>
            <a:r>
              <a:rPr lang="en-US" sz="2400" dirty="0"/>
              <a:t>	</a:t>
            </a:r>
            <a:r>
              <a:rPr lang="en-US" sz="2400" b="1" dirty="0" err="1" smtClean="0"/>
              <a:t>ios</a:t>
            </a:r>
            <a:r>
              <a:rPr lang="en-US" sz="2400" b="1" dirty="0"/>
              <a:t>::end</a:t>
            </a:r>
            <a:r>
              <a:rPr lang="en-US" sz="2400" dirty="0"/>
              <a:t> for positioning relative to the end of a stream.</a:t>
            </a:r>
            <a:endParaRPr lang="en-IN" sz="2400" dirty="0"/>
          </a:p>
        </p:txBody>
      </p:sp>
    </p:spTree>
    <p:extLst>
      <p:ext uri="{BB962C8B-B14F-4D97-AF65-F5344CB8AC3E}">
        <p14:creationId xmlns:p14="http://schemas.microsoft.com/office/powerpoint/2010/main" xmlns="" val="3530704009"/>
      </p:ext>
    </p:extLst>
  </p:cSld>
  <p:clrMapOvr>
    <a:masterClrMapping/>
  </p:clrMapOvr>
  <p:timing>
    <p:tnLst>
      <p:par>
        <p:cTn id="1" dur="indefinite" restart="never" nodeType="tmRoot"/>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Continued…</a:t>
            </a:r>
            <a:endParaRPr lang="en-IN" dirty="0"/>
          </a:p>
        </p:txBody>
      </p:sp>
      <p:sp>
        <p:nvSpPr>
          <p:cNvPr id="3" name="Content Placeholder 2"/>
          <p:cNvSpPr>
            <a:spLocks noGrp="1"/>
          </p:cNvSpPr>
          <p:nvPr>
            <p:ph idx="1"/>
          </p:nvPr>
        </p:nvSpPr>
        <p:spPr/>
        <p:txBody>
          <a:bodyPr>
            <a:normAutofit fontScale="85000" lnSpcReduction="20000"/>
          </a:bodyPr>
          <a:lstStyle/>
          <a:p>
            <a:r>
              <a:rPr lang="en-IN" dirty="0" smtClean="0"/>
              <a:t>position </a:t>
            </a:r>
            <a:r>
              <a:rPr lang="en-IN" dirty="0"/>
              <a:t>to the nth byte of </a:t>
            </a:r>
            <a:r>
              <a:rPr lang="en-IN" dirty="0" err="1"/>
              <a:t>fileObject</a:t>
            </a:r>
            <a:r>
              <a:rPr lang="en-IN" dirty="0"/>
              <a:t> (assumes </a:t>
            </a:r>
            <a:r>
              <a:rPr lang="en-IN" dirty="0" err="1"/>
              <a:t>ios</a:t>
            </a:r>
            <a:r>
              <a:rPr lang="en-IN" dirty="0"/>
              <a:t>::beg)</a:t>
            </a:r>
          </a:p>
          <a:p>
            <a:pPr marL="0" indent="0">
              <a:buNone/>
            </a:pPr>
            <a:r>
              <a:rPr lang="en-IN" b="1" dirty="0" smtClean="0"/>
              <a:t>		</a:t>
            </a:r>
            <a:r>
              <a:rPr lang="en-IN" b="1" dirty="0" err="1" smtClean="0"/>
              <a:t>fileObject.seekg</a:t>
            </a:r>
            <a:r>
              <a:rPr lang="en-IN" b="1" dirty="0"/>
              <a:t>( n );</a:t>
            </a:r>
          </a:p>
          <a:p>
            <a:endParaRPr lang="en-IN" dirty="0"/>
          </a:p>
          <a:p>
            <a:r>
              <a:rPr lang="en-IN" dirty="0" smtClean="0"/>
              <a:t> </a:t>
            </a:r>
            <a:r>
              <a:rPr lang="en-IN" dirty="0"/>
              <a:t>position n bytes forward in </a:t>
            </a:r>
            <a:r>
              <a:rPr lang="en-IN" dirty="0" err="1"/>
              <a:t>fileObject</a:t>
            </a:r>
            <a:endParaRPr lang="en-IN" dirty="0"/>
          </a:p>
          <a:p>
            <a:pPr marL="0" indent="0">
              <a:buNone/>
            </a:pPr>
            <a:r>
              <a:rPr lang="en-IN" b="1" dirty="0" smtClean="0"/>
              <a:t>		</a:t>
            </a:r>
            <a:r>
              <a:rPr lang="en-IN" b="1" dirty="0" err="1" smtClean="0"/>
              <a:t>fileObject.seekg</a:t>
            </a:r>
            <a:r>
              <a:rPr lang="en-IN" b="1" dirty="0"/>
              <a:t>( n, </a:t>
            </a:r>
            <a:r>
              <a:rPr lang="en-IN" b="1" dirty="0" err="1"/>
              <a:t>ios</a:t>
            </a:r>
            <a:r>
              <a:rPr lang="en-IN" b="1" dirty="0"/>
              <a:t>::cur );</a:t>
            </a:r>
          </a:p>
          <a:p>
            <a:endParaRPr lang="en-IN" dirty="0"/>
          </a:p>
          <a:p>
            <a:r>
              <a:rPr lang="en-IN" dirty="0" smtClean="0"/>
              <a:t>position </a:t>
            </a:r>
            <a:r>
              <a:rPr lang="en-IN" dirty="0"/>
              <a:t>n bytes back from end of </a:t>
            </a:r>
            <a:r>
              <a:rPr lang="en-IN" dirty="0" err="1"/>
              <a:t>fileObject</a:t>
            </a:r>
            <a:endParaRPr lang="en-IN" dirty="0"/>
          </a:p>
          <a:p>
            <a:pPr marL="0" indent="0">
              <a:buNone/>
            </a:pPr>
            <a:r>
              <a:rPr lang="en-IN" b="1" dirty="0" smtClean="0"/>
              <a:t>		</a:t>
            </a:r>
            <a:r>
              <a:rPr lang="en-IN" b="1" dirty="0" err="1" smtClean="0"/>
              <a:t>fileObject.seekg</a:t>
            </a:r>
            <a:r>
              <a:rPr lang="en-IN" b="1" dirty="0"/>
              <a:t>( n, </a:t>
            </a:r>
            <a:r>
              <a:rPr lang="en-IN" b="1" dirty="0" err="1"/>
              <a:t>ios</a:t>
            </a:r>
            <a:r>
              <a:rPr lang="en-IN" b="1" dirty="0"/>
              <a:t>::end );</a:t>
            </a:r>
          </a:p>
          <a:p>
            <a:endParaRPr lang="en-IN" dirty="0"/>
          </a:p>
          <a:p>
            <a:r>
              <a:rPr lang="en-IN" dirty="0" smtClean="0"/>
              <a:t>position </a:t>
            </a:r>
            <a:r>
              <a:rPr lang="en-IN" dirty="0"/>
              <a:t>at end of </a:t>
            </a:r>
            <a:r>
              <a:rPr lang="en-IN" dirty="0" err="1"/>
              <a:t>fileObject</a:t>
            </a:r>
            <a:endParaRPr lang="en-IN" dirty="0"/>
          </a:p>
          <a:p>
            <a:pPr marL="0" indent="0">
              <a:buNone/>
            </a:pPr>
            <a:r>
              <a:rPr lang="en-IN" b="1" dirty="0" smtClean="0"/>
              <a:t>		</a:t>
            </a:r>
            <a:r>
              <a:rPr lang="en-IN" b="1" dirty="0" err="1" smtClean="0"/>
              <a:t>fileObject.seekg</a:t>
            </a:r>
            <a:r>
              <a:rPr lang="en-IN" b="1" dirty="0"/>
              <a:t>( 0, </a:t>
            </a:r>
            <a:r>
              <a:rPr lang="en-IN" b="1" dirty="0" err="1"/>
              <a:t>ios</a:t>
            </a:r>
            <a:r>
              <a:rPr lang="en-IN" b="1" dirty="0"/>
              <a:t>::end );</a:t>
            </a:r>
          </a:p>
        </p:txBody>
      </p:sp>
    </p:spTree>
    <p:extLst>
      <p:ext uri="{BB962C8B-B14F-4D97-AF65-F5344CB8AC3E}">
        <p14:creationId xmlns:p14="http://schemas.microsoft.com/office/powerpoint/2010/main" xmlns="" val="2326353106"/>
      </p:ext>
    </p:extLst>
  </p:cSld>
  <p:clrMapOvr>
    <a:masterClrMapping/>
  </p:clrMapOvr>
  <p:timing>
    <p:tnLst>
      <p:par>
        <p:cTn id="1" dur="indefinite" restart="never" nodeType="tmRoot"/>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7762" name="Rectangle 2"/>
          <p:cNvSpPr>
            <a:spLocks noGrp="1" noChangeArrowheads="1"/>
          </p:cNvSpPr>
          <p:nvPr>
            <p:ph type="title"/>
          </p:nvPr>
        </p:nvSpPr>
        <p:spPr>
          <a:xfrm>
            <a:off x="136337" y="-9610"/>
            <a:ext cx="9000000" cy="1143000"/>
          </a:xfrm>
        </p:spPr>
        <p:txBody>
          <a:bodyPr/>
          <a:lstStyle/>
          <a:p>
            <a:r>
              <a:rPr lang="en-US" dirty="0" smtClean="0"/>
              <a:t>Example </a:t>
            </a:r>
            <a:endParaRPr lang="en-US" dirty="0"/>
          </a:p>
        </p:txBody>
      </p:sp>
      <p:sp>
        <p:nvSpPr>
          <p:cNvPr id="117763" name="Rectangle 3"/>
          <p:cNvSpPr>
            <a:spLocks noGrp="1" noChangeArrowheads="1"/>
          </p:cNvSpPr>
          <p:nvPr>
            <p:ph type="body" idx="1"/>
          </p:nvPr>
        </p:nvSpPr>
        <p:spPr>
          <a:xfrm>
            <a:off x="136337" y="980728"/>
            <a:ext cx="9000000" cy="5877272"/>
          </a:xfrm>
        </p:spPr>
        <p:txBody>
          <a:bodyPr>
            <a:noAutofit/>
          </a:bodyPr>
          <a:lstStyle/>
          <a:p>
            <a:pPr marL="0" indent="0">
              <a:spcBef>
                <a:spcPts val="0"/>
              </a:spcBef>
              <a:buNone/>
            </a:pPr>
            <a:r>
              <a:rPr lang="en-IN" sz="2000" dirty="0" smtClean="0"/>
              <a:t> </a:t>
            </a:r>
            <a:r>
              <a:rPr lang="en-IN" sz="2000" dirty="0" smtClean="0">
                <a:solidFill>
                  <a:schemeClr val="accent1"/>
                </a:solidFill>
              </a:rPr>
              <a:t>This program demonstrates the </a:t>
            </a:r>
            <a:r>
              <a:rPr lang="en-IN" sz="2000" dirty="0" err="1" smtClean="0">
                <a:solidFill>
                  <a:schemeClr val="accent1"/>
                </a:solidFill>
              </a:rPr>
              <a:t>seekg</a:t>
            </a:r>
            <a:r>
              <a:rPr lang="en-IN" sz="2000" dirty="0" smtClean="0">
                <a:solidFill>
                  <a:schemeClr val="accent1"/>
                </a:solidFill>
              </a:rPr>
              <a:t> function.</a:t>
            </a:r>
          </a:p>
          <a:p>
            <a:pPr marL="0" indent="0">
              <a:spcBef>
                <a:spcPts val="0"/>
              </a:spcBef>
              <a:buNone/>
            </a:pPr>
            <a:endParaRPr lang="en-IN" sz="2000" dirty="0" smtClean="0"/>
          </a:p>
          <a:p>
            <a:pPr marL="514350" indent="-514350">
              <a:spcBef>
                <a:spcPts val="0"/>
              </a:spcBef>
              <a:buFont typeface="+mj-lt"/>
              <a:buAutoNum type="arabicPeriod"/>
            </a:pPr>
            <a:r>
              <a:rPr lang="en-IN" sz="2000" dirty="0" smtClean="0"/>
              <a:t>#include &lt;</a:t>
            </a:r>
            <a:r>
              <a:rPr lang="en-US" sz="2000" dirty="0" err="1" smtClean="0"/>
              <a:t>iostream</a:t>
            </a:r>
            <a:r>
              <a:rPr lang="en-US" sz="2000" dirty="0" smtClean="0"/>
              <a:t>&gt; </a:t>
            </a:r>
          </a:p>
          <a:p>
            <a:pPr marL="514350" indent="-514350">
              <a:spcBef>
                <a:spcPts val="0"/>
              </a:spcBef>
              <a:buFont typeface="+mj-lt"/>
              <a:buAutoNum type="arabicPeriod"/>
            </a:pPr>
            <a:r>
              <a:rPr lang="en-US" sz="2000" dirty="0" smtClean="0"/>
              <a:t>#include &lt;</a:t>
            </a:r>
            <a:r>
              <a:rPr lang="en-US" sz="2000" dirty="0" err="1" smtClean="0"/>
              <a:t>fstream</a:t>
            </a:r>
            <a:r>
              <a:rPr lang="en-US" sz="2000" dirty="0" smtClean="0"/>
              <a:t>&gt;</a:t>
            </a:r>
          </a:p>
          <a:p>
            <a:pPr marL="514350" indent="-514350">
              <a:spcBef>
                <a:spcPts val="0"/>
              </a:spcBef>
              <a:buFont typeface="+mj-lt"/>
              <a:buAutoNum type="arabicPeriod"/>
            </a:pPr>
            <a:r>
              <a:rPr lang="en-US" sz="2000" dirty="0" smtClean="0"/>
              <a:t>using namespace std;</a:t>
            </a:r>
          </a:p>
          <a:p>
            <a:pPr marL="514350" indent="-514350">
              <a:spcBef>
                <a:spcPts val="0"/>
              </a:spcBef>
              <a:buFont typeface="+mj-lt"/>
              <a:buAutoNum type="arabicPeriod"/>
            </a:pPr>
            <a:r>
              <a:rPr lang="en-US" sz="2000" dirty="0" err="1" smtClean="0"/>
              <a:t>int</a:t>
            </a:r>
            <a:r>
              <a:rPr lang="en-US" sz="2000" dirty="0" smtClean="0"/>
              <a:t> main()</a:t>
            </a:r>
          </a:p>
          <a:p>
            <a:pPr marL="514350" indent="-514350">
              <a:spcBef>
                <a:spcPts val="0"/>
              </a:spcBef>
              <a:buFont typeface="+mj-lt"/>
              <a:buAutoNum type="arabicPeriod"/>
            </a:pPr>
            <a:r>
              <a:rPr lang="en-US" sz="2000" dirty="0" smtClean="0"/>
              <a:t>{	</a:t>
            </a:r>
            <a:r>
              <a:rPr lang="en-US" sz="2000" dirty="0" err="1" smtClean="0"/>
              <a:t>fstream</a:t>
            </a:r>
            <a:r>
              <a:rPr lang="en-US" sz="2000" dirty="0" smtClean="0"/>
              <a:t> file("demofile.txt", </a:t>
            </a:r>
            <a:r>
              <a:rPr lang="en-US" sz="2000" dirty="0" err="1" smtClean="0"/>
              <a:t>ios</a:t>
            </a:r>
            <a:r>
              <a:rPr lang="en-US" sz="2000" dirty="0" smtClean="0"/>
              <a:t>::in);</a:t>
            </a:r>
          </a:p>
          <a:p>
            <a:pPr marL="514350" indent="-514350">
              <a:spcBef>
                <a:spcPts val="0"/>
              </a:spcBef>
              <a:buFont typeface="+mj-lt"/>
              <a:buAutoNum type="arabicPeriod"/>
            </a:pPr>
            <a:r>
              <a:rPr lang="en-US" sz="2000" dirty="0" smtClean="0"/>
              <a:t>	char </a:t>
            </a:r>
            <a:r>
              <a:rPr lang="en-US" sz="2000" dirty="0" err="1" smtClean="0"/>
              <a:t>ch</a:t>
            </a:r>
            <a:r>
              <a:rPr lang="en-US" sz="2000" dirty="0" smtClean="0"/>
              <a:t>;</a:t>
            </a:r>
          </a:p>
          <a:p>
            <a:pPr marL="514350" indent="-514350">
              <a:spcBef>
                <a:spcPts val="0"/>
              </a:spcBef>
              <a:buFont typeface="+mj-lt"/>
              <a:buAutoNum type="arabicPeriod"/>
            </a:pPr>
            <a:r>
              <a:rPr lang="en-US" sz="2000" dirty="0" smtClean="0"/>
              <a:t>	</a:t>
            </a:r>
            <a:r>
              <a:rPr lang="en-US" sz="2000" dirty="0" err="1" smtClean="0"/>
              <a:t>file.seekg</a:t>
            </a:r>
            <a:r>
              <a:rPr lang="en-US" sz="2000" dirty="0" smtClean="0"/>
              <a:t>(5L, </a:t>
            </a:r>
            <a:r>
              <a:rPr lang="en-US" sz="2000" dirty="0" err="1" smtClean="0"/>
              <a:t>ios</a:t>
            </a:r>
            <a:r>
              <a:rPr lang="en-US" sz="2000" dirty="0" smtClean="0"/>
              <a:t>::beg);</a:t>
            </a:r>
          </a:p>
          <a:p>
            <a:pPr marL="514350" indent="-514350">
              <a:spcBef>
                <a:spcPts val="0"/>
              </a:spcBef>
              <a:buFont typeface="+mj-lt"/>
              <a:buAutoNum type="arabicPeriod"/>
            </a:pPr>
            <a:r>
              <a:rPr lang="en-US" sz="2000" dirty="0" smtClean="0"/>
              <a:t>	</a:t>
            </a:r>
            <a:r>
              <a:rPr lang="en-US" sz="2000" dirty="0" err="1" smtClean="0"/>
              <a:t>file.get</a:t>
            </a:r>
            <a:r>
              <a:rPr lang="en-US" sz="2000" dirty="0" smtClean="0"/>
              <a:t>(</a:t>
            </a:r>
            <a:r>
              <a:rPr lang="en-US" sz="2000" dirty="0" err="1" smtClean="0"/>
              <a:t>ch</a:t>
            </a:r>
            <a:r>
              <a:rPr lang="en-US" sz="2000" dirty="0" smtClean="0"/>
              <a:t>);</a:t>
            </a:r>
          </a:p>
          <a:p>
            <a:pPr marL="514350" indent="-514350">
              <a:spcBef>
                <a:spcPts val="0"/>
              </a:spcBef>
              <a:buFont typeface="+mj-lt"/>
              <a:buAutoNum type="arabicPeriod"/>
            </a:pPr>
            <a:r>
              <a:rPr lang="en-IN" sz="2000" dirty="0" smtClean="0"/>
              <a:t>	</a:t>
            </a:r>
            <a:r>
              <a:rPr lang="en-IN" sz="2000" dirty="0" err="1" smtClean="0"/>
              <a:t>cout</a:t>
            </a:r>
            <a:r>
              <a:rPr lang="en-IN" sz="2000" dirty="0" smtClean="0"/>
              <a:t> &lt;&lt; "Byte 5 from beginning: " &lt;&lt; </a:t>
            </a:r>
            <a:r>
              <a:rPr lang="en-IN" sz="2000" dirty="0" err="1" smtClean="0"/>
              <a:t>ch</a:t>
            </a:r>
            <a:r>
              <a:rPr lang="en-IN" sz="2000" dirty="0" smtClean="0"/>
              <a:t> &lt;&lt; </a:t>
            </a:r>
            <a:r>
              <a:rPr lang="en-IN" sz="2000" dirty="0" err="1" smtClean="0"/>
              <a:t>endl</a:t>
            </a:r>
            <a:r>
              <a:rPr lang="en-IN" sz="2000" dirty="0" smtClean="0"/>
              <a:t>;</a:t>
            </a:r>
          </a:p>
          <a:p>
            <a:pPr marL="514350" indent="-514350">
              <a:spcBef>
                <a:spcPts val="0"/>
              </a:spcBef>
              <a:buFont typeface="+mj-lt"/>
              <a:buAutoNum type="arabicPeriod"/>
            </a:pPr>
            <a:r>
              <a:rPr lang="en-US" sz="2000" dirty="0" smtClean="0"/>
              <a:t>	</a:t>
            </a:r>
            <a:r>
              <a:rPr lang="en-US" sz="2000" dirty="0" err="1" smtClean="0"/>
              <a:t>file.seekg</a:t>
            </a:r>
            <a:r>
              <a:rPr lang="en-US" sz="2000" dirty="0" smtClean="0"/>
              <a:t>(-10L, </a:t>
            </a:r>
            <a:r>
              <a:rPr lang="en-US" sz="2000" dirty="0" err="1" smtClean="0"/>
              <a:t>ios</a:t>
            </a:r>
            <a:r>
              <a:rPr lang="en-US" sz="2000" dirty="0" smtClean="0"/>
              <a:t>::end);</a:t>
            </a:r>
          </a:p>
          <a:p>
            <a:pPr marL="514350" indent="-514350">
              <a:spcBef>
                <a:spcPts val="0"/>
              </a:spcBef>
              <a:buFont typeface="+mj-lt"/>
              <a:buAutoNum type="arabicPeriod"/>
            </a:pPr>
            <a:r>
              <a:rPr lang="en-US" sz="2000" dirty="0" smtClean="0"/>
              <a:t>	</a:t>
            </a:r>
            <a:r>
              <a:rPr lang="en-US" sz="2000" dirty="0" err="1" smtClean="0"/>
              <a:t>file.get</a:t>
            </a:r>
            <a:r>
              <a:rPr lang="en-US" sz="2000" dirty="0" smtClean="0"/>
              <a:t>(</a:t>
            </a:r>
            <a:r>
              <a:rPr lang="en-US" sz="2000" dirty="0" err="1" smtClean="0"/>
              <a:t>ch</a:t>
            </a:r>
            <a:r>
              <a:rPr lang="en-US" sz="2000" dirty="0" smtClean="0"/>
              <a:t>);</a:t>
            </a:r>
          </a:p>
          <a:p>
            <a:pPr marL="514350" indent="-514350">
              <a:spcBef>
                <a:spcPts val="0"/>
              </a:spcBef>
              <a:buFont typeface="+mj-lt"/>
              <a:buAutoNum type="arabicPeriod"/>
            </a:pPr>
            <a:r>
              <a:rPr lang="en-IN" sz="2000" dirty="0" smtClean="0"/>
              <a:t>	</a:t>
            </a:r>
            <a:r>
              <a:rPr lang="en-IN" sz="2000" dirty="0" err="1" smtClean="0"/>
              <a:t>cout</a:t>
            </a:r>
            <a:r>
              <a:rPr lang="en-IN" sz="2000" dirty="0" smtClean="0"/>
              <a:t> &lt;&lt; "Byte 10 from end: " &lt;&lt; </a:t>
            </a:r>
            <a:r>
              <a:rPr lang="en-IN" sz="2000" dirty="0" err="1" smtClean="0"/>
              <a:t>ch</a:t>
            </a:r>
            <a:r>
              <a:rPr lang="en-IN" sz="2000" dirty="0" smtClean="0"/>
              <a:t> &lt;&lt; </a:t>
            </a:r>
            <a:r>
              <a:rPr lang="en-IN" sz="2000" dirty="0" err="1" smtClean="0"/>
              <a:t>endl</a:t>
            </a:r>
            <a:r>
              <a:rPr lang="en-IN" sz="2000" dirty="0" smtClean="0"/>
              <a:t>;</a:t>
            </a:r>
          </a:p>
          <a:p>
            <a:pPr marL="514350" indent="-514350">
              <a:spcBef>
                <a:spcPts val="0"/>
              </a:spcBef>
              <a:buFont typeface="+mj-lt"/>
              <a:buAutoNum type="arabicPeriod"/>
            </a:pPr>
            <a:r>
              <a:rPr lang="en-IN" sz="2000" dirty="0" smtClean="0"/>
              <a:t>	</a:t>
            </a:r>
            <a:r>
              <a:rPr lang="en-IN" sz="2000" dirty="0" err="1" smtClean="0"/>
              <a:t>file.seekg</a:t>
            </a:r>
            <a:r>
              <a:rPr lang="en-IN" sz="2000" dirty="0" smtClean="0"/>
              <a:t>(3L, </a:t>
            </a:r>
            <a:r>
              <a:rPr lang="en-IN" sz="2000" dirty="0" err="1" smtClean="0"/>
              <a:t>ios</a:t>
            </a:r>
            <a:r>
              <a:rPr lang="en-IN" sz="2000" dirty="0" smtClean="0"/>
              <a:t>::cur);</a:t>
            </a:r>
          </a:p>
          <a:p>
            <a:pPr marL="514350" indent="-514350">
              <a:spcBef>
                <a:spcPts val="0"/>
              </a:spcBef>
              <a:buFont typeface="+mj-lt"/>
              <a:buAutoNum type="arabicPeriod"/>
            </a:pPr>
            <a:r>
              <a:rPr lang="en-IN" sz="2000" dirty="0" smtClean="0"/>
              <a:t>	</a:t>
            </a:r>
            <a:r>
              <a:rPr lang="en-IN" sz="2000" dirty="0" err="1" smtClean="0"/>
              <a:t>file.get</a:t>
            </a:r>
            <a:r>
              <a:rPr lang="en-IN" sz="2000" dirty="0" smtClean="0"/>
              <a:t>(</a:t>
            </a:r>
            <a:r>
              <a:rPr lang="en-IN" sz="2000" dirty="0" err="1" smtClean="0"/>
              <a:t>ch</a:t>
            </a:r>
            <a:r>
              <a:rPr lang="en-IN" sz="2000" dirty="0" smtClean="0"/>
              <a:t>);</a:t>
            </a:r>
          </a:p>
          <a:p>
            <a:pPr marL="514350" indent="-514350">
              <a:spcBef>
                <a:spcPts val="0"/>
              </a:spcBef>
              <a:buFont typeface="+mj-lt"/>
              <a:buAutoNum type="arabicPeriod"/>
            </a:pPr>
            <a:r>
              <a:rPr lang="en-IN" sz="2000" dirty="0" smtClean="0"/>
              <a:t>	</a:t>
            </a:r>
            <a:r>
              <a:rPr lang="en-IN" sz="2000" dirty="0" err="1" smtClean="0"/>
              <a:t>cout</a:t>
            </a:r>
            <a:r>
              <a:rPr lang="en-IN" sz="2000" dirty="0" smtClean="0"/>
              <a:t> &lt;&lt; "Byte 3 from current: " &lt;&lt; </a:t>
            </a:r>
            <a:r>
              <a:rPr lang="en-IN" sz="2000" dirty="0" err="1" smtClean="0"/>
              <a:t>ch</a:t>
            </a:r>
            <a:r>
              <a:rPr lang="en-IN" sz="2000" dirty="0" smtClean="0"/>
              <a:t> &lt;&lt; </a:t>
            </a:r>
            <a:r>
              <a:rPr lang="en-IN" sz="2000" dirty="0" err="1" smtClean="0"/>
              <a:t>endl</a:t>
            </a:r>
            <a:r>
              <a:rPr lang="en-IN" sz="2000" dirty="0" smtClean="0"/>
              <a:t>;</a:t>
            </a:r>
          </a:p>
          <a:p>
            <a:pPr marL="514350" indent="-514350">
              <a:spcBef>
                <a:spcPts val="0"/>
              </a:spcBef>
              <a:buFont typeface="+mj-lt"/>
              <a:buAutoNum type="arabicPeriod"/>
            </a:pPr>
            <a:r>
              <a:rPr lang="en-IN" sz="2000" dirty="0" smtClean="0"/>
              <a:t>	</a:t>
            </a:r>
            <a:r>
              <a:rPr lang="en-IN" sz="2000" dirty="0" err="1" smtClean="0"/>
              <a:t>file.close</a:t>
            </a:r>
            <a:r>
              <a:rPr lang="en-IN" sz="2000" dirty="0" smtClean="0"/>
              <a:t>();</a:t>
            </a:r>
          </a:p>
          <a:p>
            <a:pPr marL="514350" indent="-514350">
              <a:spcBef>
                <a:spcPts val="0"/>
              </a:spcBef>
              <a:buFont typeface="+mj-lt"/>
              <a:buAutoNum type="arabicPeriod"/>
            </a:pPr>
            <a:r>
              <a:rPr lang="en-US" sz="2000" dirty="0" smtClean="0"/>
              <a:t>   	return 0;	</a:t>
            </a:r>
            <a:r>
              <a:rPr lang="en-IN" sz="2000" dirty="0" smtClean="0"/>
              <a:t>}</a:t>
            </a:r>
            <a:endParaRPr lang="en-US" sz="2000" dirty="0" smtClean="0"/>
          </a:p>
        </p:txBody>
      </p:sp>
      <p:sp>
        <p:nvSpPr>
          <p:cNvPr id="4" name="Slide Number Placeholder 5"/>
          <p:cNvSpPr>
            <a:spLocks noGrp="1"/>
          </p:cNvSpPr>
          <p:nvPr>
            <p:ph type="sldNum" sz="quarter" idx="12"/>
          </p:nvPr>
        </p:nvSpPr>
        <p:spPr/>
        <p:txBody>
          <a:bodyPr/>
          <a:lstStyle/>
          <a:p>
            <a:fld id="{4E04D135-17A6-4095-9A07-B1605BAABB02}" type="slidenum">
              <a:rPr lang="en-US" smtClean="0"/>
              <a:pPr/>
              <a:t>34</a:t>
            </a:fld>
            <a:endParaRPr lang="en-US"/>
          </a:p>
        </p:txBody>
      </p:sp>
    </p:spTree>
    <p:extLst>
      <p:ext uri="{BB962C8B-B14F-4D97-AF65-F5344CB8AC3E}">
        <p14:creationId xmlns:p14="http://schemas.microsoft.com/office/powerpoint/2010/main" xmlns="" val="85791541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1355</TotalTime>
  <Words>1940</Words>
  <Application>Microsoft Office PowerPoint</Application>
  <PresentationFormat>On-screen Show (4:3)</PresentationFormat>
  <Paragraphs>428</Paragraphs>
  <Slides>34</Slides>
  <Notes>0</Notes>
  <HiddenSlides>0</HiddenSlides>
  <MMClips>0</MMClips>
  <ScaleCrop>false</ScaleCrop>
  <HeadingPairs>
    <vt:vector size="6" baseType="variant">
      <vt:variant>
        <vt:lpstr>Theme</vt:lpstr>
      </vt:variant>
      <vt:variant>
        <vt:i4>1</vt:i4>
      </vt:variant>
      <vt:variant>
        <vt:lpstr>Embedded OLE Servers</vt:lpstr>
      </vt:variant>
      <vt:variant>
        <vt:i4>1</vt:i4>
      </vt:variant>
      <vt:variant>
        <vt:lpstr>Slide Titles</vt:lpstr>
      </vt:variant>
      <vt:variant>
        <vt:i4>34</vt:i4>
      </vt:variant>
    </vt:vector>
  </HeadingPairs>
  <TitlesOfParts>
    <vt:vector size="36" baseType="lpstr">
      <vt:lpstr>Office Theme</vt:lpstr>
      <vt:lpstr>Document</vt:lpstr>
      <vt:lpstr>C++ files and streams</vt:lpstr>
      <vt:lpstr>Introduction</vt:lpstr>
      <vt:lpstr>Files</vt:lpstr>
      <vt:lpstr>Process of Using a File</vt:lpstr>
      <vt:lpstr>Contd…</vt:lpstr>
      <vt:lpstr>File Input/Output</vt:lpstr>
      <vt:lpstr>Example </vt:lpstr>
      <vt:lpstr>Opening a File at Declaration</vt:lpstr>
      <vt:lpstr>Testing for Open Errors</vt:lpstr>
      <vt:lpstr>Closing a File</vt:lpstr>
      <vt:lpstr>File Default Open Modes</vt:lpstr>
      <vt:lpstr>File Mode Flags</vt:lpstr>
      <vt:lpstr>Write on file</vt:lpstr>
      <vt:lpstr>Example </vt:lpstr>
      <vt:lpstr>Example </vt:lpstr>
      <vt:lpstr>Read from file</vt:lpstr>
      <vt:lpstr>Example </vt:lpstr>
      <vt:lpstr>Detecting the End of a File</vt:lpstr>
      <vt:lpstr>Example </vt:lpstr>
      <vt:lpstr>Member Functions for Reading and Writing Files</vt:lpstr>
      <vt:lpstr>Example </vt:lpstr>
      <vt:lpstr>The getline Member Function</vt:lpstr>
      <vt:lpstr>Example </vt:lpstr>
      <vt:lpstr>The get Member Function</vt:lpstr>
      <vt:lpstr>The put Member Function</vt:lpstr>
      <vt:lpstr>Unformatted I/O with read and write</vt:lpstr>
      <vt:lpstr>File pointers to read/write from  binary files</vt:lpstr>
      <vt:lpstr>Example</vt:lpstr>
      <vt:lpstr>Random Access Files</vt:lpstr>
      <vt:lpstr>Mode Flags</vt:lpstr>
      <vt:lpstr>Contd…</vt:lpstr>
      <vt:lpstr>File position pointers</vt:lpstr>
      <vt:lpstr>Continued…</vt:lpstr>
      <vt:lpstr>Example </vt:lpstr>
    </vt:vector>
  </TitlesOfParts>
  <Company>Hewlett-Packard</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Polymorphism</dc:title>
  <dc:creator>hp</dc:creator>
  <cp:lastModifiedBy>raman</cp:lastModifiedBy>
  <cp:revision>75</cp:revision>
  <dcterms:created xsi:type="dcterms:W3CDTF">2016-10-04T09:33:42Z</dcterms:created>
  <dcterms:modified xsi:type="dcterms:W3CDTF">2018-04-11T05:48:34Z</dcterms:modified>
</cp:coreProperties>
</file>